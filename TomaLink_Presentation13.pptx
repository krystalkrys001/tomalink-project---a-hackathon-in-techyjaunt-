
<file path=[Content_Types].xml><?xml version="1.0" encoding="utf-8"?>
<Types xmlns="http://schemas.openxmlformats.org/package/2006/content-types">
  <Default Extension="jpg" ContentType="image/jp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5" r:id="rId24"/>
    <p:sldId id="286" r:id="rId25"/>
    <p:sldId id="279" r:id="rId26"/>
    <p:sldId id="280" r:id="rId27"/>
    <p:sldId id="287" r:id="rId28"/>
    <p:sldId id="281" r:id="rId29"/>
    <p:sldId id="282" r:id="rId30"/>
    <p:sldId id="283" r:id="rId31"/>
    <p:sldId id="284" r:id="rId32"/>
    <p:sldId id="289" r:id="rId33"/>
    <p:sldId id="290" r:id="rId34"/>
    <p:sldId id="278"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C1C"/>
    <a:srgbClr val="1B5E20"/>
    <a:srgbClr val="DC5B5B"/>
    <a:srgbClr val="EAF5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6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C1C1C"/>
                </a:solidFill>
                <a:latin typeface="Arial"/>
              </a:defRPr>
            </a:pPr>
            <a:r>
              <a:rPr lang="en-US" sz="1400" b="0" i="0" u="none" strike="noStrike">
                <a:solidFill>
                  <a:srgbClr val="1C1C1C"/>
                </a:solidFill>
                <a:latin typeface="Arial"/>
              </a:rPr>
              <a:t>Weighted Loss % by Storage Method</a:t>
            </a:r>
          </a:p>
        </c:rich>
      </c:tx>
      <c:overlay val="0"/>
    </c:title>
    <c:autoTitleDeleted val="0"/>
    <c:plotArea>
      <c:layout/>
      <c:barChart>
        <c:barDir val="col"/>
        <c:grouping val="clustered"/>
        <c:varyColors val="0"/>
        <c:ser>
          <c:idx val="0"/>
          <c:order val="0"/>
          <c:tx>
            <c:strRef>
              <c:f>Sheet1!$B$1</c:f>
              <c:strCache>
                <c:ptCount val="1"/>
                <c:pt idx="0">
                  <c:v>Weighted loss %</c:v>
                </c:pt>
              </c:strCache>
            </c:strRef>
          </c:tx>
          <c:spPr>
            <a:solidFill>
              <a:srgbClr val="D32F2F"/>
            </a:solidFill>
            <a:effectLst/>
          </c:spPr>
          <c:invertIfNegative val="0"/>
          <c:dPt>
            <c:idx val="0"/>
            <c:invertIfNegative val="0"/>
            <c:bubble3D val="0"/>
            <c:spPr>
              <a:solidFill>
                <a:srgbClr val="D32F2F"/>
              </a:solidFill>
              <a:effectLst/>
            </c:spPr>
            <c:extLst>
              <c:ext xmlns:c16="http://schemas.microsoft.com/office/drawing/2014/chart" uri="{C3380CC4-5D6E-409C-BE32-E72D297353CC}">
                <c16:uniqueId val="{00000001-CE05-4FC2-A9FF-C991A4827482}"/>
              </c:ext>
            </c:extLst>
          </c:dPt>
          <c:dPt>
            <c:idx val="1"/>
            <c:invertIfNegative val="0"/>
            <c:bubble3D val="0"/>
            <c:spPr>
              <a:solidFill>
                <a:srgbClr val="F4A825"/>
              </a:solidFill>
              <a:effectLst/>
            </c:spPr>
            <c:extLst>
              <c:ext xmlns:c16="http://schemas.microsoft.com/office/drawing/2014/chart" uri="{C3380CC4-5D6E-409C-BE32-E72D297353CC}">
                <c16:uniqueId val="{00000003-CE05-4FC2-A9FF-C991A4827482}"/>
              </c:ext>
            </c:extLst>
          </c:dPt>
          <c:dPt>
            <c:idx val="2"/>
            <c:invertIfNegative val="0"/>
            <c:bubble3D val="0"/>
            <c:spPr>
              <a:solidFill>
                <a:srgbClr val="2E7D32"/>
              </a:solidFill>
              <a:effectLst/>
            </c:spPr>
            <c:extLst>
              <c:ext xmlns:c16="http://schemas.microsoft.com/office/drawing/2014/chart" uri="{C3380CC4-5D6E-409C-BE32-E72D297353CC}">
                <c16:uniqueId val="{00000005-CE05-4FC2-A9FF-C991A4827482}"/>
              </c:ext>
            </c:extLst>
          </c:dPt>
          <c:dLbls>
            <c:numFmt formatCode="0.0&quot;%&quot;" sourceLinked="0"/>
            <c:spPr>
              <a:noFill/>
              <a:ln>
                <a:noFill/>
              </a:ln>
              <a:effectLst/>
            </c:spPr>
            <c:txPr>
              <a:bodyPr/>
              <a:lstStyle/>
              <a:p>
                <a:pPr>
                  <a:defRPr sz="1300" b="0" i="0" u="none" strike="noStrike">
                    <a:solidFill>
                      <a:srgbClr val="1C1C1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Open Air</c:v>
                </c:pt>
                <c:pt idx="1">
                  <c:v>Warehouse</c:v>
                </c:pt>
                <c:pt idx="2">
                  <c:v>Cold Room</c:v>
                </c:pt>
              </c:strCache>
            </c:strRef>
          </c:cat>
          <c:val>
            <c:numRef>
              <c:f>Sheet1!$B$2:$B$4</c:f>
              <c:numCache>
                <c:formatCode>General</c:formatCode>
                <c:ptCount val="3"/>
                <c:pt idx="0">
                  <c:v>30.7</c:v>
                </c:pt>
                <c:pt idx="1">
                  <c:v>22.47</c:v>
                </c:pt>
                <c:pt idx="2">
                  <c:v>15.58</c:v>
                </c:pt>
              </c:numCache>
            </c:numRef>
          </c:val>
          <c:extLst>
            <c:ext xmlns:c16="http://schemas.microsoft.com/office/drawing/2014/chart" uri="{C3380CC4-5D6E-409C-BE32-E72D297353CC}">
              <c16:uniqueId val="{00000006-CE05-4FC2-A9FF-C991A482748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1C1C"/>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Loss by cause</c:v>
                </c:pt>
              </c:strCache>
            </c:strRef>
          </c:tx>
          <c:spPr>
            <a:solidFill>
              <a:schemeClr val="accent1"/>
            </a:solidFill>
            <a:ln w="9525" cap="flat">
              <a:solidFill>
                <a:srgbClr val="F9F9F9"/>
              </a:solidFill>
              <a:prstDash val="solid"/>
              <a:round/>
            </a:ln>
            <a:effectLst/>
          </c:spPr>
          <c:dPt>
            <c:idx val="0"/>
            <c:bubble3D val="0"/>
            <c:spPr>
              <a:solidFill>
                <a:srgbClr val="B71C1C"/>
              </a:solidFill>
              <a:effectLst/>
            </c:spPr>
            <c:extLst>
              <c:ext xmlns:c16="http://schemas.microsoft.com/office/drawing/2014/chart" uri="{C3380CC4-5D6E-409C-BE32-E72D297353CC}">
                <c16:uniqueId val="{00000001-2AA4-4B58-A81E-8608B0754D4D}"/>
              </c:ext>
            </c:extLst>
          </c:dPt>
          <c:dPt>
            <c:idx val="1"/>
            <c:bubble3D val="0"/>
            <c:spPr>
              <a:solidFill>
                <a:schemeClr val="accent2">
                  <a:lumMod val="75000"/>
                </a:schemeClr>
              </a:solidFill>
              <a:effectLst/>
            </c:spPr>
            <c:extLst>
              <c:ext xmlns:c16="http://schemas.microsoft.com/office/drawing/2014/chart" uri="{C3380CC4-5D6E-409C-BE32-E72D297353CC}">
                <c16:uniqueId val="{00000003-2AA4-4B58-A81E-8608B0754D4D}"/>
              </c:ext>
            </c:extLst>
          </c:dPt>
          <c:dPt>
            <c:idx val="2"/>
            <c:bubble3D val="0"/>
            <c:spPr>
              <a:solidFill>
                <a:srgbClr val="F4A825"/>
              </a:solidFill>
              <a:effectLst/>
            </c:spPr>
            <c:extLst>
              <c:ext xmlns:c16="http://schemas.microsoft.com/office/drawing/2014/chart" uri="{C3380CC4-5D6E-409C-BE32-E72D297353CC}">
                <c16:uniqueId val="{00000005-2AA4-4B58-A81E-8608B0754D4D}"/>
              </c:ext>
            </c:extLst>
          </c:dPt>
          <c:dPt>
            <c:idx val="3"/>
            <c:bubble3D val="0"/>
            <c:spPr>
              <a:solidFill>
                <a:srgbClr val="2E7D32"/>
              </a:solidFill>
              <a:effectLst/>
            </c:spPr>
            <c:extLst>
              <c:ext xmlns:c16="http://schemas.microsoft.com/office/drawing/2014/chart" uri="{C3380CC4-5D6E-409C-BE32-E72D297353CC}">
                <c16:uniqueId val="{00000007-2AA4-4B58-A81E-8608B0754D4D}"/>
              </c:ext>
            </c:extLst>
          </c:dPt>
          <c:dPt>
            <c:idx val="4"/>
            <c:bubble3D val="0"/>
            <c:spPr>
              <a:solidFill>
                <a:srgbClr val="1CA9E6"/>
              </a:solidFill>
              <a:effectLst/>
            </c:spPr>
            <c:extLst>
              <c:ext xmlns:c16="http://schemas.microsoft.com/office/drawing/2014/chart" uri="{C3380CC4-5D6E-409C-BE32-E72D297353CC}">
                <c16:uniqueId val="{00000009-2AA4-4B58-A81E-8608B0754D4D}"/>
              </c:ext>
            </c:extLst>
          </c:dPt>
          <c:dLbls>
            <c:dLbl>
              <c:idx val="0"/>
              <c:numFmt formatCode="0%" sourceLinked="0"/>
              <c:spPr/>
              <c:txPr>
                <a:bodyPr/>
                <a:lstStyle/>
                <a:p>
                  <a:pPr>
                    <a:defRPr sz="2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AA4-4B58-A81E-8608B0754D4D}"/>
                </c:ext>
              </c:extLst>
            </c:dLbl>
            <c:dLbl>
              <c:idx val="1"/>
              <c:numFmt formatCode="0%" sourceLinked="0"/>
              <c:spPr/>
              <c:txPr>
                <a:bodyPr/>
                <a:lstStyle/>
                <a:p>
                  <a:pPr>
                    <a:defRPr sz="2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AA4-4B58-A81E-8608B0754D4D}"/>
                </c:ext>
              </c:extLst>
            </c:dLbl>
            <c:dLbl>
              <c:idx val="2"/>
              <c:numFmt formatCode="0%" sourceLinked="0"/>
              <c:spPr/>
              <c:txPr>
                <a:bodyPr/>
                <a:lstStyle/>
                <a:p>
                  <a:pPr>
                    <a:defRPr sz="2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AA4-4B58-A81E-8608B0754D4D}"/>
                </c:ext>
              </c:extLst>
            </c:dLbl>
            <c:dLbl>
              <c:idx val="3"/>
              <c:numFmt formatCode="0%" sourceLinked="0"/>
              <c:spPr/>
              <c:txPr>
                <a:bodyPr/>
                <a:lstStyle/>
                <a:p>
                  <a:pPr>
                    <a:defRPr sz="2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AA4-4B58-A81E-8608B0754D4D}"/>
                </c:ext>
              </c:extLst>
            </c:dLbl>
            <c:dLbl>
              <c:idx val="4"/>
              <c:numFmt formatCode="0%" sourceLinked="0"/>
              <c:spPr/>
              <c:txPr>
                <a:bodyPr/>
                <a:lstStyle/>
                <a:p>
                  <a:pPr>
                    <a:defRPr sz="2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AA4-4B58-A81E-8608B0754D4D}"/>
                </c:ext>
              </c:extLst>
            </c:dLbl>
            <c:numFmt formatCode="0%" sourceLinked="0"/>
            <c:spPr>
              <a:noFill/>
              <a:ln>
                <a:noFill/>
              </a:ln>
              <a:effectLst/>
            </c:spPr>
            <c:txPr>
              <a:bodyPr/>
              <a:lstStyle/>
              <a:p>
                <a:pPr>
                  <a:defRPr sz="20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Mechanical Damage</c:v>
                </c:pt>
                <c:pt idx="1">
                  <c:v>Delay</c:v>
                </c:pt>
                <c:pt idx="2">
                  <c:v>Pests</c:v>
                </c:pt>
                <c:pt idx="3">
                  <c:v>Poor Packaging</c:v>
                </c:pt>
                <c:pt idx="4">
                  <c:v>Heat</c:v>
                </c:pt>
              </c:strCache>
            </c:strRef>
          </c:cat>
          <c:val>
            <c:numRef>
              <c:f>Sheet1!$B$2:$B$6</c:f>
              <c:numCache>
                <c:formatCode>General</c:formatCode>
                <c:ptCount val="5"/>
                <c:pt idx="0">
                  <c:v>742</c:v>
                </c:pt>
                <c:pt idx="1">
                  <c:v>740</c:v>
                </c:pt>
                <c:pt idx="2">
                  <c:v>708</c:v>
                </c:pt>
                <c:pt idx="3">
                  <c:v>688</c:v>
                </c:pt>
                <c:pt idx="4">
                  <c:v>685</c:v>
                </c:pt>
              </c:numCache>
            </c:numRef>
          </c:val>
          <c:extLst>
            <c:ext xmlns:c16="http://schemas.microsoft.com/office/drawing/2014/chart" uri="{C3380CC4-5D6E-409C-BE32-E72D297353CC}">
              <c16:uniqueId val="{0000000A-2AA4-4B58-A81E-8608B0754D4D}"/>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600">
              <a:solidFill>
                <a:srgbClr val="1C1C1C"/>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364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tomalink_deck/logo_clean.png"/>
          <p:cNvPicPr>
            <a:picLocks noChangeAspect="1"/>
          </p:cNvPicPr>
          <p:nvPr/>
        </p:nvPicPr>
        <p:blipFill>
          <a:blip r:embed="rId3"/>
          <a:stretch>
            <a:fillRect/>
          </a:stretch>
        </p:blipFill>
        <p:spPr>
          <a:xfrm>
            <a:off x="4857968" y="960120"/>
            <a:ext cx="2473015" cy="2103120"/>
          </a:xfrm>
          <a:prstGeom prst="rect">
            <a:avLst/>
          </a:prstGeom>
        </p:spPr>
      </p:pic>
      <p:sp>
        <p:nvSpPr>
          <p:cNvPr id="3" name="Text 0"/>
          <p:cNvSpPr/>
          <p:nvPr/>
        </p:nvSpPr>
        <p:spPr>
          <a:xfrm>
            <a:off x="1522476" y="3429000"/>
            <a:ext cx="9144000" cy="731520"/>
          </a:xfrm>
          <a:prstGeom prst="rect">
            <a:avLst/>
          </a:prstGeom>
          <a:noFill/>
          <a:ln/>
        </p:spPr>
        <p:txBody>
          <a:bodyPr wrap="square" rtlCol="0" anchor="ctr"/>
          <a:lstStyle/>
          <a:p>
            <a:pPr marL="0" indent="0" algn="ctr">
              <a:buNone/>
            </a:pPr>
            <a:r>
              <a:rPr lang="en-US" sz="3200" b="1" dirty="0">
                <a:solidFill>
                  <a:srgbClr val="1C1C1C"/>
                </a:solidFill>
                <a:latin typeface="Calibri" pitchFamily="34" charset="0"/>
                <a:ea typeface="Calibri" pitchFamily="34" charset="-122"/>
                <a:cs typeface="Calibri" pitchFamily="34" charset="-120"/>
              </a:rPr>
              <a:t>REDUCING POST HARVEST TOMATO LOSSES IN NIGERIA THROUGH SMART TECHNOLOGY</a:t>
            </a:r>
            <a:endParaRPr lang="en-US" sz="3200" dirty="0"/>
          </a:p>
        </p:txBody>
      </p:sp>
      <p:sp>
        <p:nvSpPr>
          <p:cNvPr id="4" name="Text 1"/>
          <p:cNvSpPr/>
          <p:nvPr/>
        </p:nvSpPr>
        <p:spPr>
          <a:xfrm>
            <a:off x="1522476" y="4316505"/>
            <a:ext cx="9144000" cy="457200"/>
          </a:xfrm>
          <a:prstGeom prst="rect">
            <a:avLst/>
          </a:prstGeom>
          <a:noFill/>
          <a:ln/>
        </p:spPr>
        <p:txBody>
          <a:bodyPr wrap="square" rtlCol="0" anchor="ctr"/>
          <a:lstStyle/>
          <a:p>
            <a:pPr marL="0" indent="0" algn="ctr">
              <a:buNone/>
            </a:pPr>
            <a:r>
              <a:rPr lang="en-US" sz="2000" i="1" dirty="0">
                <a:solidFill>
                  <a:srgbClr val="2E7D32"/>
                </a:solidFill>
                <a:latin typeface="Calibri" pitchFamily="34" charset="0"/>
                <a:ea typeface="Calibri" pitchFamily="34" charset="-122"/>
                <a:cs typeface="Calibri" pitchFamily="34" charset="-120"/>
              </a:rPr>
              <a:t>A hackathon solution built by farmers' logic, not just code</a:t>
            </a:r>
            <a:endParaRPr lang="en-US" sz="2000" dirty="0"/>
          </a:p>
        </p:txBody>
      </p:sp>
      <p:sp>
        <p:nvSpPr>
          <p:cNvPr id="5" name="Shape 2"/>
          <p:cNvSpPr/>
          <p:nvPr/>
        </p:nvSpPr>
        <p:spPr>
          <a:xfrm>
            <a:off x="0" y="5989320"/>
            <a:ext cx="12188952" cy="868680"/>
          </a:xfrm>
          <a:prstGeom prst="rect">
            <a:avLst/>
          </a:prstGeom>
          <a:solidFill>
            <a:srgbClr val="2E7D32"/>
          </a:solidFill>
          <a:ln/>
        </p:spPr>
      </p:sp>
      <p:sp>
        <p:nvSpPr>
          <p:cNvPr id="6" name="Text 3"/>
          <p:cNvSpPr/>
          <p:nvPr/>
        </p:nvSpPr>
        <p:spPr>
          <a:xfrm>
            <a:off x="640080" y="6144768"/>
            <a:ext cx="5486400" cy="320040"/>
          </a:xfrm>
          <a:prstGeom prst="rect">
            <a:avLst/>
          </a:prstGeom>
          <a:noFill/>
          <a:ln/>
        </p:spPr>
        <p:txBody>
          <a:bodyPr wrap="square" rtlCol="0" anchor="ctr"/>
          <a:lstStyle/>
          <a:p>
            <a:pPr marL="0" indent="0">
              <a:buNone/>
            </a:pPr>
            <a:r>
              <a:rPr lang="en-US" b="1" kern="0" spc="150" dirty="0">
                <a:solidFill>
                  <a:srgbClr val="FFFFFF"/>
                </a:solidFill>
                <a:latin typeface="Calibri" pitchFamily="34" charset="0"/>
                <a:ea typeface="Calibri" pitchFamily="34" charset="-122"/>
                <a:cs typeface="Calibri" pitchFamily="34" charset="-120"/>
              </a:rPr>
              <a:t>TECHYJAUNT HACKATHON</a:t>
            </a:r>
            <a:endParaRPr lang="en-US" dirty="0"/>
          </a:p>
        </p:txBody>
      </p:sp>
      <p:sp>
        <p:nvSpPr>
          <p:cNvPr id="7" name="Text 4"/>
          <p:cNvSpPr/>
          <p:nvPr/>
        </p:nvSpPr>
        <p:spPr>
          <a:xfrm>
            <a:off x="640080" y="6446520"/>
            <a:ext cx="5486400" cy="274320"/>
          </a:xfrm>
          <a:prstGeom prst="rect">
            <a:avLst/>
          </a:prstGeom>
          <a:noFill/>
          <a:ln/>
        </p:spPr>
        <p:txBody>
          <a:bodyPr wrap="square" rtlCol="0" anchor="ctr"/>
          <a:lstStyle/>
          <a:p>
            <a:pPr marL="0" indent="0">
              <a:buNone/>
            </a:pPr>
            <a:r>
              <a:rPr lang="en-US" dirty="0">
                <a:solidFill>
                  <a:srgbClr val="D4EDD5"/>
                </a:solidFill>
                <a:latin typeface="Calibri" pitchFamily="34" charset="0"/>
                <a:ea typeface="Calibri" pitchFamily="34" charset="-122"/>
                <a:cs typeface="Calibri" pitchFamily="34" charset="-120"/>
              </a:rPr>
              <a:t>Presented by Group 6</a:t>
            </a:r>
            <a:endParaRPr lang="en-US" dirty="0"/>
          </a:p>
        </p:txBody>
      </p:sp>
      <p:sp>
        <p:nvSpPr>
          <p:cNvPr id="8" name="Text 5"/>
          <p:cNvSpPr/>
          <p:nvPr/>
        </p:nvSpPr>
        <p:spPr>
          <a:xfrm>
            <a:off x="8686800" y="6144768"/>
            <a:ext cx="2862072" cy="320040"/>
          </a:xfrm>
          <a:prstGeom prst="rect">
            <a:avLst/>
          </a:prstGeom>
          <a:noFill/>
          <a:ln/>
        </p:spPr>
        <p:txBody>
          <a:bodyPr wrap="square"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THE PROBLEM</a:t>
            </a:r>
            <a:endParaRPr lang="en-US" sz="3200" dirty="0"/>
          </a:p>
        </p:txBody>
      </p:sp>
      <p:sp>
        <p:nvSpPr>
          <p:cNvPr id="3" name="Text 1"/>
          <p:cNvSpPr/>
          <p:nvPr/>
        </p:nvSpPr>
        <p:spPr>
          <a:xfrm>
            <a:off x="640080" y="548641"/>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Nigeria grows enough tomatoes to feed itself, yet nearly half never reach a plate</a:t>
            </a:r>
            <a:endParaRPr lang="en-US" sz="2000" dirty="0"/>
          </a:p>
        </p:txBody>
      </p:sp>
      <p:sp>
        <p:nvSpPr>
          <p:cNvPr id="4" name="Text 2"/>
          <p:cNvSpPr/>
          <p:nvPr/>
        </p:nvSpPr>
        <p:spPr>
          <a:xfrm>
            <a:off x="640080" y="1965960"/>
            <a:ext cx="3383280" cy="914400"/>
          </a:xfrm>
          <a:prstGeom prst="rect">
            <a:avLst/>
          </a:prstGeom>
          <a:noFill/>
          <a:ln/>
        </p:spPr>
        <p:txBody>
          <a:bodyPr wrap="square" rtlCol="0" anchor="ctr"/>
          <a:lstStyle/>
          <a:p>
            <a:pPr marL="0" indent="0">
              <a:buNone/>
            </a:pPr>
            <a:r>
              <a:rPr lang="en-US" sz="3800" b="1" dirty="0">
                <a:solidFill>
                  <a:srgbClr val="2E7D32"/>
                </a:solidFill>
                <a:latin typeface="Calibri" pitchFamily="34" charset="0"/>
                <a:ea typeface="Calibri" pitchFamily="34" charset="-122"/>
                <a:cs typeface="Calibri" pitchFamily="34" charset="-120"/>
              </a:rPr>
              <a:t>3.8 to 4.0M</a:t>
            </a:r>
            <a:endParaRPr lang="en-US" sz="3800" dirty="0"/>
          </a:p>
        </p:txBody>
      </p:sp>
      <p:sp>
        <p:nvSpPr>
          <p:cNvPr id="5" name="Text 3"/>
          <p:cNvSpPr/>
          <p:nvPr/>
        </p:nvSpPr>
        <p:spPr>
          <a:xfrm>
            <a:off x="640080" y="2896496"/>
            <a:ext cx="3291840" cy="1005840"/>
          </a:xfrm>
          <a:prstGeom prst="rect">
            <a:avLst/>
          </a:prstGeom>
          <a:noFill/>
          <a:ln/>
        </p:spPr>
        <p:txBody>
          <a:bodyPr wrap="square" rtlCol="0" anchor="ctr"/>
          <a:lstStyle/>
          <a:p>
            <a:pPr marL="0" indent="0">
              <a:lnSpc>
                <a:spcPct val="125000"/>
              </a:lnSpc>
              <a:buNone/>
            </a:pPr>
            <a:r>
              <a:rPr lang="en-US" dirty="0">
                <a:latin typeface="Times New Roman" panose="02020603050405020304" pitchFamily="18" charset="0"/>
                <a:ea typeface="Calibri" pitchFamily="34" charset="-122"/>
                <a:cs typeface="Times New Roman" panose="02020603050405020304" pitchFamily="18" charset="0"/>
              </a:rPr>
              <a:t>metric tonnes of tomatoes produced in Nigeria every year, which is the largest output in sub Saharan Africa</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4434840" y="1965960"/>
            <a:ext cx="3383280" cy="914400"/>
          </a:xfrm>
          <a:prstGeom prst="rect">
            <a:avLst/>
          </a:prstGeom>
          <a:noFill/>
          <a:ln/>
        </p:spPr>
        <p:txBody>
          <a:bodyPr wrap="square" rtlCol="0" anchor="ctr"/>
          <a:lstStyle/>
          <a:p>
            <a:pPr marL="0" indent="0">
              <a:buNone/>
            </a:pPr>
            <a:r>
              <a:rPr lang="en-US" sz="3800" b="1" dirty="0">
                <a:solidFill>
                  <a:srgbClr val="D32F2F"/>
                </a:solidFill>
                <a:latin typeface="Calibri" pitchFamily="34" charset="0"/>
                <a:ea typeface="Calibri" pitchFamily="34" charset="-122"/>
                <a:cs typeface="Calibri" pitchFamily="34" charset="-120"/>
              </a:rPr>
              <a:t>40 to 45%</a:t>
            </a:r>
            <a:endParaRPr lang="en-US" sz="3800" dirty="0"/>
          </a:p>
        </p:txBody>
      </p:sp>
      <p:sp>
        <p:nvSpPr>
          <p:cNvPr id="7" name="Text 5"/>
          <p:cNvSpPr/>
          <p:nvPr/>
        </p:nvSpPr>
        <p:spPr>
          <a:xfrm>
            <a:off x="4434840" y="2896496"/>
            <a:ext cx="3291840" cy="1005840"/>
          </a:xfrm>
          <a:prstGeom prst="rect">
            <a:avLst/>
          </a:prstGeom>
          <a:noFill/>
          <a:ln/>
        </p:spPr>
        <p:txBody>
          <a:bodyPr wrap="square" rtlCol="0" anchor="ctr"/>
          <a:lstStyle/>
          <a:p>
            <a:pPr marL="0" indent="0">
              <a:lnSpc>
                <a:spcPct val="125000"/>
              </a:lnSpc>
              <a:buNone/>
            </a:pPr>
            <a:r>
              <a:rPr lang="en-US" dirty="0">
                <a:latin typeface="Times New Roman" panose="02020603050405020304" pitchFamily="18" charset="0"/>
                <a:ea typeface="Calibri" pitchFamily="34" charset="-122"/>
                <a:cs typeface="Times New Roman" panose="02020603050405020304" pitchFamily="18" charset="0"/>
              </a:rPr>
              <a:t>of that harvest is lost after it leaves the farm, before it ever reaches a consumer or processor</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8229600" y="1965960"/>
            <a:ext cx="3383280" cy="914400"/>
          </a:xfrm>
          <a:prstGeom prst="rect">
            <a:avLst/>
          </a:prstGeom>
          <a:noFill/>
          <a:ln/>
        </p:spPr>
        <p:txBody>
          <a:bodyPr wrap="square" rtlCol="0" anchor="ctr"/>
          <a:lstStyle/>
          <a:p>
            <a:pPr marL="0" indent="0">
              <a:buNone/>
            </a:pPr>
            <a:r>
              <a:rPr lang="en-US" sz="3800" b="1" dirty="0">
                <a:solidFill>
                  <a:srgbClr val="B71C1C"/>
                </a:solidFill>
                <a:latin typeface="Calibri" pitchFamily="34" charset="0"/>
                <a:ea typeface="Calibri" pitchFamily="34" charset="-122"/>
                <a:cs typeface="Calibri" pitchFamily="34" charset="-120"/>
              </a:rPr>
              <a:t>Over 50%</a:t>
            </a:r>
            <a:endParaRPr lang="en-US" sz="3800" dirty="0"/>
          </a:p>
        </p:txBody>
      </p:sp>
      <p:sp>
        <p:nvSpPr>
          <p:cNvPr id="9" name="Text 7"/>
          <p:cNvSpPr/>
          <p:nvPr/>
        </p:nvSpPr>
        <p:spPr>
          <a:xfrm>
            <a:off x="8229600" y="2896496"/>
            <a:ext cx="3291840" cy="1005840"/>
          </a:xfrm>
          <a:prstGeom prst="rect">
            <a:avLst/>
          </a:prstGeom>
          <a:noFill/>
          <a:ln/>
        </p:spPr>
        <p:txBody>
          <a:bodyPr wrap="square" rtlCol="0" anchor="ctr"/>
          <a:lstStyle/>
          <a:p>
            <a:pPr marL="0" indent="0">
              <a:lnSpc>
                <a:spcPct val="125000"/>
              </a:lnSpc>
              <a:buNone/>
            </a:pPr>
            <a:r>
              <a:rPr lang="en-US" dirty="0">
                <a:latin typeface="Times New Roman" panose="02020603050405020304" pitchFamily="18" charset="0"/>
                <a:ea typeface="Calibri" pitchFamily="34" charset="-122"/>
                <a:cs typeface="Times New Roman" panose="02020603050405020304" pitchFamily="18" charset="0"/>
              </a:rPr>
              <a:t>is lost during peak harvest season alone, when market glut and storage shortages hit hardest</a:t>
            </a:r>
            <a:endParaRPr lang="en-US" dirty="0">
              <a:latin typeface="Times New Roman" panose="02020603050405020304" pitchFamily="18" charset="0"/>
              <a:cs typeface="Times New Roman" panose="02020603050405020304" pitchFamily="18" charset="0"/>
            </a:endParaRPr>
          </a:p>
        </p:txBody>
      </p:sp>
      <p:sp>
        <p:nvSpPr>
          <p:cNvPr id="10" name="Shape 8"/>
          <p:cNvSpPr/>
          <p:nvPr/>
        </p:nvSpPr>
        <p:spPr>
          <a:xfrm>
            <a:off x="655320" y="4297680"/>
            <a:ext cx="10881360" cy="0"/>
          </a:xfrm>
          <a:prstGeom prst="line">
            <a:avLst/>
          </a:prstGeom>
          <a:noFill/>
          <a:ln w="76200">
            <a:solidFill>
              <a:srgbClr val="B71C1C"/>
            </a:solidFill>
            <a:prstDash val="solid"/>
          </a:ln>
        </p:spPr>
      </p:sp>
      <p:sp>
        <p:nvSpPr>
          <p:cNvPr id="11" name="Text 9"/>
          <p:cNvSpPr/>
          <p:nvPr/>
        </p:nvSpPr>
        <p:spPr>
          <a:xfrm>
            <a:off x="685800" y="4892040"/>
            <a:ext cx="10881360" cy="1188720"/>
          </a:xfrm>
          <a:prstGeom prst="rect">
            <a:avLst/>
          </a:prstGeom>
          <a:noFill/>
          <a:ln/>
        </p:spPr>
        <p:txBody>
          <a:bodyPr wrap="square" rtlCol="0" anchor="ctr"/>
          <a:lstStyle/>
          <a:p>
            <a:pPr marL="0" indent="0">
              <a:lnSpc>
                <a:spcPct val="135000"/>
              </a:lnSpc>
              <a:buNone/>
            </a:pPr>
            <a:r>
              <a:rPr lang="en-US" sz="2000" i="1" dirty="0">
                <a:solidFill>
                  <a:srgbClr val="1C1C1C"/>
                </a:solidFill>
                <a:latin typeface="Calibri" pitchFamily="34" charset="0"/>
                <a:ea typeface="Calibri" pitchFamily="34" charset="-122"/>
                <a:cs typeface="Calibri" pitchFamily="34" charset="-120"/>
              </a:rPr>
              <a:t>In plain terms, for every 100 baskets a farmer harvests, roughly 40 to 60 of them never earn a single naira. Nigeria still imports large volumes of tomato paste because so much of its own fresh harvest spoils before it can be sold or processed.</a:t>
            </a:r>
            <a:endParaRPr lang="en-US" sz="2000" dirty="0"/>
          </a:p>
        </p:txBody>
      </p:sp>
      <p:sp>
        <p:nvSpPr>
          <p:cNvPr id="12" name="Text 10"/>
          <p:cNvSpPr/>
          <p:nvPr/>
        </p:nvSpPr>
        <p:spPr>
          <a:xfrm>
            <a:off x="640080" y="6446520"/>
            <a:ext cx="10881360" cy="274320"/>
          </a:xfrm>
          <a:prstGeom prst="rect">
            <a:avLst/>
          </a:prstGeom>
          <a:noFill/>
          <a:ln/>
        </p:spPr>
        <p:txBody>
          <a:bodyPr wrap="square" rtlCol="0" anchor="ctr"/>
          <a:lstStyle/>
          <a:p>
            <a:pPr marL="0" indent="0">
              <a:buNone/>
            </a:pPr>
            <a:r>
              <a:rPr lang="en-US" sz="1400" b="1" i="1" dirty="0">
                <a:solidFill>
                  <a:srgbClr val="9E9E9E"/>
                </a:solidFill>
                <a:latin typeface="Calibri" pitchFamily="34" charset="0"/>
                <a:ea typeface="Calibri" pitchFamily="34" charset="-122"/>
                <a:cs typeface="Calibri" pitchFamily="34" charset="-120"/>
              </a:rPr>
              <a:t>Source: FAOSTAT, Federal Ministry of Agriculture and Food Security, National Bureau of Statistics</a:t>
            </a:r>
            <a:endParaRPr lang="en-US" sz="1400" b="1" dirty="0"/>
          </a:p>
        </p:txBody>
      </p:sp>
      <p:sp>
        <p:nvSpPr>
          <p:cNvPr id="13" name="Text 11"/>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0" name="Shape 2">
            <a:extLst>
              <a:ext uri="{FF2B5EF4-FFF2-40B4-BE49-F238E27FC236}">
                <a16:creationId xmlns:a16="http://schemas.microsoft.com/office/drawing/2014/main" id="{4B05F958-A664-42EB-9FF9-64FE8DBB9F6F}"/>
              </a:ext>
            </a:extLst>
          </p:cNvPr>
          <p:cNvSpPr/>
          <p:nvPr/>
        </p:nvSpPr>
        <p:spPr>
          <a:xfrm>
            <a:off x="606015" y="1382219"/>
            <a:ext cx="3520440" cy="2543644"/>
          </a:xfrm>
          <a:prstGeom prst="roundRect">
            <a:avLst>
              <a:gd name="adj" fmla="val 3243"/>
            </a:avLst>
          </a:prstGeom>
          <a:solidFill>
            <a:srgbClr val="EAF5EB"/>
          </a:solidFill>
          <a:ln/>
        </p:spPr>
        <p:txBody>
          <a:bodyPr/>
          <a:lstStyle/>
          <a:p>
            <a:endParaRPr lang="en-GB" dirty="0"/>
          </a:p>
        </p:txBody>
      </p:sp>
      <p:sp>
        <p:nvSpPr>
          <p:cNvPr id="31" name="Shape 6">
            <a:extLst>
              <a:ext uri="{FF2B5EF4-FFF2-40B4-BE49-F238E27FC236}">
                <a16:creationId xmlns:a16="http://schemas.microsoft.com/office/drawing/2014/main" id="{3DD3D32A-10BF-4818-AF61-0A5760527FF2}"/>
              </a:ext>
            </a:extLst>
          </p:cNvPr>
          <p:cNvSpPr/>
          <p:nvPr/>
        </p:nvSpPr>
        <p:spPr>
          <a:xfrm>
            <a:off x="4263615" y="1381202"/>
            <a:ext cx="3520440" cy="2531333"/>
          </a:xfrm>
          <a:prstGeom prst="roundRect">
            <a:avLst>
              <a:gd name="adj" fmla="val 3243"/>
            </a:avLst>
          </a:prstGeom>
          <a:solidFill>
            <a:srgbClr val="EAF5EB"/>
          </a:solidFill>
          <a:ln/>
        </p:spPr>
      </p:sp>
      <p:sp>
        <p:nvSpPr>
          <p:cNvPr id="32" name="Shape 10">
            <a:extLst>
              <a:ext uri="{FF2B5EF4-FFF2-40B4-BE49-F238E27FC236}">
                <a16:creationId xmlns:a16="http://schemas.microsoft.com/office/drawing/2014/main" id="{4B6E600F-070A-40A5-BBBF-CA572BAEB01B}"/>
              </a:ext>
            </a:extLst>
          </p:cNvPr>
          <p:cNvSpPr/>
          <p:nvPr/>
        </p:nvSpPr>
        <p:spPr>
          <a:xfrm>
            <a:off x="7921215" y="1381202"/>
            <a:ext cx="3520440" cy="2531333"/>
          </a:xfrm>
          <a:prstGeom prst="roundRect">
            <a:avLst>
              <a:gd name="adj" fmla="val 3243"/>
            </a:avLst>
          </a:prstGeom>
          <a:solidFill>
            <a:srgbClr val="EAF5EB"/>
          </a:solidFill>
          <a:ln/>
        </p:spPr>
      </p:sp>
      <p:sp>
        <p:nvSpPr>
          <p:cNvPr id="33" name="Shape 18">
            <a:extLst>
              <a:ext uri="{FF2B5EF4-FFF2-40B4-BE49-F238E27FC236}">
                <a16:creationId xmlns:a16="http://schemas.microsoft.com/office/drawing/2014/main" id="{87B5AD85-E9F9-4AD1-9CB1-024D9D430D98}"/>
              </a:ext>
            </a:extLst>
          </p:cNvPr>
          <p:cNvSpPr/>
          <p:nvPr/>
        </p:nvSpPr>
        <p:spPr>
          <a:xfrm>
            <a:off x="4185622" y="4179884"/>
            <a:ext cx="3520440" cy="2543645"/>
          </a:xfrm>
          <a:prstGeom prst="roundRect">
            <a:avLst>
              <a:gd name="adj" fmla="val 3243"/>
            </a:avLst>
          </a:prstGeom>
          <a:solidFill>
            <a:srgbClr val="EAF5EB"/>
          </a:solidFill>
          <a:ln/>
        </p:spPr>
        <p:txBody>
          <a:bodyPr/>
          <a:lstStyle/>
          <a:p>
            <a:endParaRPr lang="en-GB" dirty="0"/>
          </a:p>
        </p:txBody>
      </p:sp>
      <p:sp>
        <p:nvSpPr>
          <p:cNvPr id="35" name="Shape 22">
            <a:extLst>
              <a:ext uri="{FF2B5EF4-FFF2-40B4-BE49-F238E27FC236}">
                <a16:creationId xmlns:a16="http://schemas.microsoft.com/office/drawing/2014/main" id="{9695C586-E01E-4589-90BB-ABC2C4AFB0D2}"/>
              </a:ext>
            </a:extLst>
          </p:cNvPr>
          <p:cNvSpPr/>
          <p:nvPr/>
        </p:nvSpPr>
        <p:spPr>
          <a:xfrm>
            <a:off x="7871461" y="4179883"/>
            <a:ext cx="3520440" cy="2543645"/>
          </a:xfrm>
          <a:prstGeom prst="roundRect">
            <a:avLst>
              <a:gd name="adj" fmla="val 3243"/>
            </a:avLst>
          </a:prstGeom>
          <a:solidFill>
            <a:srgbClr val="EAF5EB"/>
          </a:solidFill>
          <a:ln/>
        </p:spPr>
      </p:sp>
      <p:sp>
        <p:nvSpPr>
          <p:cNvPr id="34" name="Shape 14">
            <a:extLst>
              <a:ext uri="{FF2B5EF4-FFF2-40B4-BE49-F238E27FC236}">
                <a16:creationId xmlns:a16="http://schemas.microsoft.com/office/drawing/2014/main" id="{00F14272-41E2-4651-BD6C-05356F067D52}"/>
              </a:ext>
            </a:extLst>
          </p:cNvPr>
          <p:cNvSpPr/>
          <p:nvPr/>
        </p:nvSpPr>
        <p:spPr>
          <a:xfrm>
            <a:off x="556261" y="4179884"/>
            <a:ext cx="3520440" cy="2543644"/>
          </a:xfrm>
          <a:prstGeom prst="roundRect">
            <a:avLst>
              <a:gd name="adj" fmla="val 3243"/>
            </a:avLst>
          </a:prstGeom>
          <a:solidFill>
            <a:srgbClr val="EAF5EB"/>
          </a:solidFill>
          <a:ln/>
        </p:spPr>
      </p:sp>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2800" b="1" kern="0" spc="200" dirty="0">
                <a:solidFill>
                  <a:srgbClr val="2E7D32"/>
                </a:solidFill>
                <a:latin typeface="Calibri" pitchFamily="34" charset="0"/>
                <a:ea typeface="Calibri" pitchFamily="34" charset="-122"/>
                <a:cs typeface="Calibri" pitchFamily="34" charset="-120"/>
              </a:rPr>
              <a:t>ROOT CAUSES</a:t>
            </a:r>
            <a:endParaRPr lang="en-US" sz="2800" dirty="0"/>
          </a:p>
        </p:txBody>
      </p:sp>
      <p:sp>
        <p:nvSpPr>
          <p:cNvPr id="3" name="Text 1"/>
          <p:cNvSpPr/>
          <p:nvPr/>
        </p:nvSpPr>
        <p:spPr>
          <a:xfrm>
            <a:off x="640080" y="452959"/>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Six weak links that breaks the chain between farm and market</a:t>
            </a:r>
            <a:endParaRPr lang="en-US" sz="2000" dirty="0"/>
          </a:p>
        </p:txBody>
      </p:sp>
      <p:sp>
        <p:nvSpPr>
          <p:cNvPr id="5" name="Text 3"/>
          <p:cNvSpPr/>
          <p:nvPr/>
        </p:nvSpPr>
        <p:spPr>
          <a:xfrm>
            <a:off x="688490" y="1401186"/>
            <a:ext cx="548640" cy="457200"/>
          </a:xfrm>
          <a:prstGeom prst="rect">
            <a:avLst/>
          </a:prstGeom>
          <a:noFill/>
          <a:ln/>
        </p:spPr>
        <p:txBody>
          <a:bodyPr wrap="square" rtlCol="0" anchor="ctr"/>
          <a:lstStyle/>
          <a:p>
            <a:pPr marL="0" indent="0">
              <a:buNone/>
            </a:pPr>
            <a:r>
              <a:rPr lang="en-US" sz="3200" b="1" dirty="0">
                <a:solidFill>
                  <a:srgbClr val="2E7D32"/>
                </a:solidFill>
                <a:latin typeface="Calibri" pitchFamily="34" charset="0"/>
                <a:ea typeface="Calibri" pitchFamily="34" charset="-122"/>
                <a:cs typeface="Calibri" pitchFamily="34" charset="-120"/>
              </a:rPr>
              <a:t>1</a:t>
            </a:r>
            <a:endParaRPr lang="en-US" sz="3200" dirty="0"/>
          </a:p>
        </p:txBody>
      </p:sp>
      <p:sp>
        <p:nvSpPr>
          <p:cNvPr id="6" name="Text 4"/>
          <p:cNvSpPr/>
          <p:nvPr/>
        </p:nvSpPr>
        <p:spPr>
          <a:xfrm>
            <a:off x="739141" y="1802850"/>
            <a:ext cx="3154680" cy="457200"/>
          </a:xfrm>
          <a:prstGeom prst="rect">
            <a:avLst/>
          </a:prstGeom>
          <a:noFill/>
          <a:ln/>
        </p:spPr>
        <p:txBody>
          <a:bodyPr wrap="square" rtlCol="0" anchor="ctr"/>
          <a:lstStyle/>
          <a:p>
            <a:pPr marL="0" indent="0" algn="ctr">
              <a:buNone/>
            </a:pPr>
            <a:r>
              <a:rPr lang="en-US" sz="1600" b="1" dirty="0">
                <a:solidFill>
                  <a:srgbClr val="FF0000"/>
                </a:solidFill>
                <a:latin typeface="Calibri" pitchFamily="34" charset="0"/>
                <a:ea typeface="Calibri" pitchFamily="34" charset="-122"/>
                <a:cs typeface="Calibri" pitchFamily="34" charset="-120"/>
              </a:rPr>
              <a:t>Poor transportation</a:t>
            </a:r>
            <a:endParaRPr lang="en-US" sz="1600" dirty="0">
              <a:solidFill>
                <a:srgbClr val="FF0000"/>
              </a:solidFill>
            </a:endParaRPr>
          </a:p>
        </p:txBody>
      </p:sp>
      <p:sp>
        <p:nvSpPr>
          <p:cNvPr id="7" name="Text 5"/>
          <p:cNvSpPr/>
          <p:nvPr/>
        </p:nvSpPr>
        <p:spPr>
          <a:xfrm>
            <a:off x="688490" y="2770632"/>
            <a:ext cx="3154680" cy="658368"/>
          </a:xfrm>
          <a:prstGeom prst="rect">
            <a:avLst/>
          </a:prstGeom>
          <a:noFill/>
          <a:ln/>
        </p:spPr>
        <p:txBody>
          <a:bodyPr wrap="square" rtlCol="0" anchor="ctr"/>
          <a:lstStyle/>
          <a:p>
            <a:pPr marL="0" indent="0" algn="just">
              <a:lnSpc>
                <a:spcPct val="115000"/>
              </a:lnSpc>
              <a:buNone/>
            </a:pPr>
            <a:r>
              <a:rPr lang="en-US" sz="1600" b="1" dirty="0">
                <a:latin typeface="Calibri" pitchFamily="34" charset="0"/>
                <a:ea typeface="Calibri" pitchFamily="34" charset="-122"/>
                <a:cs typeface="Calibri" pitchFamily="34" charset="-120"/>
              </a:rPr>
              <a:t>Tomatoes travel long distances on rough roads in overloaded, non refrigerated vehicles, bruises and cracks which speed up spoilage before produce even reaches a market.</a:t>
            </a:r>
            <a:endParaRPr lang="en-US" sz="1600" b="1" dirty="0"/>
          </a:p>
        </p:txBody>
      </p:sp>
      <p:sp>
        <p:nvSpPr>
          <p:cNvPr id="9" name="Text 7"/>
          <p:cNvSpPr/>
          <p:nvPr/>
        </p:nvSpPr>
        <p:spPr>
          <a:xfrm>
            <a:off x="4346090" y="1401186"/>
            <a:ext cx="548640" cy="457200"/>
          </a:xfrm>
          <a:prstGeom prst="rect">
            <a:avLst/>
          </a:prstGeom>
          <a:noFill/>
          <a:ln/>
        </p:spPr>
        <p:txBody>
          <a:bodyPr wrap="square" rtlCol="0" anchor="ctr"/>
          <a:lstStyle/>
          <a:p>
            <a:pPr marL="0" indent="0">
              <a:buNone/>
            </a:pPr>
            <a:r>
              <a:rPr lang="en-US" sz="3200" b="1" dirty="0">
                <a:solidFill>
                  <a:srgbClr val="2E7D32"/>
                </a:solidFill>
                <a:latin typeface="Calibri" pitchFamily="34" charset="0"/>
                <a:ea typeface="Calibri" pitchFamily="34" charset="-122"/>
                <a:cs typeface="Calibri" pitchFamily="34" charset="-120"/>
              </a:rPr>
              <a:t>2</a:t>
            </a:r>
            <a:endParaRPr lang="en-US" sz="3200" dirty="0"/>
          </a:p>
        </p:txBody>
      </p:sp>
      <p:sp>
        <p:nvSpPr>
          <p:cNvPr id="10" name="Text 8"/>
          <p:cNvSpPr/>
          <p:nvPr/>
        </p:nvSpPr>
        <p:spPr>
          <a:xfrm>
            <a:off x="4368502" y="1805032"/>
            <a:ext cx="3154680" cy="457200"/>
          </a:xfrm>
          <a:prstGeom prst="rect">
            <a:avLst/>
          </a:prstGeom>
          <a:noFill/>
          <a:ln/>
        </p:spPr>
        <p:txBody>
          <a:bodyPr wrap="square" rtlCol="0" anchor="ctr"/>
          <a:lstStyle/>
          <a:p>
            <a:pPr marL="0" indent="0" algn="ctr">
              <a:buNone/>
            </a:pPr>
            <a:r>
              <a:rPr lang="en-US" sz="1600" b="1" dirty="0">
                <a:solidFill>
                  <a:srgbClr val="FF0000"/>
                </a:solidFill>
                <a:latin typeface="Calibri" pitchFamily="34" charset="0"/>
                <a:ea typeface="Calibri" pitchFamily="34" charset="-122"/>
                <a:cs typeface="Calibri" pitchFamily="34" charset="-120"/>
              </a:rPr>
              <a:t>Inadequate storage</a:t>
            </a:r>
            <a:endParaRPr lang="en-US" sz="1600" dirty="0">
              <a:solidFill>
                <a:srgbClr val="FF0000"/>
              </a:solidFill>
            </a:endParaRPr>
          </a:p>
        </p:txBody>
      </p:sp>
      <p:sp>
        <p:nvSpPr>
          <p:cNvPr id="11" name="Text 9"/>
          <p:cNvSpPr/>
          <p:nvPr/>
        </p:nvSpPr>
        <p:spPr>
          <a:xfrm>
            <a:off x="4343400" y="2770632"/>
            <a:ext cx="3154680" cy="658368"/>
          </a:xfrm>
          <a:prstGeom prst="rect">
            <a:avLst/>
          </a:prstGeom>
          <a:noFill/>
          <a:ln/>
        </p:spPr>
        <p:txBody>
          <a:bodyPr wrap="square" rtlCol="0" anchor="ctr"/>
          <a:lstStyle/>
          <a:p>
            <a:pPr marL="0" indent="0" algn="just">
              <a:lnSpc>
                <a:spcPct val="115000"/>
              </a:lnSpc>
              <a:buNone/>
            </a:pPr>
            <a:r>
              <a:rPr lang="en-US" sz="1600" b="1" dirty="0">
                <a:latin typeface="Calibri" pitchFamily="34" charset="0"/>
                <a:ea typeface="Calibri" pitchFamily="34" charset="-122"/>
                <a:cs typeface="Calibri" pitchFamily="34" charset="-120"/>
              </a:rPr>
              <a:t>Most smallholders have no access to cold storage. Tomatoes sit at open air temperatures, ripening and decaying within days of harvest.</a:t>
            </a:r>
            <a:endParaRPr lang="en-US" sz="1600" b="1" dirty="0"/>
          </a:p>
        </p:txBody>
      </p:sp>
      <p:sp>
        <p:nvSpPr>
          <p:cNvPr id="13" name="Text 11"/>
          <p:cNvSpPr/>
          <p:nvPr/>
        </p:nvSpPr>
        <p:spPr>
          <a:xfrm>
            <a:off x="8003690" y="1401186"/>
            <a:ext cx="548640" cy="457200"/>
          </a:xfrm>
          <a:prstGeom prst="rect">
            <a:avLst/>
          </a:prstGeom>
          <a:noFill/>
          <a:ln/>
        </p:spPr>
        <p:txBody>
          <a:bodyPr wrap="square" rtlCol="0" anchor="ctr"/>
          <a:lstStyle/>
          <a:p>
            <a:pPr marL="0" indent="0">
              <a:buNone/>
            </a:pPr>
            <a:r>
              <a:rPr lang="en-US" sz="3200" b="1" dirty="0">
                <a:solidFill>
                  <a:srgbClr val="2E7D32"/>
                </a:solidFill>
                <a:latin typeface="Calibri" pitchFamily="34" charset="0"/>
                <a:ea typeface="Calibri" pitchFamily="34" charset="-122"/>
                <a:cs typeface="Calibri" pitchFamily="34" charset="-120"/>
              </a:rPr>
              <a:t>3</a:t>
            </a:r>
            <a:endParaRPr lang="en-US" sz="3200" dirty="0"/>
          </a:p>
        </p:txBody>
      </p:sp>
      <p:sp>
        <p:nvSpPr>
          <p:cNvPr id="14" name="Text 12"/>
          <p:cNvSpPr/>
          <p:nvPr/>
        </p:nvSpPr>
        <p:spPr>
          <a:xfrm>
            <a:off x="8003690" y="1802850"/>
            <a:ext cx="3154680" cy="457200"/>
          </a:xfrm>
          <a:prstGeom prst="rect">
            <a:avLst/>
          </a:prstGeom>
          <a:noFill/>
          <a:ln/>
        </p:spPr>
        <p:txBody>
          <a:bodyPr wrap="square" rtlCol="0" anchor="ctr"/>
          <a:lstStyle/>
          <a:p>
            <a:pPr marL="0" indent="0" algn="ctr">
              <a:buNone/>
            </a:pPr>
            <a:r>
              <a:rPr lang="en-US" sz="1600" b="1" dirty="0">
                <a:solidFill>
                  <a:srgbClr val="FF0000"/>
                </a:solidFill>
                <a:latin typeface="Calibri" pitchFamily="34" charset="0"/>
                <a:ea typeface="Calibri" pitchFamily="34" charset="-122"/>
                <a:cs typeface="Calibri" pitchFamily="34" charset="-120"/>
              </a:rPr>
              <a:t>Poor packaging</a:t>
            </a:r>
            <a:endParaRPr lang="en-US" sz="1600" dirty="0">
              <a:solidFill>
                <a:srgbClr val="FF0000"/>
              </a:solidFill>
            </a:endParaRPr>
          </a:p>
        </p:txBody>
      </p:sp>
      <p:sp>
        <p:nvSpPr>
          <p:cNvPr id="15" name="Text 13"/>
          <p:cNvSpPr/>
          <p:nvPr/>
        </p:nvSpPr>
        <p:spPr>
          <a:xfrm>
            <a:off x="8003690" y="2784892"/>
            <a:ext cx="3154680" cy="658368"/>
          </a:xfrm>
          <a:prstGeom prst="rect">
            <a:avLst/>
          </a:prstGeom>
          <a:noFill/>
          <a:ln/>
        </p:spPr>
        <p:txBody>
          <a:bodyPr wrap="square" rtlCol="0" anchor="ctr"/>
          <a:lstStyle/>
          <a:p>
            <a:pPr marL="0" indent="0" algn="just">
              <a:lnSpc>
                <a:spcPct val="115000"/>
              </a:lnSpc>
              <a:buNone/>
            </a:pPr>
            <a:r>
              <a:rPr lang="en-US" sz="1600" b="1" dirty="0">
                <a:latin typeface="Calibri" pitchFamily="34" charset="0"/>
                <a:ea typeface="Calibri" pitchFamily="34" charset="-122"/>
                <a:cs typeface="Calibri" pitchFamily="34" charset="-120"/>
              </a:rPr>
              <a:t>Woven baskets and sacks offer little protection. The weight of the produce crushes tomatoes at the bottom, and damage spreads to healthy fruit nearby.</a:t>
            </a:r>
            <a:endParaRPr lang="en-US" sz="1600" b="1" dirty="0"/>
          </a:p>
        </p:txBody>
      </p:sp>
      <p:sp>
        <p:nvSpPr>
          <p:cNvPr id="17" name="Text 15"/>
          <p:cNvSpPr/>
          <p:nvPr/>
        </p:nvSpPr>
        <p:spPr>
          <a:xfrm>
            <a:off x="502025" y="4253570"/>
            <a:ext cx="548640" cy="457200"/>
          </a:xfrm>
          <a:prstGeom prst="rect">
            <a:avLst/>
          </a:prstGeom>
          <a:noFill/>
          <a:ln/>
        </p:spPr>
        <p:txBody>
          <a:bodyPr wrap="square" rtlCol="0" anchor="ctr"/>
          <a:lstStyle/>
          <a:p>
            <a:pPr marL="0" indent="0">
              <a:buNone/>
            </a:pPr>
            <a:r>
              <a:rPr lang="en-US" sz="3200" b="1" dirty="0">
                <a:solidFill>
                  <a:srgbClr val="2E7D32"/>
                </a:solidFill>
                <a:latin typeface="Calibri" pitchFamily="34" charset="0"/>
                <a:ea typeface="Calibri" pitchFamily="34" charset="-122"/>
                <a:cs typeface="Calibri" pitchFamily="34" charset="-120"/>
              </a:rPr>
              <a:t>4</a:t>
            </a:r>
            <a:endParaRPr lang="en-US" sz="3200" dirty="0"/>
          </a:p>
        </p:txBody>
      </p:sp>
      <p:sp>
        <p:nvSpPr>
          <p:cNvPr id="18" name="Text 16"/>
          <p:cNvSpPr/>
          <p:nvPr/>
        </p:nvSpPr>
        <p:spPr>
          <a:xfrm>
            <a:off x="370244" y="4704725"/>
            <a:ext cx="3154680" cy="457200"/>
          </a:xfrm>
          <a:prstGeom prst="rect">
            <a:avLst/>
          </a:prstGeom>
          <a:noFill/>
          <a:ln/>
        </p:spPr>
        <p:txBody>
          <a:bodyPr wrap="square" rtlCol="0" anchor="ctr"/>
          <a:lstStyle/>
          <a:p>
            <a:pPr marL="0" indent="0" algn="ctr">
              <a:buNone/>
            </a:pPr>
            <a:r>
              <a:rPr lang="en-US" sz="1600" b="1" dirty="0">
                <a:solidFill>
                  <a:srgbClr val="FF0000"/>
                </a:solidFill>
                <a:latin typeface="Calibri" pitchFamily="34" charset="0"/>
                <a:ea typeface="Calibri" pitchFamily="34" charset="-122"/>
                <a:cs typeface="Calibri" pitchFamily="34" charset="-120"/>
              </a:rPr>
              <a:t>Market glut and price crashes</a:t>
            </a:r>
            <a:endParaRPr lang="en-US" sz="1600" dirty="0">
              <a:solidFill>
                <a:srgbClr val="FF0000"/>
              </a:solidFill>
            </a:endParaRPr>
          </a:p>
        </p:txBody>
      </p:sp>
      <p:sp>
        <p:nvSpPr>
          <p:cNvPr id="19" name="Text 17"/>
          <p:cNvSpPr/>
          <p:nvPr/>
        </p:nvSpPr>
        <p:spPr>
          <a:xfrm>
            <a:off x="640080" y="5601244"/>
            <a:ext cx="3154680" cy="658368"/>
          </a:xfrm>
          <a:prstGeom prst="rect">
            <a:avLst/>
          </a:prstGeom>
          <a:noFill/>
          <a:ln/>
        </p:spPr>
        <p:txBody>
          <a:bodyPr wrap="square" rtlCol="0" anchor="ctr"/>
          <a:lstStyle/>
          <a:p>
            <a:pPr marL="0" indent="0" algn="just">
              <a:lnSpc>
                <a:spcPct val="115000"/>
              </a:lnSpc>
              <a:buNone/>
            </a:pPr>
            <a:r>
              <a:rPr lang="en-US" sz="1600" b="1" dirty="0">
                <a:latin typeface="Calibri" pitchFamily="34" charset="0"/>
                <a:ea typeface="Calibri" pitchFamily="34" charset="-122"/>
                <a:cs typeface="Calibri" pitchFamily="34" charset="-120"/>
              </a:rPr>
              <a:t>During peak harvest, supply outpaces demand, with nowhere to store the surplus, farmers are forced to sell at a loss or watch produce spoil unsold</a:t>
            </a:r>
            <a:r>
              <a:rPr lang="en-US" sz="1600" dirty="0">
                <a:latin typeface="Calibri" pitchFamily="34" charset="0"/>
                <a:ea typeface="Calibri" pitchFamily="34" charset="-122"/>
                <a:cs typeface="Calibri" pitchFamily="34" charset="-120"/>
              </a:rPr>
              <a:t>.</a:t>
            </a:r>
            <a:endParaRPr lang="en-US" sz="1600" dirty="0"/>
          </a:p>
        </p:txBody>
      </p:sp>
      <p:sp>
        <p:nvSpPr>
          <p:cNvPr id="21" name="Text 19"/>
          <p:cNvSpPr/>
          <p:nvPr/>
        </p:nvSpPr>
        <p:spPr>
          <a:xfrm>
            <a:off x="4161866" y="4241205"/>
            <a:ext cx="548640" cy="457200"/>
          </a:xfrm>
          <a:prstGeom prst="rect">
            <a:avLst/>
          </a:prstGeom>
          <a:noFill/>
          <a:ln/>
        </p:spPr>
        <p:txBody>
          <a:bodyPr wrap="square" rtlCol="0" anchor="ctr"/>
          <a:lstStyle/>
          <a:p>
            <a:pPr marL="0" indent="0">
              <a:buNone/>
            </a:pPr>
            <a:r>
              <a:rPr lang="en-US" sz="3200" b="1" dirty="0">
                <a:solidFill>
                  <a:srgbClr val="2E7D32"/>
                </a:solidFill>
                <a:latin typeface="Calibri" pitchFamily="34" charset="0"/>
                <a:ea typeface="Calibri" pitchFamily="34" charset="-122"/>
                <a:cs typeface="Calibri" pitchFamily="34" charset="-120"/>
              </a:rPr>
              <a:t>5</a:t>
            </a:r>
            <a:endParaRPr lang="en-US" sz="3200" dirty="0"/>
          </a:p>
        </p:txBody>
      </p:sp>
      <p:sp>
        <p:nvSpPr>
          <p:cNvPr id="22" name="Text 20"/>
          <p:cNvSpPr/>
          <p:nvPr/>
        </p:nvSpPr>
        <p:spPr>
          <a:xfrm>
            <a:off x="4242100" y="4704725"/>
            <a:ext cx="3154680" cy="457200"/>
          </a:xfrm>
          <a:prstGeom prst="rect">
            <a:avLst/>
          </a:prstGeom>
          <a:noFill/>
          <a:ln/>
        </p:spPr>
        <p:txBody>
          <a:bodyPr wrap="square" rtlCol="0" anchor="ctr"/>
          <a:lstStyle/>
          <a:p>
            <a:pPr marL="0" indent="0" algn="ctr">
              <a:buNone/>
            </a:pPr>
            <a:r>
              <a:rPr lang="en-US" sz="1600" b="1" dirty="0">
                <a:solidFill>
                  <a:srgbClr val="FF0000"/>
                </a:solidFill>
                <a:latin typeface="Calibri" pitchFamily="34" charset="0"/>
                <a:ea typeface="Calibri" pitchFamily="34" charset="-122"/>
                <a:cs typeface="Calibri" pitchFamily="34" charset="-120"/>
              </a:rPr>
              <a:t>Pests and disease</a:t>
            </a:r>
            <a:endParaRPr lang="en-US" sz="1600" dirty="0">
              <a:solidFill>
                <a:srgbClr val="FF0000"/>
              </a:solidFill>
            </a:endParaRPr>
          </a:p>
        </p:txBody>
      </p:sp>
      <p:sp>
        <p:nvSpPr>
          <p:cNvPr id="23" name="Text 21"/>
          <p:cNvSpPr/>
          <p:nvPr/>
        </p:nvSpPr>
        <p:spPr>
          <a:xfrm>
            <a:off x="4346090" y="5472617"/>
            <a:ext cx="3154680" cy="658368"/>
          </a:xfrm>
          <a:prstGeom prst="rect">
            <a:avLst/>
          </a:prstGeom>
          <a:noFill/>
          <a:ln/>
        </p:spPr>
        <p:txBody>
          <a:bodyPr wrap="square" rtlCol="0" anchor="ctr"/>
          <a:lstStyle/>
          <a:p>
            <a:pPr marL="0" indent="0" algn="just">
              <a:lnSpc>
                <a:spcPct val="115000"/>
              </a:lnSpc>
              <a:buNone/>
            </a:pPr>
            <a:r>
              <a:rPr lang="en-US" sz="1600" b="1" dirty="0">
                <a:latin typeface="Calibri" pitchFamily="34" charset="0"/>
                <a:ea typeface="Calibri" pitchFamily="34" charset="-122"/>
                <a:cs typeface="Calibri" pitchFamily="34" charset="-120"/>
              </a:rPr>
              <a:t>Fungal infection, bacterial rot and insect damage spread quickly wherever sanitation, harvesting and handling of product is poor.</a:t>
            </a:r>
            <a:endParaRPr lang="en-US" sz="1600" b="1" dirty="0"/>
          </a:p>
        </p:txBody>
      </p:sp>
      <p:sp>
        <p:nvSpPr>
          <p:cNvPr id="25" name="Text 23"/>
          <p:cNvSpPr/>
          <p:nvPr/>
        </p:nvSpPr>
        <p:spPr>
          <a:xfrm>
            <a:off x="7819466" y="4241205"/>
            <a:ext cx="548640" cy="457200"/>
          </a:xfrm>
          <a:prstGeom prst="rect">
            <a:avLst/>
          </a:prstGeom>
          <a:noFill/>
          <a:ln/>
        </p:spPr>
        <p:txBody>
          <a:bodyPr wrap="square" rtlCol="0" anchor="ctr"/>
          <a:lstStyle/>
          <a:p>
            <a:pPr marL="0" indent="0">
              <a:buNone/>
            </a:pPr>
            <a:r>
              <a:rPr lang="en-US" sz="3200" b="1" dirty="0">
                <a:solidFill>
                  <a:srgbClr val="2E7D32"/>
                </a:solidFill>
                <a:latin typeface="Calibri" pitchFamily="34" charset="0"/>
                <a:ea typeface="Calibri" pitchFamily="34" charset="-122"/>
                <a:cs typeface="Calibri" pitchFamily="34" charset="-120"/>
              </a:rPr>
              <a:t>6</a:t>
            </a:r>
            <a:endParaRPr lang="en-US" sz="3200" dirty="0"/>
          </a:p>
        </p:txBody>
      </p:sp>
      <p:sp>
        <p:nvSpPr>
          <p:cNvPr id="26" name="Text 24"/>
          <p:cNvSpPr/>
          <p:nvPr/>
        </p:nvSpPr>
        <p:spPr>
          <a:xfrm>
            <a:off x="7921215" y="4704725"/>
            <a:ext cx="3154680" cy="457200"/>
          </a:xfrm>
          <a:prstGeom prst="rect">
            <a:avLst/>
          </a:prstGeom>
          <a:noFill/>
          <a:ln/>
        </p:spPr>
        <p:txBody>
          <a:bodyPr wrap="square" rtlCol="0" anchor="ctr"/>
          <a:lstStyle/>
          <a:p>
            <a:pPr marL="0" indent="0" algn="ctr">
              <a:buNone/>
            </a:pPr>
            <a:r>
              <a:rPr lang="en-US" sz="1600" b="1" dirty="0">
                <a:solidFill>
                  <a:srgbClr val="FF0000"/>
                </a:solidFill>
                <a:latin typeface="Calibri" pitchFamily="34" charset="0"/>
                <a:ea typeface="Calibri" pitchFamily="34" charset="-122"/>
                <a:cs typeface="Calibri" pitchFamily="34" charset="-120"/>
              </a:rPr>
              <a:t>Weak market coordination</a:t>
            </a:r>
            <a:endParaRPr lang="en-US" sz="1600" dirty="0">
              <a:solidFill>
                <a:srgbClr val="FF0000"/>
              </a:solidFill>
            </a:endParaRPr>
          </a:p>
        </p:txBody>
      </p:sp>
      <p:sp>
        <p:nvSpPr>
          <p:cNvPr id="27" name="Text 25"/>
          <p:cNvSpPr/>
          <p:nvPr/>
        </p:nvSpPr>
        <p:spPr>
          <a:xfrm>
            <a:off x="8093786" y="5472617"/>
            <a:ext cx="3154680" cy="658368"/>
          </a:xfrm>
          <a:prstGeom prst="rect">
            <a:avLst/>
          </a:prstGeom>
          <a:noFill/>
          <a:ln/>
        </p:spPr>
        <p:txBody>
          <a:bodyPr wrap="square" rtlCol="0" anchor="ctr"/>
          <a:lstStyle/>
          <a:p>
            <a:pPr marL="0" indent="0" algn="just">
              <a:lnSpc>
                <a:spcPct val="115000"/>
              </a:lnSpc>
              <a:buNone/>
            </a:pPr>
            <a:r>
              <a:rPr lang="en-US" sz="1600" b="1" dirty="0">
                <a:latin typeface="Calibri" pitchFamily="34" charset="0"/>
                <a:ea typeface="Calibri" pitchFamily="34" charset="-122"/>
                <a:cs typeface="Calibri" pitchFamily="34" charset="-120"/>
              </a:rPr>
              <a:t>Farmers in remote areas struggle to find buyers quickly. The longer produce sits unsold, the more of it spoils.</a:t>
            </a:r>
            <a:endParaRPr lang="en-US" sz="1600" b="1" dirty="0"/>
          </a:p>
        </p:txBody>
      </p:sp>
      <p:sp>
        <p:nvSpPr>
          <p:cNvPr id="28" name="Text 26"/>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5E20"/>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A8D5AA"/>
                </a:solidFill>
                <a:latin typeface="Calibri" pitchFamily="34" charset="0"/>
                <a:ea typeface="Calibri" pitchFamily="34" charset="-122"/>
                <a:cs typeface="Calibri" pitchFamily="34" charset="-120"/>
              </a:rPr>
              <a:t>OUR OWN PILOT DATA</a:t>
            </a:r>
            <a:endParaRPr lang="en-US" sz="3200" dirty="0"/>
          </a:p>
        </p:txBody>
      </p:sp>
      <p:sp>
        <p:nvSpPr>
          <p:cNvPr id="3" name="Text 1"/>
          <p:cNvSpPr/>
          <p:nvPr/>
        </p:nvSpPr>
        <p:spPr>
          <a:xfrm>
            <a:off x="640080" y="548641"/>
            <a:ext cx="10881360" cy="9601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numbers behind TomaLink's pilot confirm the scale of the problem</a:t>
            </a:r>
            <a:endParaRPr lang="en-US" sz="2000" dirty="0"/>
          </a:p>
        </p:txBody>
      </p:sp>
      <p:sp>
        <p:nvSpPr>
          <p:cNvPr id="4" name="Shape 2"/>
          <p:cNvSpPr/>
          <p:nvPr/>
        </p:nvSpPr>
        <p:spPr>
          <a:xfrm>
            <a:off x="640080" y="2057400"/>
            <a:ext cx="2048256" cy="2651760"/>
          </a:xfrm>
          <a:prstGeom prst="roundRect">
            <a:avLst>
              <a:gd name="adj" fmla="val 2679"/>
            </a:avLst>
          </a:prstGeom>
          <a:solidFill>
            <a:srgbClr val="1F6B23"/>
          </a:solidFill>
          <a:ln/>
        </p:spPr>
      </p:sp>
      <p:sp>
        <p:nvSpPr>
          <p:cNvPr id="5" name="Text 3"/>
          <p:cNvSpPr/>
          <p:nvPr/>
        </p:nvSpPr>
        <p:spPr>
          <a:xfrm>
            <a:off x="749808" y="2331720"/>
            <a:ext cx="1828800" cy="822960"/>
          </a:xfrm>
          <a:prstGeom prst="rect">
            <a:avLst/>
          </a:prstGeom>
          <a:noFill/>
          <a:ln/>
        </p:spPr>
        <p:txBody>
          <a:bodyPr wrap="square"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15.75M kg</a:t>
            </a:r>
            <a:endParaRPr lang="en-US" sz="2200" dirty="0">
              <a:solidFill>
                <a:schemeClr val="bg1"/>
              </a:solidFill>
            </a:endParaRPr>
          </a:p>
        </p:txBody>
      </p:sp>
      <p:sp>
        <p:nvSpPr>
          <p:cNvPr id="6" name="Text 4"/>
          <p:cNvSpPr/>
          <p:nvPr/>
        </p:nvSpPr>
        <p:spPr>
          <a:xfrm>
            <a:off x="777240" y="3246120"/>
            <a:ext cx="1773936" cy="1280160"/>
          </a:xfrm>
          <a:prstGeom prst="rect">
            <a:avLst/>
          </a:prstGeom>
          <a:noFill/>
          <a:ln/>
        </p:spPr>
        <p:txBody>
          <a:bodyPr wrap="square" rtlCol="0" anchor="ctr"/>
          <a:lstStyle/>
          <a:p>
            <a:pPr marL="0" indent="0" algn="ctr">
              <a:lnSpc>
                <a:spcPct val="120000"/>
              </a:lnSpc>
              <a:buNone/>
            </a:pPr>
            <a:r>
              <a:rPr lang="en-US" sz="2000" b="1" dirty="0">
                <a:solidFill>
                  <a:schemeClr val="bg1"/>
                </a:solidFill>
                <a:latin typeface="Calibri" pitchFamily="34" charset="0"/>
                <a:ea typeface="Calibri" pitchFamily="34" charset="-122"/>
                <a:cs typeface="Calibri" pitchFamily="34" charset="-120"/>
              </a:rPr>
              <a:t>Total tomatoes harvested across our pilot sample</a:t>
            </a:r>
            <a:endParaRPr lang="en-US" sz="2000" b="1" dirty="0">
              <a:solidFill>
                <a:schemeClr val="bg1"/>
              </a:solidFill>
            </a:endParaRPr>
          </a:p>
        </p:txBody>
      </p:sp>
      <p:sp>
        <p:nvSpPr>
          <p:cNvPr id="7" name="Shape 5"/>
          <p:cNvSpPr/>
          <p:nvPr/>
        </p:nvSpPr>
        <p:spPr>
          <a:xfrm>
            <a:off x="2798064" y="2057400"/>
            <a:ext cx="2048256" cy="2651760"/>
          </a:xfrm>
          <a:prstGeom prst="roundRect">
            <a:avLst>
              <a:gd name="adj" fmla="val 2679"/>
            </a:avLst>
          </a:prstGeom>
          <a:solidFill>
            <a:srgbClr val="1F6B23"/>
          </a:solidFill>
          <a:ln/>
        </p:spPr>
      </p:sp>
      <p:sp>
        <p:nvSpPr>
          <p:cNvPr id="8" name="Text 6"/>
          <p:cNvSpPr/>
          <p:nvPr/>
        </p:nvSpPr>
        <p:spPr>
          <a:xfrm>
            <a:off x="2907792" y="2331720"/>
            <a:ext cx="1828800" cy="822960"/>
          </a:xfrm>
          <a:prstGeom prst="rect">
            <a:avLst/>
          </a:prstGeom>
          <a:noFill/>
          <a:ln/>
        </p:spPr>
        <p:txBody>
          <a:bodyPr wrap="square"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4M kg</a:t>
            </a:r>
            <a:endParaRPr lang="en-US" sz="2200" dirty="0">
              <a:solidFill>
                <a:schemeClr val="bg1"/>
              </a:solidFill>
            </a:endParaRPr>
          </a:p>
        </p:txBody>
      </p:sp>
      <p:sp>
        <p:nvSpPr>
          <p:cNvPr id="9" name="Text 7"/>
          <p:cNvSpPr/>
          <p:nvPr/>
        </p:nvSpPr>
        <p:spPr>
          <a:xfrm>
            <a:off x="2935224" y="3246120"/>
            <a:ext cx="1773936" cy="1280160"/>
          </a:xfrm>
          <a:prstGeom prst="rect">
            <a:avLst/>
          </a:prstGeom>
          <a:noFill/>
          <a:ln/>
        </p:spPr>
        <p:txBody>
          <a:bodyPr wrap="square" rtlCol="0" anchor="ctr"/>
          <a:lstStyle/>
          <a:p>
            <a:pPr marL="0" indent="0" algn="ctr">
              <a:lnSpc>
                <a:spcPct val="120000"/>
              </a:lnSpc>
              <a:buNone/>
            </a:pPr>
            <a:r>
              <a:rPr lang="en-US" sz="2000" b="1" dirty="0">
                <a:solidFill>
                  <a:schemeClr val="bg1"/>
                </a:solidFill>
                <a:latin typeface="Calibri" pitchFamily="34" charset="0"/>
                <a:ea typeface="Calibri" pitchFamily="34" charset="-122"/>
                <a:cs typeface="Calibri" pitchFamily="34" charset="-120"/>
              </a:rPr>
              <a:t>Total quantity lost before reaching a buyer</a:t>
            </a:r>
            <a:endParaRPr lang="en-US" sz="2000" b="1" dirty="0">
              <a:solidFill>
                <a:schemeClr val="bg1"/>
              </a:solidFill>
            </a:endParaRPr>
          </a:p>
        </p:txBody>
      </p:sp>
      <p:sp>
        <p:nvSpPr>
          <p:cNvPr id="10" name="Shape 8"/>
          <p:cNvSpPr/>
          <p:nvPr/>
        </p:nvSpPr>
        <p:spPr>
          <a:xfrm>
            <a:off x="4956048" y="2057400"/>
            <a:ext cx="2048256" cy="2651760"/>
          </a:xfrm>
          <a:prstGeom prst="roundRect">
            <a:avLst>
              <a:gd name="adj" fmla="val 2679"/>
            </a:avLst>
          </a:prstGeom>
          <a:solidFill>
            <a:srgbClr val="1F6B23"/>
          </a:solidFill>
          <a:ln/>
        </p:spPr>
      </p:sp>
      <p:sp>
        <p:nvSpPr>
          <p:cNvPr id="11" name="Text 9"/>
          <p:cNvSpPr/>
          <p:nvPr/>
        </p:nvSpPr>
        <p:spPr>
          <a:xfrm>
            <a:off x="5065776" y="2331720"/>
            <a:ext cx="1828800" cy="822960"/>
          </a:xfrm>
          <a:prstGeom prst="rect">
            <a:avLst/>
          </a:prstGeom>
          <a:noFill/>
          <a:ln/>
        </p:spPr>
        <p:txBody>
          <a:bodyPr wrap="square"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22.62%</a:t>
            </a:r>
            <a:endParaRPr lang="en-US" sz="2200" dirty="0">
              <a:solidFill>
                <a:schemeClr val="bg1"/>
              </a:solidFill>
            </a:endParaRPr>
          </a:p>
        </p:txBody>
      </p:sp>
      <p:sp>
        <p:nvSpPr>
          <p:cNvPr id="12" name="Text 10"/>
          <p:cNvSpPr/>
          <p:nvPr/>
        </p:nvSpPr>
        <p:spPr>
          <a:xfrm>
            <a:off x="5093208" y="3246120"/>
            <a:ext cx="1773936" cy="1280160"/>
          </a:xfrm>
          <a:prstGeom prst="rect">
            <a:avLst/>
          </a:prstGeom>
          <a:noFill/>
          <a:ln/>
        </p:spPr>
        <p:txBody>
          <a:bodyPr wrap="square" rtlCol="0" anchor="ctr"/>
          <a:lstStyle/>
          <a:p>
            <a:pPr marL="0" indent="0" algn="ctr">
              <a:lnSpc>
                <a:spcPct val="120000"/>
              </a:lnSpc>
              <a:buNone/>
            </a:pPr>
            <a:r>
              <a:rPr lang="en-US" sz="2000" b="1" dirty="0">
                <a:solidFill>
                  <a:schemeClr val="bg1"/>
                </a:solidFill>
                <a:latin typeface="Calibri" pitchFamily="34" charset="0"/>
                <a:ea typeface="Calibri" pitchFamily="34" charset="-122"/>
                <a:cs typeface="Calibri" pitchFamily="34" charset="-120"/>
              </a:rPr>
              <a:t>Weighted post harvest loss rate across the pilot</a:t>
            </a:r>
            <a:endParaRPr lang="en-US" sz="2000" b="1" dirty="0">
              <a:solidFill>
                <a:schemeClr val="bg1"/>
              </a:solidFill>
            </a:endParaRPr>
          </a:p>
        </p:txBody>
      </p:sp>
      <p:sp>
        <p:nvSpPr>
          <p:cNvPr id="13" name="Shape 11"/>
          <p:cNvSpPr/>
          <p:nvPr/>
        </p:nvSpPr>
        <p:spPr>
          <a:xfrm>
            <a:off x="7114032" y="2057400"/>
            <a:ext cx="2048256" cy="2651760"/>
          </a:xfrm>
          <a:prstGeom prst="roundRect">
            <a:avLst>
              <a:gd name="adj" fmla="val 2679"/>
            </a:avLst>
          </a:prstGeom>
          <a:solidFill>
            <a:srgbClr val="1F6B23"/>
          </a:solidFill>
          <a:ln/>
        </p:spPr>
      </p:sp>
      <p:sp>
        <p:nvSpPr>
          <p:cNvPr id="14" name="Text 12"/>
          <p:cNvSpPr/>
          <p:nvPr/>
        </p:nvSpPr>
        <p:spPr>
          <a:xfrm>
            <a:off x="7223760" y="2331720"/>
            <a:ext cx="1828800" cy="822960"/>
          </a:xfrm>
          <a:prstGeom prst="rect">
            <a:avLst/>
          </a:prstGeom>
          <a:noFill/>
          <a:ln/>
        </p:spPr>
        <p:txBody>
          <a:bodyPr wrap="square"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₦10.08bn</a:t>
            </a:r>
            <a:endParaRPr lang="en-US" sz="2200" dirty="0">
              <a:solidFill>
                <a:schemeClr val="bg1"/>
              </a:solidFill>
            </a:endParaRPr>
          </a:p>
        </p:txBody>
      </p:sp>
      <p:sp>
        <p:nvSpPr>
          <p:cNvPr id="15" name="Text 13"/>
          <p:cNvSpPr/>
          <p:nvPr/>
        </p:nvSpPr>
        <p:spPr>
          <a:xfrm>
            <a:off x="7251192" y="3246120"/>
            <a:ext cx="1773936" cy="1280160"/>
          </a:xfrm>
          <a:prstGeom prst="rect">
            <a:avLst/>
          </a:prstGeom>
          <a:noFill/>
          <a:ln/>
        </p:spPr>
        <p:txBody>
          <a:bodyPr wrap="square" rtlCol="0" anchor="ctr"/>
          <a:lstStyle/>
          <a:p>
            <a:pPr marL="0" indent="0" algn="ctr">
              <a:lnSpc>
                <a:spcPct val="120000"/>
              </a:lnSpc>
              <a:buNone/>
            </a:pPr>
            <a:r>
              <a:rPr lang="en-US" sz="2000" b="1" dirty="0">
                <a:solidFill>
                  <a:schemeClr val="bg1"/>
                </a:solidFill>
                <a:latin typeface="Calibri" pitchFamily="34" charset="0"/>
                <a:ea typeface="Calibri" pitchFamily="34" charset="-122"/>
                <a:cs typeface="Calibri" pitchFamily="34" charset="-120"/>
              </a:rPr>
              <a:t>Total revenue generated from what was actually sold</a:t>
            </a:r>
            <a:endParaRPr lang="en-US" sz="2000" b="1" dirty="0">
              <a:solidFill>
                <a:schemeClr val="bg1"/>
              </a:solidFill>
            </a:endParaRPr>
          </a:p>
        </p:txBody>
      </p:sp>
      <p:sp>
        <p:nvSpPr>
          <p:cNvPr id="16" name="Shape 14"/>
          <p:cNvSpPr/>
          <p:nvPr/>
        </p:nvSpPr>
        <p:spPr>
          <a:xfrm>
            <a:off x="9272016" y="2057400"/>
            <a:ext cx="2048256" cy="2651760"/>
          </a:xfrm>
          <a:prstGeom prst="roundRect">
            <a:avLst>
              <a:gd name="adj" fmla="val 2679"/>
            </a:avLst>
          </a:prstGeom>
          <a:solidFill>
            <a:srgbClr val="1F6B23"/>
          </a:solidFill>
          <a:ln/>
        </p:spPr>
      </p:sp>
      <p:sp>
        <p:nvSpPr>
          <p:cNvPr id="17" name="Text 15"/>
          <p:cNvSpPr/>
          <p:nvPr/>
        </p:nvSpPr>
        <p:spPr>
          <a:xfrm>
            <a:off x="9381744" y="2331720"/>
            <a:ext cx="1828800" cy="822960"/>
          </a:xfrm>
          <a:prstGeom prst="rect">
            <a:avLst/>
          </a:prstGeom>
          <a:noFill/>
          <a:ln/>
        </p:spPr>
        <p:txBody>
          <a:bodyPr wrap="square" rtlCol="0" anchor="ctr"/>
          <a:lstStyle/>
          <a:p>
            <a:pPr marL="0" indent="0" algn="ctr">
              <a:buNone/>
            </a:pPr>
            <a:r>
              <a:rPr lang="en-US" sz="2200" b="1" dirty="0">
                <a:solidFill>
                  <a:schemeClr val="bg1"/>
                </a:solidFill>
                <a:latin typeface="Calibri" pitchFamily="34" charset="0"/>
                <a:ea typeface="Calibri" pitchFamily="34" charset="-122"/>
                <a:cs typeface="Calibri" pitchFamily="34" charset="-120"/>
              </a:rPr>
              <a:t>₦5.90bn</a:t>
            </a:r>
            <a:endParaRPr lang="en-US" sz="2200" dirty="0">
              <a:solidFill>
                <a:schemeClr val="bg1"/>
              </a:solidFill>
            </a:endParaRPr>
          </a:p>
        </p:txBody>
      </p:sp>
      <p:sp>
        <p:nvSpPr>
          <p:cNvPr id="18" name="Text 16"/>
          <p:cNvSpPr/>
          <p:nvPr/>
        </p:nvSpPr>
        <p:spPr>
          <a:xfrm>
            <a:off x="9409176" y="3246120"/>
            <a:ext cx="1773936" cy="1280160"/>
          </a:xfrm>
          <a:prstGeom prst="rect">
            <a:avLst/>
          </a:prstGeom>
          <a:noFill/>
          <a:ln/>
        </p:spPr>
        <p:txBody>
          <a:bodyPr wrap="square" rtlCol="0" anchor="ctr"/>
          <a:lstStyle/>
          <a:p>
            <a:pPr marL="0" indent="0" algn="ctr">
              <a:lnSpc>
                <a:spcPct val="120000"/>
              </a:lnSpc>
              <a:buNone/>
            </a:pPr>
            <a:r>
              <a:rPr lang="en-US" sz="2000" b="1" dirty="0">
                <a:solidFill>
                  <a:schemeClr val="bg1"/>
                </a:solidFill>
                <a:latin typeface="Calibri" pitchFamily="34" charset="0"/>
                <a:ea typeface="Calibri" pitchFamily="34" charset="-122"/>
                <a:cs typeface="Calibri" pitchFamily="34" charset="-120"/>
              </a:rPr>
              <a:t>Total profit realised across all pilot farmers</a:t>
            </a:r>
            <a:endParaRPr lang="en-US" sz="2000" b="1" dirty="0">
              <a:solidFill>
                <a:schemeClr val="bg1"/>
              </a:solidFill>
            </a:endParaRPr>
          </a:p>
        </p:txBody>
      </p:sp>
      <p:sp>
        <p:nvSpPr>
          <p:cNvPr id="19" name="Text 17"/>
          <p:cNvSpPr/>
          <p:nvPr/>
        </p:nvSpPr>
        <p:spPr>
          <a:xfrm>
            <a:off x="640080" y="5029200"/>
            <a:ext cx="10881360" cy="640080"/>
          </a:xfrm>
          <a:prstGeom prst="rect">
            <a:avLst/>
          </a:prstGeom>
          <a:noFill/>
          <a:ln/>
        </p:spPr>
        <p:txBody>
          <a:bodyPr wrap="square" rtlCol="0" anchor="ctr"/>
          <a:lstStyle/>
          <a:p>
            <a:pPr marL="0" indent="0">
              <a:lnSpc>
                <a:spcPct val="130000"/>
              </a:lnSpc>
              <a:buNone/>
            </a:pPr>
            <a:r>
              <a:rPr lang="en-US" sz="1600" i="1" dirty="0">
                <a:solidFill>
                  <a:srgbClr val="D4EDD5"/>
                </a:solidFill>
                <a:latin typeface="Calibri" pitchFamily="34" charset="0"/>
                <a:ea typeface="Calibri" pitchFamily="34" charset="-122"/>
                <a:cs typeface="Calibri" pitchFamily="34" charset="-120"/>
              </a:rPr>
              <a:t>These figures come directly from TomaLink's own pilot loss and impact dashboard, built on real farm level records across five tomato producing states.</a:t>
            </a:r>
            <a:endParaRPr lang="en-US" sz="1600" dirty="0"/>
          </a:p>
        </p:txBody>
      </p:sp>
      <p:sp>
        <p:nvSpPr>
          <p:cNvPr id="20" name="Text 18"/>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8FBC8F"/>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WHAT OUR DATA SHOWS</a:t>
            </a:r>
            <a:endParaRPr lang="en-US" sz="3200" dirty="0"/>
          </a:p>
        </p:txBody>
      </p:sp>
      <p:sp>
        <p:nvSpPr>
          <p:cNvPr id="3" name="Text 1"/>
          <p:cNvSpPr/>
          <p:nvPr/>
        </p:nvSpPr>
        <p:spPr>
          <a:xfrm>
            <a:off x="640080" y="548641"/>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Storage method is the single biggest lever we can pull</a:t>
            </a:r>
            <a:endParaRPr lang="en-US" sz="2000" dirty="0"/>
          </a:p>
        </p:txBody>
      </p:sp>
      <p:graphicFrame>
        <p:nvGraphicFramePr>
          <p:cNvPr id="4" name="Chart 0"/>
          <p:cNvGraphicFramePr/>
          <p:nvPr/>
        </p:nvGraphicFramePr>
        <p:xfrm>
          <a:off x="640080" y="1783080"/>
          <a:ext cx="64922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783080"/>
            <a:ext cx="0" cy="4206240"/>
          </a:xfrm>
          <a:prstGeom prst="line">
            <a:avLst/>
          </a:prstGeom>
          <a:noFill/>
          <a:ln w="12700">
            <a:solidFill>
              <a:srgbClr val="E0E0E0"/>
            </a:solidFill>
            <a:prstDash val="solid"/>
          </a:ln>
        </p:spPr>
      </p:sp>
      <p:sp>
        <p:nvSpPr>
          <p:cNvPr id="6" name="Text 3"/>
          <p:cNvSpPr/>
          <p:nvPr/>
        </p:nvSpPr>
        <p:spPr>
          <a:xfrm>
            <a:off x="7772400" y="1783080"/>
            <a:ext cx="3749040" cy="822960"/>
          </a:xfrm>
          <a:prstGeom prst="rect">
            <a:avLst/>
          </a:prstGeom>
          <a:noFill/>
          <a:ln/>
        </p:spPr>
        <p:txBody>
          <a:bodyPr wrap="square" rtlCol="0" anchor="ctr"/>
          <a:lstStyle/>
          <a:p>
            <a:pPr marL="0" indent="0">
              <a:lnSpc>
                <a:spcPct val="125000"/>
              </a:lnSpc>
              <a:buNone/>
            </a:pPr>
            <a:r>
              <a:rPr lang="en-US" sz="1500" b="1" dirty="0">
                <a:solidFill>
                  <a:srgbClr val="1C1C1C"/>
                </a:solidFill>
                <a:latin typeface="Calibri" pitchFamily="34" charset="0"/>
                <a:ea typeface="Calibri" pitchFamily="34" charset="-122"/>
                <a:cs typeface="Calibri" pitchFamily="34" charset="-120"/>
              </a:rPr>
              <a:t>Open air storage loses nearly double the produce that a cold room does.</a:t>
            </a:r>
            <a:endParaRPr lang="en-US" sz="1500" dirty="0"/>
          </a:p>
        </p:txBody>
      </p:sp>
      <p:sp>
        <p:nvSpPr>
          <p:cNvPr id="7" name="Text 4"/>
          <p:cNvSpPr/>
          <p:nvPr/>
        </p:nvSpPr>
        <p:spPr>
          <a:xfrm>
            <a:off x="7802880" y="3108960"/>
            <a:ext cx="3749040" cy="1554480"/>
          </a:xfrm>
          <a:prstGeom prst="rect">
            <a:avLst/>
          </a:prstGeom>
          <a:noFill/>
          <a:ln/>
        </p:spPr>
        <p:txBody>
          <a:bodyPr wrap="square" rtlCol="0" anchor="ctr"/>
          <a:lstStyle/>
          <a:p>
            <a:pPr marL="0" indent="0">
              <a:lnSpc>
                <a:spcPct val="130000"/>
              </a:lnSpc>
              <a:buNone/>
            </a:pPr>
            <a:r>
              <a:rPr lang="en-US" dirty="0">
                <a:solidFill>
                  <a:srgbClr val="5F6368"/>
                </a:solidFill>
                <a:latin typeface="Calibri" pitchFamily="34" charset="0"/>
                <a:ea typeface="Calibri" pitchFamily="34" charset="-122"/>
                <a:cs typeface="Calibri" pitchFamily="34" charset="-120"/>
              </a:rPr>
              <a:t>Every step-up in storage quality buys back real, sellable produce, Moving farmers from open air to even basic warehousing already cuts loss by roughly a third. Cold rooms nearly halve it again.</a:t>
            </a:r>
            <a:endParaRPr lang="en-US" dirty="0"/>
          </a:p>
        </p:txBody>
      </p:sp>
      <p:sp>
        <p:nvSpPr>
          <p:cNvPr id="8" name="Text 5"/>
          <p:cNvSpPr/>
          <p:nvPr/>
        </p:nvSpPr>
        <p:spPr>
          <a:xfrm>
            <a:off x="7802880" y="5074920"/>
            <a:ext cx="3749040" cy="1280160"/>
          </a:xfrm>
          <a:prstGeom prst="rect">
            <a:avLst/>
          </a:prstGeom>
          <a:noFill/>
          <a:ln/>
        </p:spPr>
        <p:txBody>
          <a:bodyPr wrap="square" rtlCol="0" anchor="ctr"/>
          <a:lstStyle/>
          <a:p>
            <a:pPr marL="0" indent="0">
              <a:lnSpc>
                <a:spcPct val="130000"/>
              </a:lnSpc>
              <a:buNone/>
            </a:pPr>
            <a:r>
              <a:rPr lang="en-US" sz="1600" i="1" dirty="0">
                <a:solidFill>
                  <a:srgbClr val="2E7D32"/>
                </a:solidFill>
                <a:latin typeface="Calibri" pitchFamily="34" charset="0"/>
                <a:ea typeface="Calibri" pitchFamily="34" charset="-122"/>
                <a:cs typeface="Calibri" pitchFamily="34" charset="-120"/>
              </a:rPr>
              <a:t>This is exactly why cold storage and warehouse booking sit at the core of what TomaLink offers, not as an add on feature.</a:t>
            </a:r>
            <a:endParaRPr lang="en-US" sz="1600" dirty="0"/>
          </a:p>
        </p:txBody>
      </p:sp>
      <p:sp>
        <p:nvSpPr>
          <p:cNvPr id="9" name="Text 6"/>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2.0 WHAT OUR DATA SHOWS</a:t>
            </a:r>
            <a:endParaRPr lang="en-US" sz="3200" dirty="0"/>
          </a:p>
        </p:txBody>
      </p:sp>
      <p:sp>
        <p:nvSpPr>
          <p:cNvPr id="3" name="Text 1"/>
          <p:cNvSpPr/>
          <p:nvPr/>
        </p:nvSpPr>
        <p:spPr>
          <a:xfrm>
            <a:off x="640080" y="562088"/>
            <a:ext cx="10881360" cy="960120"/>
          </a:xfrm>
          <a:prstGeom prst="rect">
            <a:avLst/>
          </a:prstGeom>
          <a:noFill/>
          <a:ln/>
        </p:spPr>
        <p:txBody>
          <a:bodyPr wrap="square"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How the loss is spread almost evenly across five causes</a:t>
            </a:r>
            <a:endParaRPr lang="en-US" sz="2800" dirty="0"/>
          </a:p>
        </p:txBody>
      </p:sp>
      <p:graphicFrame>
        <p:nvGraphicFramePr>
          <p:cNvPr id="4" name="Chart 0"/>
          <p:cNvGraphicFramePr/>
          <p:nvPr>
            <p:extLst>
              <p:ext uri="{D42A27DB-BD31-4B8C-83A1-F6EECF244321}">
                <p14:modId xmlns:p14="http://schemas.microsoft.com/office/powerpoint/2010/main" val="621962331"/>
              </p:ext>
            </p:extLst>
          </p:nvPr>
        </p:nvGraphicFramePr>
        <p:xfrm>
          <a:off x="365760" y="1737360"/>
          <a:ext cx="60350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720840" y="1783080"/>
            <a:ext cx="0" cy="4617720"/>
          </a:xfrm>
          <a:prstGeom prst="line">
            <a:avLst/>
          </a:prstGeom>
          <a:noFill/>
          <a:ln w="76200">
            <a:solidFill>
              <a:srgbClr val="B71C1C"/>
            </a:solidFill>
            <a:prstDash val="solid"/>
          </a:ln>
        </p:spPr>
      </p:sp>
      <p:sp>
        <p:nvSpPr>
          <p:cNvPr id="6" name="Text 3"/>
          <p:cNvSpPr/>
          <p:nvPr/>
        </p:nvSpPr>
        <p:spPr>
          <a:xfrm>
            <a:off x="7040880" y="1662057"/>
            <a:ext cx="4572000" cy="1188720"/>
          </a:xfrm>
          <a:prstGeom prst="rect">
            <a:avLst/>
          </a:prstGeom>
          <a:noFill/>
          <a:ln/>
        </p:spPr>
        <p:txBody>
          <a:bodyPr wrap="square" rtlCol="0" anchor="ctr"/>
          <a:lstStyle/>
          <a:p>
            <a:pPr marL="0" indent="0">
              <a:lnSpc>
                <a:spcPct val="130000"/>
              </a:lnSpc>
              <a:buNone/>
            </a:pPr>
            <a:r>
              <a:rPr lang="en-US" sz="1400" b="1" dirty="0">
                <a:solidFill>
                  <a:srgbClr val="1C1C1C"/>
                </a:solidFill>
                <a:latin typeface="Calibri" pitchFamily="34" charset="0"/>
                <a:ea typeface="Calibri" pitchFamily="34" charset="-122"/>
                <a:cs typeface="Calibri" pitchFamily="34" charset="-120"/>
              </a:rPr>
              <a:t>Mechanical damage and delay top the list, at roughly 20.8% and 20.7% of losses, but pests, packaging and heat all sit close behind.</a:t>
            </a:r>
            <a:endParaRPr lang="en-US" sz="1400" dirty="0"/>
          </a:p>
        </p:txBody>
      </p:sp>
      <p:sp>
        <p:nvSpPr>
          <p:cNvPr id="7" name="Text 4"/>
          <p:cNvSpPr/>
          <p:nvPr/>
        </p:nvSpPr>
        <p:spPr>
          <a:xfrm>
            <a:off x="7040880" y="3063240"/>
            <a:ext cx="4572000" cy="1828800"/>
          </a:xfrm>
          <a:prstGeom prst="rect">
            <a:avLst/>
          </a:prstGeom>
          <a:noFill/>
          <a:ln/>
        </p:spPr>
        <p:txBody>
          <a:bodyPr wrap="square" rtlCol="0" anchor="ctr"/>
          <a:lstStyle/>
          <a:p>
            <a:pPr marL="0" indent="0">
              <a:lnSpc>
                <a:spcPct val="130000"/>
              </a:lnSpc>
              <a:buNone/>
            </a:pPr>
            <a:r>
              <a:rPr lang="en-US" dirty="0">
                <a:latin typeface="Times New Roman" panose="02020603050405020304" pitchFamily="18" charset="0"/>
                <a:ea typeface="Calibri" pitchFamily="34" charset="-122"/>
                <a:cs typeface="Times New Roman" panose="02020603050405020304" pitchFamily="18" charset="0"/>
              </a:rPr>
              <a:t>This spread matters strategically. A platform that only fixes one weak point, only storage, or only transport, would still leave most of the loss untouched. Real impact requires addressing handling, timing, packaging and storage together, in one coordinated flow.</a:t>
            </a:r>
            <a:endParaRPr lang="en-US" dirty="0">
              <a:latin typeface="Times New Roman" panose="02020603050405020304" pitchFamily="18" charset="0"/>
              <a:cs typeface="Times New Roman" panose="02020603050405020304" pitchFamily="18" charset="0"/>
            </a:endParaRPr>
          </a:p>
        </p:txBody>
      </p:sp>
      <p:sp>
        <p:nvSpPr>
          <p:cNvPr id="8" name="Text 5"/>
          <p:cNvSpPr/>
          <p:nvPr/>
        </p:nvSpPr>
        <p:spPr>
          <a:xfrm>
            <a:off x="7040880" y="5303520"/>
            <a:ext cx="4572000" cy="914400"/>
          </a:xfrm>
          <a:prstGeom prst="rect">
            <a:avLst/>
          </a:prstGeom>
          <a:noFill/>
          <a:ln/>
        </p:spPr>
        <p:txBody>
          <a:bodyPr wrap="square" rtlCol="0" anchor="ctr"/>
          <a:lstStyle/>
          <a:p>
            <a:pPr marL="0" indent="0">
              <a:lnSpc>
                <a:spcPct val="130000"/>
              </a:lnSpc>
              <a:buNone/>
            </a:pPr>
            <a:r>
              <a:rPr lang="en-US" sz="1600" b="1" i="1" dirty="0">
                <a:solidFill>
                  <a:schemeClr val="accent6">
                    <a:lumMod val="50000"/>
                  </a:schemeClr>
                </a:solidFill>
                <a:ea typeface="Calibri" pitchFamily="34" charset="-122"/>
                <a:cs typeface="Calibri" pitchFamily="34" charset="-120"/>
              </a:rPr>
              <a:t>This is the core argument for an integrated platform rather than a single point solution.</a:t>
            </a:r>
            <a:endParaRPr lang="en-US" sz="1600" b="1" dirty="0">
              <a:solidFill>
                <a:schemeClr val="accent6">
                  <a:lumMod val="50000"/>
                </a:schemeClr>
              </a:solidFill>
            </a:endParaRPr>
          </a:p>
        </p:txBody>
      </p:sp>
      <p:sp>
        <p:nvSpPr>
          <p:cNvPr id="9" name="Text 6"/>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WHY THIS MATTERS</a:t>
            </a:r>
            <a:endParaRPr lang="en-US" sz="3200" dirty="0"/>
          </a:p>
        </p:txBody>
      </p:sp>
      <p:sp>
        <p:nvSpPr>
          <p:cNvPr id="3" name="Text 1"/>
          <p:cNvSpPr/>
          <p:nvPr/>
        </p:nvSpPr>
        <p:spPr>
          <a:xfrm>
            <a:off x="640080" y="521747"/>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Post harvest loss does not stay on the farm, it moves down the whole chain</a:t>
            </a:r>
            <a:endParaRPr lang="en-US" sz="2000" dirty="0"/>
          </a:p>
        </p:txBody>
      </p:sp>
      <p:sp>
        <p:nvSpPr>
          <p:cNvPr id="4" name="Text 2"/>
          <p:cNvSpPr/>
          <p:nvPr/>
        </p:nvSpPr>
        <p:spPr>
          <a:xfrm>
            <a:off x="640080" y="1874520"/>
            <a:ext cx="5212080" cy="36576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National Economy</a:t>
            </a:r>
            <a:endParaRPr lang="en-US" sz="2400" dirty="0"/>
          </a:p>
        </p:txBody>
      </p:sp>
      <p:sp>
        <p:nvSpPr>
          <p:cNvPr id="5" name="Text 3"/>
          <p:cNvSpPr/>
          <p:nvPr/>
        </p:nvSpPr>
        <p:spPr>
          <a:xfrm>
            <a:off x="640080" y="2258568"/>
            <a:ext cx="5212080" cy="1490472"/>
          </a:xfrm>
          <a:prstGeom prst="rect">
            <a:avLst/>
          </a:prstGeom>
          <a:noFill/>
          <a:ln/>
        </p:spPr>
        <p:txBody>
          <a:bodyPr wrap="square" rtlCol="0" anchor="ctr"/>
          <a:lstStyle/>
          <a:p>
            <a:pPr marL="0" indent="0">
              <a:lnSpc>
                <a:spcPct val="130000"/>
              </a:lnSpc>
              <a:buNone/>
            </a:pPr>
            <a:r>
              <a:rPr lang="en-US" dirty="0">
                <a:solidFill>
                  <a:srgbClr val="1C1C1C"/>
                </a:solidFill>
                <a:latin typeface="Calibri" pitchFamily="34" charset="0"/>
                <a:ea typeface="Calibri" pitchFamily="34" charset="-122"/>
                <a:cs typeface="Calibri" pitchFamily="34" charset="-120"/>
              </a:rPr>
              <a:t>Nigeria loses hundreds of billions of naira annually to tomato spoilage, weakening agriculture's contribution to GDP and forcing continued paste imports that drain foreign exchange.</a:t>
            </a:r>
            <a:endParaRPr lang="en-US" dirty="0"/>
          </a:p>
        </p:txBody>
      </p:sp>
      <p:sp>
        <p:nvSpPr>
          <p:cNvPr id="6" name="Text 4"/>
          <p:cNvSpPr/>
          <p:nvPr/>
        </p:nvSpPr>
        <p:spPr>
          <a:xfrm>
            <a:off x="6309360" y="1874520"/>
            <a:ext cx="5212080" cy="36576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Farmers</a:t>
            </a:r>
            <a:endParaRPr lang="en-US" sz="2400" dirty="0"/>
          </a:p>
        </p:txBody>
      </p:sp>
      <p:sp>
        <p:nvSpPr>
          <p:cNvPr id="7" name="Text 5"/>
          <p:cNvSpPr/>
          <p:nvPr/>
        </p:nvSpPr>
        <p:spPr>
          <a:xfrm>
            <a:off x="6309360" y="2258568"/>
            <a:ext cx="5212080" cy="1490472"/>
          </a:xfrm>
          <a:prstGeom prst="rect">
            <a:avLst/>
          </a:prstGeom>
          <a:noFill/>
          <a:ln/>
        </p:spPr>
        <p:txBody>
          <a:bodyPr wrap="square" rtlCol="0" anchor="ctr"/>
          <a:lstStyle/>
          <a:p>
            <a:pPr marL="0" indent="0">
              <a:lnSpc>
                <a:spcPct val="130000"/>
              </a:lnSpc>
              <a:buNone/>
            </a:pPr>
            <a:r>
              <a:rPr lang="en-US" dirty="0">
                <a:solidFill>
                  <a:srgbClr val="1C1C1C"/>
                </a:solidFill>
                <a:latin typeface="Calibri" pitchFamily="34" charset="0"/>
                <a:ea typeface="Calibri" pitchFamily="34" charset="-122"/>
                <a:cs typeface="Calibri" pitchFamily="34" charset="-120"/>
              </a:rPr>
              <a:t>When produce spoils, farmers lose both the harvest and everything already spent on seeds, fertiliser, labour and transport, making it harder to repay loans or reinvest the next season.</a:t>
            </a:r>
            <a:endParaRPr lang="en-US" dirty="0"/>
          </a:p>
        </p:txBody>
      </p:sp>
      <p:sp>
        <p:nvSpPr>
          <p:cNvPr id="8" name="Text 6"/>
          <p:cNvSpPr/>
          <p:nvPr/>
        </p:nvSpPr>
        <p:spPr>
          <a:xfrm>
            <a:off x="640080" y="4319194"/>
            <a:ext cx="5212080" cy="36576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Consumers</a:t>
            </a:r>
            <a:endParaRPr lang="en-US" sz="2400" dirty="0"/>
          </a:p>
        </p:txBody>
      </p:sp>
      <p:sp>
        <p:nvSpPr>
          <p:cNvPr id="9" name="Text 7"/>
          <p:cNvSpPr/>
          <p:nvPr/>
        </p:nvSpPr>
        <p:spPr>
          <a:xfrm>
            <a:off x="640080" y="4703242"/>
            <a:ext cx="5212080" cy="1490472"/>
          </a:xfrm>
          <a:prstGeom prst="rect">
            <a:avLst/>
          </a:prstGeom>
          <a:noFill/>
          <a:ln/>
        </p:spPr>
        <p:txBody>
          <a:bodyPr wrap="square" rtlCol="0" anchor="ctr"/>
          <a:lstStyle/>
          <a:p>
            <a:pPr marL="0" indent="0">
              <a:lnSpc>
                <a:spcPct val="130000"/>
              </a:lnSpc>
              <a:buNone/>
            </a:pPr>
            <a:r>
              <a:rPr lang="en-US" dirty="0">
                <a:solidFill>
                  <a:srgbClr val="1C1C1C"/>
                </a:solidFill>
                <a:latin typeface="Calibri" pitchFamily="34" charset="0"/>
                <a:ea typeface="Calibri" pitchFamily="34" charset="-122"/>
                <a:cs typeface="Calibri" pitchFamily="34" charset="-120"/>
              </a:rPr>
              <a:t>Reduced supply pushes prices up, especially off season, limiting affordable access to a vegetable that is central to Nigerian diets and nutrition.</a:t>
            </a:r>
            <a:endParaRPr lang="en-US" dirty="0"/>
          </a:p>
        </p:txBody>
      </p:sp>
      <p:sp>
        <p:nvSpPr>
          <p:cNvPr id="10" name="Text 8"/>
          <p:cNvSpPr/>
          <p:nvPr/>
        </p:nvSpPr>
        <p:spPr>
          <a:xfrm>
            <a:off x="6309360" y="4319194"/>
            <a:ext cx="5212080" cy="36576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Businesses</a:t>
            </a:r>
            <a:endParaRPr lang="en-US" sz="2400" dirty="0"/>
          </a:p>
        </p:txBody>
      </p:sp>
      <p:sp>
        <p:nvSpPr>
          <p:cNvPr id="11" name="Text 9"/>
          <p:cNvSpPr/>
          <p:nvPr/>
        </p:nvSpPr>
        <p:spPr>
          <a:xfrm>
            <a:off x="6309360" y="4703242"/>
            <a:ext cx="5212080" cy="1490472"/>
          </a:xfrm>
          <a:prstGeom prst="rect">
            <a:avLst/>
          </a:prstGeom>
          <a:noFill/>
          <a:ln/>
        </p:spPr>
        <p:txBody>
          <a:bodyPr wrap="square" rtlCol="0" anchor="ctr"/>
          <a:lstStyle/>
          <a:p>
            <a:pPr marL="0" indent="0">
              <a:lnSpc>
                <a:spcPct val="130000"/>
              </a:lnSpc>
              <a:buNone/>
            </a:pPr>
            <a:r>
              <a:rPr lang="en-US" dirty="0">
                <a:solidFill>
                  <a:srgbClr val="1C1C1C"/>
                </a:solidFill>
                <a:latin typeface="Calibri" pitchFamily="34" charset="0"/>
                <a:ea typeface="Calibri" pitchFamily="34" charset="-122"/>
                <a:cs typeface="Calibri" pitchFamily="34" charset="-120"/>
              </a:rPr>
              <a:t>Processors run below capacity due to inconsistent supply, traders absorb losses on unsold stock, and transporters lose revenue on rejected, damaged produce.</a:t>
            </a:r>
            <a:endParaRPr lang="en-US" dirty="0"/>
          </a:p>
        </p:txBody>
      </p:sp>
      <p:sp>
        <p:nvSpPr>
          <p:cNvPr id="12" name="Text 10"/>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MARKET LANDSCAPE</a:t>
            </a:r>
            <a:endParaRPr lang="en-US" sz="3200" dirty="0"/>
          </a:p>
        </p:txBody>
      </p:sp>
      <p:sp>
        <p:nvSpPr>
          <p:cNvPr id="3" name="Text 1"/>
          <p:cNvSpPr/>
          <p:nvPr/>
        </p:nvSpPr>
        <p:spPr>
          <a:xfrm>
            <a:off x="640080" y="481406"/>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Every existing platform solves one piece, none solve the whole chain</a:t>
            </a:r>
            <a:endParaRPr lang="en-US" sz="2000" dirty="0"/>
          </a:p>
        </p:txBody>
      </p:sp>
      <p:pic>
        <p:nvPicPr>
          <p:cNvPr id="4" name="Image 0" descr="/mnt/user-data/uploads/Picture4.jpg"/>
          <p:cNvPicPr>
            <a:picLocks noChangeAspect="1"/>
          </p:cNvPicPr>
          <p:nvPr/>
        </p:nvPicPr>
        <p:blipFill>
          <a:blip r:embed="rId3"/>
          <a:stretch>
            <a:fillRect/>
          </a:stretch>
        </p:blipFill>
        <p:spPr>
          <a:xfrm>
            <a:off x="1129553" y="1344706"/>
            <a:ext cx="9568927" cy="4410636"/>
          </a:xfrm>
          <a:prstGeom prst="rect">
            <a:avLst/>
          </a:prstGeom>
          <a:effectLst>
            <a:outerShdw blurRad="127000" dist="38100" dir="5400000" algn="bl" rotWithShape="0">
              <a:srgbClr val="000000">
                <a:alpha val="25000"/>
              </a:srgbClr>
            </a:outerShdw>
          </a:effectLst>
        </p:spPr>
      </p:pic>
      <p:sp>
        <p:nvSpPr>
          <p:cNvPr id="5" name="Shape 2"/>
          <p:cNvSpPr/>
          <p:nvPr/>
        </p:nvSpPr>
        <p:spPr>
          <a:xfrm>
            <a:off x="640080" y="5919932"/>
            <a:ext cx="10881360" cy="846627"/>
          </a:xfrm>
          <a:prstGeom prst="roundRect">
            <a:avLst>
              <a:gd name="adj" fmla="val 5217"/>
            </a:avLst>
          </a:prstGeom>
          <a:solidFill>
            <a:srgbClr val="EAF5EB"/>
          </a:solidFill>
          <a:ln/>
        </p:spPr>
        <p:txBody>
          <a:bodyPr/>
          <a:lstStyle/>
          <a:p>
            <a:endParaRPr lang="en-GB" dirty="0"/>
          </a:p>
        </p:txBody>
      </p:sp>
      <p:sp>
        <p:nvSpPr>
          <p:cNvPr id="6" name="Text 3"/>
          <p:cNvSpPr/>
          <p:nvPr/>
        </p:nvSpPr>
        <p:spPr>
          <a:xfrm>
            <a:off x="929640" y="5879592"/>
            <a:ext cx="10332720" cy="868680"/>
          </a:xfrm>
          <a:prstGeom prst="rect">
            <a:avLst/>
          </a:prstGeom>
          <a:noFill/>
          <a:ln/>
        </p:spPr>
        <p:txBody>
          <a:bodyPr wrap="square" rtlCol="0" anchor="ctr"/>
          <a:lstStyle/>
          <a:p>
            <a:pPr marL="0" indent="0">
              <a:lnSpc>
                <a:spcPct val="128000"/>
              </a:lnSpc>
              <a:buNone/>
            </a:pPr>
            <a:r>
              <a:rPr lang="en-US" sz="1400" dirty="0">
                <a:solidFill>
                  <a:srgbClr val="1C1C1C"/>
                </a:solidFill>
                <a:latin typeface="Calibri" pitchFamily="34" charset="0"/>
                <a:ea typeface="Calibri" pitchFamily="34" charset="-122"/>
                <a:cs typeface="Calibri" pitchFamily="34" charset="-120"/>
              </a:rPr>
              <a:t>Each platform above addresses a single link, storage, financing, trading or logistics, in isolation. TomaLink brings storage, transportation, a verified marketplace and live tracking into one connected platform, so a farmer never has to leave the app to solve the next problem in the chain.</a:t>
            </a:r>
            <a:endParaRPr lang="en-US" sz="1400" dirty="0"/>
          </a:p>
        </p:txBody>
      </p:sp>
      <p:sp>
        <p:nvSpPr>
          <p:cNvPr id="7" name="Text 4"/>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ome/claude/tomalink_deck/logo_clean.png"/>
          <p:cNvPicPr>
            <a:picLocks noChangeAspect="1"/>
          </p:cNvPicPr>
          <p:nvPr/>
        </p:nvPicPr>
        <p:blipFill>
          <a:blip r:embed="rId3"/>
          <a:stretch>
            <a:fillRect/>
          </a:stretch>
        </p:blipFill>
        <p:spPr>
          <a:xfrm>
            <a:off x="640080" y="1327226"/>
            <a:ext cx="1476851" cy="1255954"/>
          </a:xfrm>
          <a:prstGeom prst="rect">
            <a:avLst/>
          </a:prstGeom>
        </p:spPr>
      </p:pic>
      <p:sp>
        <p:nvSpPr>
          <p:cNvPr id="3" name="Text 0"/>
          <p:cNvSpPr/>
          <p:nvPr/>
        </p:nvSpPr>
        <p:spPr>
          <a:xfrm>
            <a:off x="640080" y="2606040"/>
            <a:ext cx="50292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ABOUT US</a:t>
            </a:r>
            <a:endParaRPr lang="en-US" sz="3200" dirty="0"/>
          </a:p>
        </p:txBody>
      </p:sp>
      <p:sp>
        <p:nvSpPr>
          <p:cNvPr id="4" name="Text 1"/>
          <p:cNvSpPr/>
          <p:nvPr/>
        </p:nvSpPr>
        <p:spPr>
          <a:xfrm>
            <a:off x="640080" y="2971800"/>
            <a:ext cx="5212080" cy="1828800"/>
          </a:xfrm>
          <a:prstGeom prst="rect">
            <a:avLst/>
          </a:prstGeom>
          <a:noFill/>
          <a:ln/>
        </p:spPr>
        <p:txBody>
          <a:bodyPr wrap="square" rtlCol="0" anchor="ctr"/>
          <a:lstStyle/>
          <a:p>
            <a:pPr marL="0" indent="0">
              <a:lnSpc>
                <a:spcPct val="135000"/>
              </a:lnSpc>
              <a:buNone/>
            </a:pPr>
            <a:r>
              <a:rPr lang="en-US" sz="1600" dirty="0">
                <a:solidFill>
                  <a:srgbClr val="1C1C1C"/>
                </a:solidFill>
                <a:latin typeface="Times New Roman" panose="02020603050405020304" pitchFamily="18" charset="0"/>
                <a:ea typeface="Calibri" pitchFamily="34" charset="-122"/>
                <a:cs typeface="Times New Roman" panose="02020603050405020304" pitchFamily="18" charset="0"/>
              </a:rPr>
              <a:t>TomaLink is a technology driven post harvest solution that connects farmers to cold storage, warehousing, logistics and markets. By reducing post harvest losses, TomaLink helps farmers earn more, minimises food waste, and strengthens Nigeria's tomato value chain.</a:t>
            </a:r>
            <a:endParaRPr lang="en-US" sz="1600" dirty="0">
              <a:latin typeface="Times New Roman" panose="02020603050405020304" pitchFamily="18" charset="0"/>
              <a:cs typeface="Times New Roman" panose="02020603050405020304" pitchFamily="18" charset="0"/>
            </a:endParaRPr>
          </a:p>
        </p:txBody>
      </p:sp>
      <p:sp>
        <p:nvSpPr>
          <p:cNvPr id="5" name="Text 2"/>
          <p:cNvSpPr/>
          <p:nvPr/>
        </p:nvSpPr>
        <p:spPr>
          <a:xfrm>
            <a:off x="640080" y="4937760"/>
            <a:ext cx="5029200" cy="320040"/>
          </a:xfrm>
          <a:prstGeom prst="rect">
            <a:avLst/>
          </a:prstGeom>
          <a:noFill/>
          <a:ln/>
        </p:spPr>
        <p:txBody>
          <a:bodyPr wrap="square" rtlCol="0" anchor="ctr"/>
          <a:lstStyle/>
          <a:p>
            <a:pPr marL="0" indent="0">
              <a:buNone/>
            </a:pPr>
            <a:r>
              <a:rPr lang="en-US" sz="2400" b="1" kern="0" spc="200" dirty="0">
                <a:solidFill>
                  <a:srgbClr val="2E7D32"/>
                </a:solidFill>
                <a:latin typeface="Calibri" pitchFamily="34" charset="0"/>
                <a:ea typeface="Calibri" pitchFamily="34" charset="-122"/>
                <a:cs typeface="Calibri" pitchFamily="34" charset="-120"/>
              </a:rPr>
              <a:t>TAGLINE</a:t>
            </a:r>
            <a:endParaRPr lang="en-US" sz="2400" dirty="0"/>
          </a:p>
        </p:txBody>
      </p:sp>
      <p:sp>
        <p:nvSpPr>
          <p:cNvPr id="6" name="Text 3"/>
          <p:cNvSpPr/>
          <p:nvPr/>
        </p:nvSpPr>
        <p:spPr>
          <a:xfrm>
            <a:off x="640080" y="5303520"/>
            <a:ext cx="5212080" cy="457200"/>
          </a:xfrm>
          <a:prstGeom prst="rect">
            <a:avLst/>
          </a:prstGeom>
          <a:noFill/>
          <a:ln/>
        </p:spPr>
        <p:txBody>
          <a:bodyPr wrap="square" rtlCol="0" anchor="ctr"/>
          <a:lstStyle/>
          <a:p>
            <a:pPr marL="0" indent="0">
              <a:buNone/>
            </a:pPr>
            <a:r>
              <a:rPr lang="en-US" sz="1600" i="1" dirty="0">
                <a:solidFill>
                  <a:srgbClr val="1C1C1C"/>
                </a:solidFill>
                <a:latin typeface="Calibri" pitchFamily="34" charset="0"/>
                <a:ea typeface="Calibri" pitchFamily="34" charset="-122"/>
                <a:cs typeface="Calibri" pitchFamily="34" charset="-120"/>
              </a:rPr>
              <a:t>From Farm to Market, Fresh Every Step.</a:t>
            </a:r>
            <a:endParaRPr lang="en-US" sz="1600" dirty="0"/>
          </a:p>
        </p:txBody>
      </p:sp>
      <p:sp>
        <p:nvSpPr>
          <p:cNvPr id="7" name="Shape 4"/>
          <p:cNvSpPr/>
          <p:nvPr/>
        </p:nvSpPr>
        <p:spPr>
          <a:xfrm>
            <a:off x="6263640" y="685800"/>
            <a:ext cx="0" cy="5577840"/>
          </a:xfrm>
          <a:prstGeom prst="line">
            <a:avLst/>
          </a:prstGeom>
          <a:noFill/>
          <a:ln w="57150">
            <a:solidFill>
              <a:srgbClr val="FF0000"/>
            </a:solidFill>
            <a:prstDash val="solid"/>
          </a:ln>
        </p:spPr>
      </p:sp>
      <p:sp>
        <p:nvSpPr>
          <p:cNvPr id="8" name="Text 5"/>
          <p:cNvSpPr/>
          <p:nvPr/>
        </p:nvSpPr>
        <p:spPr>
          <a:xfrm>
            <a:off x="6583680" y="777240"/>
            <a:ext cx="4937760" cy="320040"/>
          </a:xfrm>
          <a:prstGeom prst="rect">
            <a:avLst/>
          </a:prstGeom>
          <a:noFill/>
          <a:ln/>
        </p:spPr>
        <p:txBody>
          <a:bodyPr wrap="square" rtlCol="0" anchor="ctr"/>
          <a:lstStyle/>
          <a:p>
            <a:pPr marL="0" indent="0">
              <a:buNone/>
            </a:pPr>
            <a:r>
              <a:rPr lang="en-US" sz="2400" b="1" kern="0" spc="200" dirty="0">
                <a:solidFill>
                  <a:srgbClr val="D32F2F"/>
                </a:solidFill>
                <a:latin typeface="Calibri" pitchFamily="34" charset="0"/>
                <a:ea typeface="Calibri" pitchFamily="34" charset="-122"/>
                <a:cs typeface="Calibri" pitchFamily="34" charset="-120"/>
              </a:rPr>
              <a:t>OUR VALUES</a:t>
            </a:r>
            <a:endParaRPr lang="en-US" sz="2400" dirty="0"/>
          </a:p>
        </p:txBody>
      </p:sp>
      <p:sp>
        <p:nvSpPr>
          <p:cNvPr id="9" name="Text 6"/>
          <p:cNvSpPr/>
          <p:nvPr/>
        </p:nvSpPr>
        <p:spPr>
          <a:xfrm>
            <a:off x="6583680" y="1530274"/>
            <a:ext cx="4937760" cy="320040"/>
          </a:xfrm>
          <a:prstGeom prst="rect">
            <a:avLst/>
          </a:prstGeom>
          <a:noFill/>
          <a:ln/>
        </p:spPr>
        <p:txBody>
          <a:bodyPr wrap="square" rtlCol="0" anchor="ctr"/>
          <a:lstStyle/>
          <a:p>
            <a:pPr marL="0" indent="0">
              <a:buNone/>
            </a:pPr>
            <a:r>
              <a:rPr lang="en-US" sz="1600" b="1" dirty="0">
                <a:solidFill>
                  <a:srgbClr val="1C1C1C"/>
                </a:solidFill>
                <a:latin typeface="Calibri" pitchFamily="34" charset="0"/>
                <a:ea typeface="Calibri" pitchFamily="34" charset="-122"/>
                <a:cs typeface="Calibri" pitchFamily="34" charset="-120"/>
              </a:rPr>
              <a:t>Innovation</a:t>
            </a:r>
            <a:endParaRPr lang="en-US" sz="1600" dirty="0"/>
          </a:p>
        </p:txBody>
      </p:sp>
      <p:sp>
        <p:nvSpPr>
          <p:cNvPr id="10" name="Text 7"/>
          <p:cNvSpPr/>
          <p:nvPr/>
        </p:nvSpPr>
        <p:spPr>
          <a:xfrm>
            <a:off x="6583680" y="1778238"/>
            <a:ext cx="4937760" cy="365760"/>
          </a:xfrm>
          <a:prstGeom prst="rect">
            <a:avLst/>
          </a:prstGeom>
          <a:noFill/>
          <a:ln/>
        </p:spPr>
        <p:txBody>
          <a:bodyPr wrap="square" rtlCol="0" anchor="ctr"/>
          <a:lstStyle/>
          <a:p>
            <a:pPr marL="0" indent="0">
              <a:buNone/>
            </a:pPr>
            <a:r>
              <a:rPr lang="en-US" sz="1600" dirty="0">
                <a:solidFill>
                  <a:srgbClr val="5F6368"/>
                </a:solidFill>
                <a:latin typeface="Times New Roman" panose="02020603050405020304" pitchFamily="18" charset="0"/>
                <a:ea typeface="Calibri" pitchFamily="34" charset="-122"/>
                <a:cs typeface="Times New Roman" panose="02020603050405020304" pitchFamily="18" charset="0"/>
              </a:rPr>
              <a:t>Solving old problems with new, practical technology</a:t>
            </a:r>
            <a:endParaRPr lang="en-US" sz="1600" dirty="0">
              <a:latin typeface="Times New Roman" panose="02020603050405020304" pitchFamily="18" charset="0"/>
              <a:cs typeface="Times New Roman" panose="02020603050405020304" pitchFamily="18" charset="0"/>
            </a:endParaRPr>
          </a:p>
        </p:txBody>
      </p:sp>
      <p:sp>
        <p:nvSpPr>
          <p:cNvPr id="11" name="Text 8"/>
          <p:cNvSpPr/>
          <p:nvPr/>
        </p:nvSpPr>
        <p:spPr>
          <a:xfrm>
            <a:off x="6583680" y="2280620"/>
            <a:ext cx="4937760" cy="320040"/>
          </a:xfrm>
          <a:prstGeom prst="rect">
            <a:avLst/>
          </a:prstGeom>
          <a:noFill/>
          <a:ln/>
        </p:spPr>
        <p:txBody>
          <a:bodyPr wrap="square" rtlCol="0" anchor="ctr"/>
          <a:lstStyle/>
          <a:p>
            <a:pPr marL="0" indent="0">
              <a:buNone/>
            </a:pPr>
            <a:r>
              <a:rPr lang="en-US" sz="1600" b="1" dirty="0">
                <a:solidFill>
                  <a:srgbClr val="1C1C1C"/>
                </a:solidFill>
                <a:latin typeface="Calibri" pitchFamily="34" charset="0"/>
                <a:ea typeface="Calibri" pitchFamily="34" charset="-122"/>
                <a:cs typeface="Calibri" pitchFamily="34" charset="-120"/>
              </a:rPr>
              <a:t>Reliability</a:t>
            </a:r>
            <a:endParaRPr lang="en-US" sz="1600" dirty="0"/>
          </a:p>
        </p:txBody>
      </p:sp>
      <p:sp>
        <p:nvSpPr>
          <p:cNvPr id="12" name="Text 9"/>
          <p:cNvSpPr/>
          <p:nvPr/>
        </p:nvSpPr>
        <p:spPr>
          <a:xfrm>
            <a:off x="6583680" y="2555478"/>
            <a:ext cx="4937760" cy="365760"/>
          </a:xfrm>
          <a:prstGeom prst="rect">
            <a:avLst/>
          </a:prstGeom>
          <a:noFill/>
          <a:ln/>
        </p:spPr>
        <p:txBody>
          <a:bodyPr wrap="square" rtlCol="0" anchor="ctr"/>
          <a:lstStyle/>
          <a:p>
            <a:pPr marL="0" indent="0">
              <a:buNone/>
            </a:pPr>
            <a:r>
              <a:rPr lang="en-US" sz="1600" dirty="0">
                <a:solidFill>
                  <a:srgbClr val="5F6368"/>
                </a:solidFill>
                <a:latin typeface="Times New Roman" panose="02020603050405020304" pitchFamily="18" charset="0"/>
                <a:ea typeface="Calibri" pitchFamily="34" charset="-122"/>
                <a:cs typeface="Times New Roman" panose="02020603050405020304" pitchFamily="18" charset="0"/>
              </a:rPr>
              <a:t>A platform farmers and buyers can depend on every season</a:t>
            </a:r>
            <a:endParaRPr lang="en-US" sz="1600" dirty="0">
              <a:latin typeface="Times New Roman" panose="02020603050405020304" pitchFamily="18" charset="0"/>
              <a:cs typeface="Times New Roman" panose="02020603050405020304" pitchFamily="18" charset="0"/>
            </a:endParaRPr>
          </a:p>
        </p:txBody>
      </p:sp>
      <p:sp>
        <p:nvSpPr>
          <p:cNvPr id="13" name="Text 10"/>
          <p:cNvSpPr/>
          <p:nvPr/>
        </p:nvSpPr>
        <p:spPr>
          <a:xfrm>
            <a:off x="6583680" y="3071307"/>
            <a:ext cx="4937760" cy="320040"/>
          </a:xfrm>
          <a:prstGeom prst="rect">
            <a:avLst/>
          </a:prstGeom>
          <a:noFill/>
          <a:ln/>
        </p:spPr>
        <p:txBody>
          <a:bodyPr wrap="square" rtlCol="0" anchor="ctr"/>
          <a:lstStyle/>
          <a:p>
            <a:pPr marL="0" indent="0">
              <a:buNone/>
            </a:pPr>
            <a:r>
              <a:rPr lang="en-US" sz="1600" b="1" dirty="0">
                <a:solidFill>
                  <a:srgbClr val="1C1C1C"/>
                </a:solidFill>
                <a:latin typeface="Calibri" pitchFamily="34" charset="0"/>
                <a:ea typeface="Calibri" pitchFamily="34" charset="-122"/>
                <a:cs typeface="Calibri" pitchFamily="34" charset="-120"/>
              </a:rPr>
              <a:t>Sustainability</a:t>
            </a:r>
            <a:endParaRPr lang="en-US" sz="1600" dirty="0"/>
          </a:p>
        </p:txBody>
      </p:sp>
      <p:sp>
        <p:nvSpPr>
          <p:cNvPr id="14" name="Text 11"/>
          <p:cNvSpPr/>
          <p:nvPr/>
        </p:nvSpPr>
        <p:spPr>
          <a:xfrm>
            <a:off x="6583680" y="3359612"/>
            <a:ext cx="4937760" cy="365760"/>
          </a:xfrm>
          <a:prstGeom prst="rect">
            <a:avLst/>
          </a:prstGeom>
          <a:noFill/>
          <a:ln/>
        </p:spPr>
        <p:txBody>
          <a:bodyPr wrap="square" rtlCol="0" anchor="ctr"/>
          <a:lstStyle/>
          <a:p>
            <a:pPr marL="0" indent="0">
              <a:buNone/>
            </a:pPr>
            <a:r>
              <a:rPr lang="en-US" sz="1600" dirty="0">
                <a:solidFill>
                  <a:srgbClr val="5F6368"/>
                </a:solidFill>
                <a:latin typeface="Times New Roman" panose="02020603050405020304" pitchFamily="18" charset="0"/>
                <a:ea typeface="Calibri" pitchFamily="34" charset="-122"/>
                <a:cs typeface="Times New Roman" panose="02020603050405020304" pitchFamily="18" charset="0"/>
              </a:rPr>
              <a:t>Reducing waste across the whole value chain, not just one link</a:t>
            </a:r>
            <a:endParaRPr lang="en-US" sz="1600" dirty="0">
              <a:latin typeface="Times New Roman" panose="02020603050405020304" pitchFamily="18" charset="0"/>
              <a:cs typeface="Times New Roman" panose="02020603050405020304" pitchFamily="18" charset="0"/>
            </a:endParaRPr>
          </a:p>
        </p:txBody>
      </p:sp>
      <p:sp>
        <p:nvSpPr>
          <p:cNvPr id="15" name="Text 12"/>
          <p:cNvSpPr/>
          <p:nvPr/>
        </p:nvSpPr>
        <p:spPr>
          <a:xfrm>
            <a:off x="6583680" y="3861994"/>
            <a:ext cx="4937760" cy="320040"/>
          </a:xfrm>
          <a:prstGeom prst="rect">
            <a:avLst/>
          </a:prstGeom>
          <a:noFill/>
          <a:ln/>
        </p:spPr>
        <p:txBody>
          <a:bodyPr wrap="square" rtlCol="0" anchor="ctr"/>
          <a:lstStyle/>
          <a:p>
            <a:pPr marL="0" indent="0">
              <a:buNone/>
            </a:pPr>
            <a:r>
              <a:rPr lang="en-US" sz="1600" b="1" dirty="0">
                <a:solidFill>
                  <a:srgbClr val="1C1C1C"/>
                </a:solidFill>
                <a:latin typeface="Calibri" pitchFamily="34" charset="0"/>
                <a:ea typeface="Calibri" pitchFamily="34" charset="-122"/>
                <a:cs typeface="Calibri" pitchFamily="34" charset="-120"/>
              </a:rPr>
              <a:t>Farmer Empowerment</a:t>
            </a:r>
            <a:endParaRPr lang="en-US" sz="1600" dirty="0"/>
          </a:p>
        </p:txBody>
      </p:sp>
      <p:sp>
        <p:nvSpPr>
          <p:cNvPr id="16" name="Text 13"/>
          <p:cNvSpPr/>
          <p:nvPr/>
        </p:nvSpPr>
        <p:spPr>
          <a:xfrm>
            <a:off x="6583680" y="4136852"/>
            <a:ext cx="4937760" cy="365760"/>
          </a:xfrm>
          <a:prstGeom prst="rect">
            <a:avLst/>
          </a:prstGeom>
          <a:noFill/>
          <a:ln/>
        </p:spPr>
        <p:txBody>
          <a:bodyPr wrap="square" rtlCol="0" anchor="ctr"/>
          <a:lstStyle/>
          <a:p>
            <a:pPr marL="0" indent="0">
              <a:buNone/>
            </a:pPr>
            <a:r>
              <a:rPr lang="en-US" sz="1600" dirty="0">
                <a:solidFill>
                  <a:srgbClr val="5F6368"/>
                </a:solidFill>
                <a:latin typeface="Times New Roman" panose="02020603050405020304" pitchFamily="18" charset="0"/>
                <a:ea typeface="Calibri" pitchFamily="34" charset="-122"/>
                <a:cs typeface="Times New Roman" panose="02020603050405020304" pitchFamily="18" charset="0"/>
              </a:rPr>
              <a:t>Putting pricing power and market access back in farmers' hands</a:t>
            </a:r>
            <a:endParaRPr lang="en-US" sz="1600" dirty="0">
              <a:latin typeface="Times New Roman" panose="02020603050405020304" pitchFamily="18" charset="0"/>
              <a:cs typeface="Times New Roman" panose="02020603050405020304" pitchFamily="18" charset="0"/>
            </a:endParaRPr>
          </a:p>
        </p:txBody>
      </p:sp>
      <p:sp>
        <p:nvSpPr>
          <p:cNvPr id="17" name="Text 14"/>
          <p:cNvSpPr/>
          <p:nvPr/>
        </p:nvSpPr>
        <p:spPr>
          <a:xfrm>
            <a:off x="6583680" y="4639234"/>
            <a:ext cx="4937760" cy="320040"/>
          </a:xfrm>
          <a:prstGeom prst="rect">
            <a:avLst/>
          </a:prstGeom>
          <a:noFill/>
          <a:ln/>
        </p:spPr>
        <p:txBody>
          <a:bodyPr wrap="square" rtlCol="0" anchor="ctr"/>
          <a:lstStyle/>
          <a:p>
            <a:pPr marL="0" indent="0">
              <a:buNone/>
            </a:pPr>
            <a:r>
              <a:rPr lang="en-US" sz="1600" b="1" dirty="0">
                <a:solidFill>
                  <a:srgbClr val="1C1C1C"/>
                </a:solidFill>
                <a:latin typeface="Calibri" pitchFamily="34" charset="0"/>
                <a:ea typeface="Calibri" pitchFamily="34" charset="-122"/>
                <a:cs typeface="Calibri" pitchFamily="34" charset="-120"/>
              </a:rPr>
              <a:t>Transparency</a:t>
            </a:r>
            <a:endParaRPr lang="en-US" sz="1600" dirty="0"/>
          </a:p>
        </p:txBody>
      </p:sp>
      <p:sp>
        <p:nvSpPr>
          <p:cNvPr id="18" name="Text 15"/>
          <p:cNvSpPr/>
          <p:nvPr/>
        </p:nvSpPr>
        <p:spPr>
          <a:xfrm>
            <a:off x="6583680" y="4887198"/>
            <a:ext cx="4937760" cy="365760"/>
          </a:xfrm>
          <a:prstGeom prst="rect">
            <a:avLst/>
          </a:prstGeom>
          <a:noFill/>
          <a:ln/>
        </p:spPr>
        <p:txBody>
          <a:bodyPr wrap="square" rtlCol="0" anchor="ctr"/>
          <a:lstStyle/>
          <a:p>
            <a:pPr marL="0" indent="0">
              <a:buNone/>
            </a:pPr>
            <a:r>
              <a:rPr lang="en-US" sz="1600" dirty="0">
                <a:solidFill>
                  <a:srgbClr val="5F6368"/>
                </a:solidFill>
                <a:latin typeface="Times New Roman" panose="02020603050405020304" pitchFamily="18" charset="0"/>
                <a:ea typeface="Calibri" pitchFamily="34" charset="-122"/>
                <a:cs typeface="Times New Roman" panose="02020603050405020304" pitchFamily="18" charset="0"/>
              </a:rPr>
              <a:t>Clear pricing, verified buyers, visible transactions</a:t>
            </a:r>
            <a:endParaRPr lang="en-US" sz="1600" dirty="0">
              <a:latin typeface="Times New Roman" panose="02020603050405020304" pitchFamily="18" charset="0"/>
              <a:cs typeface="Times New Roman" panose="02020603050405020304" pitchFamily="18" charset="0"/>
            </a:endParaRPr>
          </a:p>
        </p:txBody>
      </p:sp>
      <p:sp>
        <p:nvSpPr>
          <p:cNvPr id="19" name="Text 16"/>
          <p:cNvSpPr/>
          <p:nvPr/>
        </p:nvSpPr>
        <p:spPr>
          <a:xfrm>
            <a:off x="6583680" y="5416474"/>
            <a:ext cx="4937760" cy="320040"/>
          </a:xfrm>
          <a:prstGeom prst="rect">
            <a:avLst/>
          </a:prstGeom>
          <a:noFill/>
          <a:ln/>
        </p:spPr>
        <p:txBody>
          <a:bodyPr wrap="square" rtlCol="0" anchor="ctr"/>
          <a:lstStyle/>
          <a:p>
            <a:pPr marL="0" indent="0">
              <a:buNone/>
            </a:pPr>
            <a:r>
              <a:rPr lang="en-US" sz="1600" b="1" dirty="0">
                <a:solidFill>
                  <a:srgbClr val="1C1C1C"/>
                </a:solidFill>
                <a:latin typeface="Calibri" pitchFamily="34" charset="0"/>
                <a:ea typeface="Calibri" pitchFamily="34" charset="-122"/>
                <a:cs typeface="Calibri" pitchFamily="34" charset="-120"/>
              </a:rPr>
              <a:t>Collaboration</a:t>
            </a:r>
            <a:endParaRPr lang="en-US" sz="1600" dirty="0"/>
          </a:p>
        </p:txBody>
      </p:sp>
      <p:sp>
        <p:nvSpPr>
          <p:cNvPr id="20" name="Text 17"/>
          <p:cNvSpPr/>
          <p:nvPr/>
        </p:nvSpPr>
        <p:spPr>
          <a:xfrm>
            <a:off x="6583680" y="5691332"/>
            <a:ext cx="4937760" cy="365760"/>
          </a:xfrm>
          <a:prstGeom prst="rect">
            <a:avLst/>
          </a:prstGeom>
          <a:noFill/>
          <a:ln/>
        </p:spPr>
        <p:txBody>
          <a:bodyPr wrap="square" rtlCol="0" anchor="ctr"/>
          <a:lstStyle/>
          <a:p>
            <a:pPr marL="0" indent="0">
              <a:buNone/>
            </a:pPr>
            <a:r>
              <a:rPr lang="en-US" sz="1600" dirty="0">
                <a:solidFill>
                  <a:srgbClr val="5F6368"/>
                </a:solidFill>
                <a:latin typeface="Times New Roman" panose="02020603050405020304" pitchFamily="18" charset="0"/>
                <a:ea typeface="Calibri" pitchFamily="34" charset="-122"/>
                <a:cs typeface="Times New Roman" panose="02020603050405020304" pitchFamily="18" charset="0"/>
              </a:rPr>
              <a:t>Every stakeholder working from the same shared platform</a:t>
            </a:r>
            <a:endParaRPr lang="en-US" sz="1600" dirty="0">
              <a:latin typeface="Times New Roman" panose="02020603050405020304" pitchFamily="18" charset="0"/>
              <a:cs typeface="Times New Roman" panose="02020603050405020304" pitchFamily="18" charset="0"/>
            </a:endParaRPr>
          </a:p>
        </p:txBody>
      </p:sp>
      <p:sp>
        <p:nvSpPr>
          <p:cNvPr id="21" name="Text 18"/>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OUR BRAND</a:t>
            </a:r>
            <a:endParaRPr lang="en-US" sz="3200" dirty="0"/>
          </a:p>
        </p:txBody>
      </p:sp>
      <p:sp>
        <p:nvSpPr>
          <p:cNvPr id="3" name="Text 1"/>
          <p:cNvSpPr/>
          <p:nvPr/>
        </p:nvSpPr>
        <p:spPr>
          <a:xfrm>
            <a:off x="640080" y="494853"/>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A tomato and a chain, the two ideas at the heart of TomaLink</a:t>
            </a:r>
            <a:endParaRPr lang="en-US" sz="2000" dirty="0"/>
          </a:p>
        </p:txBody>
      </p:sp>
      <p:pic>
        <p:nvPicPr>
          <p:cNvPr id="4" name="Image 0" descr="/mnt/user-data/uploads/Picture3.jpg"/>
          <p:cNvPicPr>
            <a:picLocks noChangeAspect="1"/>
          </p:cNvPicPr>
          <p:nvPr/>
        </p:nvPicPr>
        <p:blipFill>
          <a:blip r:embed="rId3"/>
          <a:stretch>
            <a:fillRect/>
          </a:stretch>
        </p:blipFill>
        <p:spPr>
          <a:xfrm>
            <a:off x="2272553" y="1557412"/>
            <a:ext cx="7153834" cy="5031648"/>
          </a:xfrm>
          <a:prstGeom prst="rect">
            <a:avLst/>
          </a:prstGeom>
          <a:effectLst>
            <a:outerShdw blurRad="127000" dist="38100" dir="5400000" algn="bl" rotWithShape="0">
              <a:srgbClr val="000000">
                <a:alpha val="25000"/>
              </a:srgbClr>
            </a:outerShdw>
          </a:effectLst>
        </p:spPr>
      </p:pic>
      <p:sp>
        <p:nvSpPr>
          <p:cNvPr id="5" name="Text 2"/>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OUR APPROACH</a:t>
            </a:r>
            <a:endParaRPr lang="en-US" sz="3200" dirty="0"/>
          </a:p>
        </p:txBody>
      </p:sp>
      <p:sp>
        <p:nvSpPr>
          <p:cNvPr id="3" name="Text 1"/>
          <p:cNvSpPr/>
          <p:nvPr/>
        </p:nvSpPr>
        <p:spPr>
          <a:xfrm>
            <a:off x="640080" y="562088"/>
            <a:ext cx="10881360" cy="960120"/>
          </a:xfrm>
          <a:prstGeom prst="rect">
            <a:avLst/>
          </a:prstGeom>
          <a:noFill/>
          <a:ln/>
        </p:spPr>
        <p:txBody>
          <a:bodyPr wrap="square"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One platform, four connected services, a single farmer journey</a:t>
            </a:r>
            <a:endParaRPr lang="en-US" sz="2800" dirty="0"/>
          </a:p>
        </p:txBody>
      </p:sp>
      <p:sp>
        <p:nvSpPr>
          <p:cNvPr id="4" name="Shape 2"/>
          <p:cNvSpPr/>
          <p:nvPr/>
        </p:nvSpPr>
        <p:spPr>
          <a:xfrm>
            <a:off x="640080" y="1874520"/>
            <a:ext cx="2606040" cy="4160520"/>
          </a:xfrm>
          <a:prstGeom prst="roundRect">
            <a:avLst>
              <a:gd name="adj" fmla="val 2105"/>
            </a:avLst>
          </a:prstGeom>
          <a:solidFill>
            <a:srgbClr val="2E7D32"/>
          </a:solidFill>
          <a:ln/>
        </p:spPr>
      </p:sp>
      <p:sp>
        <p:nvSpPr>
          <p:cNvPr id="5" name="Text 3"/>
          <p:cNvSpPr/>
          <p:nvPr/>
        </p:nvSpPr>
        <p:spPr>
          <a:xfrm>
            <a:off x="822960" y="2148840"/>
            <a:ext cx="224028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Store</a:t>
            </a:r>
            <a:endParaRPr lang="en-US" sz="2200" dirty="0"/>
          </a:p>
        </p:txBody>
      </p:sp>
      <p:sp>
        <p:nvSpPr>
          <p:cNvPr id="6" name="Text 4"/>
          <p:cNvSpPr/>
          <p:nvPr/>
        </p:nvSpPr>
        <p:spPr>
          <a:xfrm>
            <a:off x="822960" y="2834640"/>
            <a:ext cx="2240280" cy="2926080"/>
          </a:xfrm>
          <a:prstGeom prst="rect">
            <a:avLst/>
          </a:prstGeom>
          <a:noFill/>
          <a:ln/>
        </p:spPr>
        <p:txBody>
          <a:bodyPr wrap="square" rtlCol="0" anchor="ctr"/>
          <a:lstStyle/>
          <a:p>
            <a:pPr marL="0" indent="0">
              <a:lnSpc>
                <a:spcPct val="130000"/>
              </a:lnSpc>
              <a:buNone/>
            </a:pPr>
            <a:r>
              <a:rPr lang="en-US" sz="1600" b="1" dirty="0">
                <a:solidFill>
                  <a:srgbClr val="E8F5E9"/>
                </a:solidFill>
                <a:latin typeface="Calibri" pitchFamily="34" charset="0"/>
                <a:ea typeface="Calibri" pitchFamily="34" charset="-122"/>
                <a:cs typeface="Calibri" pitchFamily="34" charset="-120"/>
              </a:rPr>
              <a:t>Book verified cold storage and warehouse space near the farm the moment harvest happens, instead of leaving produce exposed.</a:t>
            </a:r>
            <a:endParaRPr lang="en-US" sz="1600" b="1" dirty="0"/>
          </a:p>
        </p:txBody>
      </p:sp>
      <p:sp>
        <p:nvSpPr>
          <p:cNvPr id="7" name="Shape 5"/>
          <p:cNvSpPr/>
          <p:nvPr/>
        </p:nvSpPr>
        <p:spPr>
          <a:xfrm>
            <a:off x="3383280" y="1874520"/>
            <a:ext cx="2606040" cy="4160520"/>
          </a:xfrm>
          <a:prstGeom prst="roundRect">
            <a:avLst>
              <a:gd name="adj" fmla="val 2105"/>
            </a:avLst>
          </a:prstGeom>
          <a:solidFill>
            <a:srgbClr val="1B5E20"/>
          </a:solidFill>
          <a:ln/>
        </p:spPr>
      </p:sp>
      <p:sp>
        <p:nvSpPr>
          <p:cNvPr id="8" name="Text 6"/>
          <p:cNvSpPr/>
          <p:nvPr/>
        </p:nvSpPr>
        <p:spPr>
          <a:xfrm>
            <a:off x="3566160" y="2148840"/>
            <a:ext cx="224028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Move</a:t>
            </a:r>
            <a:endParaRPr lang="en-US" sz="2200" dirty="0"/>
          </a:p>
        </p:txBody>
      </p:sp>
      <p:sp>
        <p:nvSpPr>
          <p:cNvPr id="9" name="Text 7"/>
          <p:cNvSpPr/>
          <p:nvPr/>
        </p:nvSpPr>
        <p:spPr>
          <a:xfrm>
            <a:off x="3566160" y="2834640"/>
            <a:ext cx="2240280" cy="2926080"/>
          </a:xfrm>
          <a:prstGeom prst="rect">
            <a:avLst/>
          </a:prstGeom>
          <a:noFill/>
          <a:ln/>
        </p:spPr>
        <p:txBody>
          <a:bodyPr wrap="square" rtlCol="0" anchor="ctr"/>
          <a:lstStyle/>
          <a:p>
            <a:pPr marL="0" indent="0">
              <a:lnSpc>
                <a:spcPct val="130000"/>
              </a:lnSpc>
              <a:buNone/>
            </a:pPr>
            <a:r>
              <a:rPr lang="en-US" sz="1600" b="1" dirty="0">
                <a:solidFill>
                  <a:srgbClr val="E8F5E9"/>
                </a:solidFill>
                <a:latin typeface="Calibri" pitchFamily="34" charset="0"/>
                <a:ea typeface="Calibri" pitchFamily="34" charset="-122"/>
                <a:cs typeface="Calibri" pitchFamily="34" charset="-120"/>
              </a:rPr>
              <a:t>Schedule refrigerated transport with transparent pricing, so tomatoes travel cold instead of bruised and overheated.</a:t>
            </a:r>
            <a:endParaRPr lang="en-US" sz="1600" b="1" dirty="0"/>
          </a:p>
        </p:txBody>
      </p:sp>
      <p:sp>
        <p:nvSpPr>
          <p:cNvPr id="10" name="Shape 8"/>
          <p:cNvSpPr/>
          <p:nvPr/>
        </p:nvSpPr>
        <p:spPr>
          <a:xfrm>
            <a:off x="6126480" y="1874520"/>
            <a:ext cx="2606040" cy="4160520"/>
          </a:xfrm>
          <a:prstGeom prst="roundRect">
            <a:avLst>
              <a:gd name="adj" fmla="val 2105"/>
            </a:avLst>
          </a:prstGeom>
          <a:solidFill>
            <a:srgbClr val="2E7D32"/>
          </a:solidFill>
          <a:ln/>
        </p:spPr>
      </p:sp>
      <p:sp>
        <p:nvSpPr>
          <p:cNvPr id="11" name="Text 9"/>
          <p:cNvSpPr/>
          <p:nvPr/>
        </p:nvSpPr>
        <p:spPr>
          <a:xfrm>
            <a:off x="6309360" y="2148840"/>
            <a:ext cx="224028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Sell</a:t>
            </a:r>
            <a:endParaRPr lang="en-US" sz="2200" dirty="0"/>
          </a:p>
        </p:txBody>
      </p:sp>
      <p:sp>
        <p:nvSpPr>
          <p:cNvPr id="12" name="Text 10"/>
          <p:cNvSpPr/>
          <p:nvPr/>
        </p:nvSpPr>
        <p:spPr>
          <a:xfrm>
            <a:off x="6309360" y="2834640"/>
            <a:ext cx="2240280" cy="2926080"/>
          </a:xfrm>
          <a:prstGeom prst="rect">
            <a:avLst/>
          </a:prstGeom>
          <a:noFill/>
          <a:ln/>
        </p:spPr>
        <p:txBody>
          <a:bodyPr wrap="square" rtlCol="0" anchor="ctr"/>
          <a:lstStyle/>
          <a:p>
            <a:pPr marL="0" indent="0">
              <a:lnSpc>
                <a:spcPct val="130000"/>
              </a:lnSpc>
              <a:buNone/>
            </a:pPr>
            <a:r>
              <a:rPr lang="en-US" sz="1600" b="1" dirty="0">
                <a:solidFill>
                  <a:srgbClr val="E8F5E9"/>
                </a:solidFill>
                <a:latin typeface="Calibri" pitchFamily="34" charset="0"/>
                <a:ea typeface="Calibri" pitchFamily="34" charset="-122"/>
                <a:cs typeface="Calibri" pitchFamily="34" charset="-120"/>
              </a:rPr>
              <a:t>List produce directly to verified buyers, wholesalers, retailers and processors, with live market prices guiding every decision.</a:t>
            </a:r>
            <a:endParaRPr lang="en-US" sz="1600" b="1" dirty="0"/>
          </a:p>
        </p:txBody>
      </p:sp>
      <p:sp>
        <p:nvSpPr>
          <p:cNvPr id="13" name="Shape 11"/>
          <p:cNvSpPr/>
          <p:nvPr/>
        </p:nvSpPr>
        <p:spPr>
          <a:xfrm>
            <a:off x="8869680" y="1874520"/>
            <a:ext cx="2606040" cy="4160520"/>
          </a:xfrm>
          <a:prstGeom prst="roundRect">
            <a:avLst>
              <a:gd name="adj" fmla="val 2105"/>
            </a:avLst>
          </a:prstGeom>
          <a:solidFill>
            <a:srgbClr val="1B5E20"/>
          </a:solidFill>
          <a:ln/>
        </p:spPr>
      </p:sp>
      <p:sp>
        <p:nvSpPr>
          <p:cNvPr id="14" name="Text 12"/>
          <p:cNvSpPr/>
          <p:nvPr/>
        </p:nvSpPr>
        <p:spPr>
          <a:xfrm>
            <a:off x="9052560" y="2148840"/>
            <a:ext cx="224028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Track</a:t>
            </a:r>
            <a:endParaRPr lang="en-US" sz="2200" dirty="0"/>
          </a:p>
        </p:txBody>
      </p:sp>
      <p:sp>
        <p:nvSpPr>
          <p:cNvPr id="15" name="Text 13"/>
          <p:cNvSpPr/>
          <p:nvPr/>
        </p:nvSpPr>
        <p:spPr>
          <a:xfrm>
            <a:off x="9052560" y="2834640"/>
            <a:ext cx="2240280" cy="2926080"/>
          </a:xfrm>
          <a:prstGeom prst="rect">
            <a:avLst/>
          </a:prstGeom>
          <a:noFill/>
          <a:ln/>
        </p:spPr>
        <p:txBody>
          <a:bodyPr wrap="square" rtlCol="0" anchor="ctr"/>
          <a:lstStyle/>
          <a:p>
            <a:pPr marL="0" indent="0">
              <a:lnSpc>
                <a:spcPct val="130000"/>
              </a:lnSpc>
              <a:buNone/>
            </a:pPr>
            <a:r>
              <a:rPr lang="en-US" sz="1600" b="1" dirty="0">
                <a:solidFill>
                  <a:srgbClr val="E8F5E9"/>
                </a:solidFill>
                <a:latin typeface="Calibri" pitchFamily="34" charset="0"/>
                <a:ea typeface="Calibri" pitchFamily="34" charset="-122"/>
                <a:cs typeface="Calibri" pitchFamily="34" charset="-120"/>
              </a:rPr>
              <a:t>Follow every shipment from pickup to delivery in real time, with proof of delivery and ratings closing the loop.</a:t>
            </a:r>
            <a:endParaRPr lang="en-US" sz="1600" b="1" dirty="0"/>
          </a:p>
        </p:txBody>
      </p:sp>
      <p:sp>
        <p:nvSpPr>
          <p:cNvPr id="16" name="Text 14"/>
          <p:cNvSpPr/>
          <p:nvPr/>
        </p:nvSpPr>
        <p:spPr>
          <a:xfrm>
            <a:off x="640080" y="6263640"/>
            <a:ext cx="10881360" cy="365760"/>
          </a:xfrm>
          <a:prstGeom prst="rect">
            <a:avLst/>
          </a:prstGeom>
          <a:noFill/>
          <a:ln/>
        </p:spPr>
        <p:txBody>
          <a:bodyPr wrap="square" rtlCol="0" anchor="ctr"/>
          <a:lstStyle/>
          <a:p>
            <a:pPr marL="0" indent="0">
              <a:buNone/>
            </a:pPr>
            <a:r>
              <a:rPr lang="en-US" sz="1150" i="1" dirty="0">
                <a:solidFill>
                  <a:srgbClr val="5F6368"/>
                </a:solidFill>
                <a:latin typeface="Calibri" pitchFamily="34" charset="0"/>
                <a:ea typeface="Calibri" pitchFamily="34" charset="-122"/>
                <a:cs typeface="Calibri" pitchFamily="34" charset="-120"/>
              </a:rPr>
              <a:t>Existing solutions only address one part of the supply chain. TomaLink integrates storage, transportation, marketplace and tracking into one seamless platform.</a:t>
            </a:r>
            <a:endParaRPr lang="en-US" sz="1150" dirty="0"/>
          </a:p>
        </p:txBody>
      </p:sp>
      <p:sp>
        <p:nvSpPr>
          <p:cNvPr id="17" name="Text 15"/>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OBJECTIVES</a:t>
            </a:r>
            <a:endParaRPr lang="en-US" sz="3200" dirty="0"/>
          </a:p>
        </p:txBody>
      </p:sp>
      <p:sp>
        <p:nvSpPr>
          <p:cNvPr id="3" name="Text 1"/>
          <p:cNvSpPr/>
          <p:nvPr/>
        </p:nvSpPr>
        <p:spPr>
          <a:xfrm>
            <a:off x="640080" y="441065"/>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What success looks like, for the business and for the people using it</a:t>
            </a:r>
            <a:endParaRPr lang="en-US" sz="2000" dirty="0"/>
          </a:p>
        </p:txBody>
      </p:sp>
      <p:sp>
        <p:nvSpPr>
          <p:cNvPr id="4" name="Shape 2"/>
          <p:cNvSpPr/>
          <p:nvPr/>
        </p:nvSpPr>
        <p:spPr>
          <a:xfrm>
            <a:off x="640080" y="1828800"/>
            <a:ext cx="5212080" cy="4343400"/>
          </a:xfrm>
          <a:prstGeom prst="roundRect">
            <a:avLst>
              <a:gd name="adj" fmla="val 1263"/>
            </a:avLst>
          </a:prstGeom>
          <a:solidFill>
            <a:srgbClr val="EAF5EB"/>
          </a:solidFill>
          <a:ln/>
        </p:spPr>
      </p:sp>
      <p:sp>
        <p:nvSpPr>
          <p:cNvPr id="5" name="Text 3"/>
          <p:cNvSpPr/>
          <p:nvPr/>
        </p:nvSpPr>
        <p:spPr>
          <a:xfrm>
            <a:off x="766483" y="1922930"/>
            <a:ext cx="4663440" cy="320040"/>
          </a:xfrm>
          <a:prstGeom prst="rect">
            <a:avLst/>
          </a:prstGeom>
          <a:noFill/>
          <a:ln/>
        </p:spPr>
        <p:txBody>
          <a:bodyPr wrap="square" rtlCol="0" anchor="ctr"/>
          <a:lstStyle/>
          <a:p>
            <a:pPr marL="0" indent="0">
              <a:buNone/>
            </a:pPr>
            <a:r>
              <a:rPr lang="en-US" sz="2000" b="1" kern="0" spc="150" dirty="0">
                <a:solidFill>
                  <a:srgbClr val="2E7D32"/>
                </a:solidFill>
                <a:latin typeface="Calibri" pitchFamily="34" charset="0"/>
                <a:ea typeface="Calibri" pitchFamily="34" charset="-122"/>
                <a:cs typeface="Calibri" pitchFamily="34" charset="-120"/>
              </a:rPr>
              <a:t>BUSINESS OBJECTIVES</a:t>
            </a:r>
            <a:endParaRPr lang="en-US" sz="2000" dirty="0"/>
          </a:p>
        </p:txBody>
      </p:sp>
      <p:sp>
        <p:nvSpPr>
          <p:cNvPr id="6" name="Text 4"/>
          <p:cNvSpPr/>
          <p:nvPr/>
        </p:nvSpPr>
        <p:spPr>
          <a:xfrm>
            <a:off x="914400" y="2468880"/>
            <a:ext cx="4663440" cy="658368"/>
          </a:xfrm>
          <a:prstGeom prst="rect">
            <a:avLst/>
          </a:prstGeom>
          <a:noFill/>
          <a:ln/>
        </p:spPr>
        <p:txBody>
          <a:bodyPr wrap="square" rtlCol="0" anchor="ctr"/>
          <a:lstStyle/>
          <a:p>
            <a:pPr marL="342900" indent="-342900">
              <a:lnSpc>
                <a:spcPct val="120000"/>
              </a:lnSpc>
              <a:buSzPct val="100000"/>
              <a:buChar char="•"/>
            </a:pPr>
            <a:r>
              <a:rPr lang="en-US" sz="1400" b="1" dirty="0">
                <a:solidFill>
                  <a:srgbClr val="1C1C1C"/>
                </a:solidFill>
                <a:latin typeface="Times New Roman" panose="02020603050405020304" pitchFamily="18" charset="0"/>
                <a:ea typeface="Calibri" pitchFamily="34" charset="-122"/>
                <a:cs typeface="Times New Roman" panose="02020603050405020304" pitchFamily="18" charset="0"/>
              </a:rPr>
              <a:t>Reduce post harvest losses by 30% within the first year</a:t>
            </a:r>
            <a:endParaRPr lang="en-US" sz="1400" b="1" dirty="0">
              <a:latin typeface="Times New Roman" panose="02020603050405020304" pitchFamily="18" charset="0"/>
              <a:cs typeface="Times New Roman" panose="02020603050405020304" pitchFamily="18" charset="0"/>
            </a:endParaRPr>
          </a:p>
        </p:txBody>
      </p:sp>
      <p:sp>
        <p:nvSpPr>
          <p:cNvPr id="7" name="Text 5"/>
          <p:cNvSpPr/>
          <p:nvPr/>
        </p:nvSpPr>
        <p:spPr>
          <a:xfrm>
            <a:off x="914400" y="3182112"/>
            <a:ext cx="4663440" cy="658368"/>
          </a:xfrm>
          <a:prstGeom prst="rect">
            <a:avLst/>
          </a:prstGeom>
          <a:noFill/>
          <a:ln/>
        </p:spPr>
        <p:txBody>
          <a:bodyPr wrap="square" rtlCol="0" anchor="ctr"/>
          <a:lstStyle/>
          <a:p>
            <a:pPr marL="342900" indent="-342900">
              <a:lnSpc>
                <a:spcPct val="120000"/>
              </a:lnSpc>
              <a:buSzPct val="100000"/>
              <a:buChar char="•"/>
            </a:pPr>
            <a:r>
              <a:rPr lang="en-US" sz="1400" b="1" dirty="0">
                <a:solidFill>
                  <a:srgbClr val="1C1C1C"/>
                </a:solidFill>
                <a:latin typeface="Times New Roman" panose="02020603050405020304" pitchFamily="18" charset="0"/>
                <a:ea typeface="Calibri" pitchFamily="34" charset="-122"/>
                <a:cs typeface="Times New Roman" panose="02020603050405020304" pitchFamily="18" charset="0"/>
              </a:rPr>
              <a:t>Increase average farmer income by 20% within 12 months</a:t>
            </a:r>
            <a:endParaRPr lang="en-US" sz="1400" b="1" dirty="0">
              <a:latin typeface="Times New Roman" panose="02020603050405020304" pitchFamily="18" charset="0"/>
              <a:cs typeface="Times New Roman" panose="02020603050405020304" pitchFamily="18" charset="0"/>
            </a:endParaRPr>
          </a:p>
        </p:txBody>
      </p:sp>
      <p:sp>
        <p:nvSpPr>
          <p:cNvPr id="8" name="Text 6"/>
          <p:cNvSpPr/>
          <p:nvPr/>
        </p:nvSpPr>
        <p:spPr>
          <a:xfrm>
            <a:off x="914400" y="3895344"/>
            <a:ext cx="4663440" cy="658368"/>
          </a:xfrm>
          <a:prstGeom prst="rect">
            <a:avLst/>
          </a:prstGeom>
          <a:noFill/>
          <a:ln/>
        </p:spPr>
        <p:txBody>
          <a:bodyPr wrap="square" rtlCol="0" anchor="ctr"/>
          <a:lstStyle/>
          <a:p>
            <a:pPr marL="342900" indent="-342900">
              <a:lnSpc>
                <a:spcPct val="120000"/>
              </a:lnSpc>
              <a:buSzPct val="100000"/>
              <a:buChar char="•"/>
            </a:pPr>
            <a:r>
              <a:rPr lang="en-US" sz="1400" b="1" dirty="0">
                <a:solidFill>
                  <a:srgbClr val="1C1C1C"/>
                </a:solidFill>
                <a:latin typeface="Times New Roman" panose="02020603050405020304" pitchFamily="18" charset="0"/>
                <a:ea typeface="Calibri" pitchFamily="34" charset="-122"/>
                <a:cs typeface="Times New Roman" panose="02020603050405020304" pitchFamily="18" charset="0"/>
              </a:rPr>
              <a:t>Cut the average farm to market time by 25%</a:t>
            </a:r>
            <a:endParaRPr lang="en-US" sz="1400" b="1" dirty="0">
              <a:latin typeface="Times New Roman" panose="02020603050405020304" pitchFamily="18" charset="0"/>
              <a:cs typeface="Times New Roman" panose="02020603050405020304" pitchFamily="18" charset="0"/>
            </a:endParaRPr>
          </a:p>
        </p:txBody>
      </p:sp>
      <p:sp>
        <p:nvSpPr>
          <p:cNvPr id="9" name="Text 7"/>
          <p:cNvSpPr/>
          <p:nvPr/>
        </p:nvSpPr>
        <p:spPr>
          <a:xfrm>
            <a:off x="914400" y="4608576"/>
            <a:ext cx="4663440" cy="658368"/>
          </a:xfrm>
          <a:prstGeom prst="rect">
            <a:avLst/>
          </a:prstGeom>
          <a:noFill/>
          <a:ln/>
        </p:spPr>
        <p:txBody>
          <a:bodyPr wrap="square" rtlCol="0" anchor="ctr"/>
          <a:lstStyle/>
          <a:p>
            <a:pPr marL="342900" indent="-342900">
              <a:lnSpc>
                <a:spcPct val="120000"/>
              </a:lnSpc>
              <a:buSzPct val="100000"/>
              <a:buChar char="•"/>
            </a:pPr>
            <a:r>
              <a:rPr lang="en-US" sz="1400" b="1" dirty="0">
                <a:solidFill>
                  <a:srgbClr val="1C1C1C"/>
                </a:solidFill>
                <a:latin typeface="Times New Roman" panose="02020603050405020304" pitchFamily="18" charset="0"/>
                <a:ea typeface="Calibri" pitchFamily="34" charset="-122"/>
                <a:cs typeface="Times New Roman" panose="02020603050405020304" pitchFamily="18" charset="0"/>
              </a:rPr>
              <a:t>Onboard 5,000 farmers, 1,000 buyers, 100 logistics providers and 50 storage partners in year one</a:t>
            </a:r>
            <a:endParaRPr lang="en-US" sz="1400" b="1" dirty="0">
              <a:latin typeface="Times New Roman" panose="02020603050405020304" pitchFamily="18" charset="0"/>
              <a:cs typeface="Times New Roman" panose="02020603050405020304" pitchFamily="18" charset="0"/>
            </a:endParaRPr>
          </a:p>
        </p:txBody>
      </p:sp>
      <p:sp>
        <p:nvSpPr>
          <p:cNvPr id="10" name="Text 8"/>
          <p:cNvSpPr/>
          <p:nvPr/>
        </p:nvSpPr>
        <p:spPr>
          <a:xfrm>
            <a:off x="914400" y="5321808"/>
            <a:ext cx="4663440" cy="658368"/>
          </a:xfrm>
          <a:prstGeom prst="rect">
            <a:avLst/>
          </a:prstGeom>
          <a:noFill/>
          <a:ln/>
        </p:spPr>
        <p:txBody>
          <a:bodyPr wrap="square" rtlCol="0" anchor="ctr"/>
          <a:lstStyle/>
          <a:p>
            <a:pPr marL="342900" indent="-342900">
              <a:lnSpc>
                <a:spcPct val="120000"/>
              </a:lnSpc>
              <a:buSzPct val="100000"/>
              <a:buChar char="•"/>
            </a:pPr>
            <a:r>
              <a:rPr lang="en-US" sz="1400" b="1" dirty="0">
                <a:solidFill>
                  <a:srgbClr val="1C1C1C"/>
                </a:solidFill>
                <a:latin typeface="Times New Roman" panose="02020603050405020304" pitchFamily="18" charset="0"/>
                <a:ea typeface="Calibri" pitchFamily="34" charset="-122"/>
                <a:cs typeface="Times New Roman" panose="02020603050405020304" pitchFamily="18" charset="0"/>
              </a:rPr>
              <a:t>Build sustainable revenue through commissions on bookings and sales</a:t>
            </a:r>
            <a:endParaRPr lang="en-US" sz="1400" b="1" dirty="0">
              <a:latin typeface="Times New Roman" panose="02020603050405020304" pitchFamily="18" charset="0"/>
              <a:cs typeface="Times New Roman" panose="02020603050405020304" pitchFamily="18" charset="0"/>
            </a:endParaRPr>
          </a:p>
        </p:txBody>
      </p:sp>
      <p:sp>
        <p:nvSpPr>
          <p:cNvPr id="11" name="Shape 9"/>
          <p:cNvSpPr/>
          <p:nvPr/>
        </p:nvSpPr>
        <p:spPr>
          <a:xfrm>
            <a:off x="6263640" y="1828800"/>
            <a:ext cx="5257800" cy="4343400"/>
          </a:xfrm>
          <a:prstGeom prst="roundRect">
            <a:avLst>
              <a:gd name="adj" fmla="val 1263"/>
            </a:avLst>
          </a:prstGeom>
          <a:solidFill>
            <a:srgbClr val="2E7D32"/>
          </a:solidFill>
          <a:ln/>
        </p:spPr>
      </p:sp>
      <p:sp>
        <p:nvSpPr>
          <p:cNvPr id="12" name="Text 10"/>
          <p:cNvSpPr/>
          <p:nvPr/>
        </p:nvSpPr>
        <p:spPr>
          <a:xfrm>
            <a:off x="6390043" y="1922930"/>
            <a:ext cx="4709160" cy="320040"/>
          </a:xfrm>
          <a:prstGeom prst="rect">
            <a:avLst/>
          </a:prstGeom>
          <a:noFill/>
          <a:ln/>
        </p:spPr>
        <p:txBody>
          <a:bodyPr wrap="square" rtlCol="0" anchor="ctr"/>
          <a:lstStyle/>
          <a:p>
            <a:pPr marL="0" indent="0">
              <a:buNone/>
            </a:pPr>
            <a:r>
              <a:rPr lang="en-US" sz="2000" b="1" kern="0" spc="150" dirty="0">
                <a:solidFill>
                  <a:srgbClr val="FFFFFF"/>
                </a:solidFill>
                <a:latin typeface="Calibri" pitchFamily="34" charset="0"/>
                <a:ea typeface="Calibri" pitchFamily="34" charset="-122"/>
                <a:cs typeface="Calibri" pitchFamily="34" charset="-120"/>
              </a:rPr>
              <a:t>USER OBJECTIVES</a:t>
            </a:r>
            <a:endParaRPr lang="en-US" sz="2000" dirty="0"/>
          </a:p>
        </p:txBody>
      </p:sp>
      <p:sp>
        <p:nvSpPr>
          <p:cNvPr id="13" name="Text 11"/>
          <p:cNvSpPr/>
          <p:nvPr/>
        </p:nvSpPr>
        <p:spPr>
          <a:xfrm>
            <a:off x="6537960" y="2468880"/>
            <a:ext cx="4709160" cy="658368"/>
          </a:xfrm>
          <a:prstGeom prst="rect">
            <a:avLst/>
          </a:prstGeom>
          <a:noFill/>
          <a:ln/>
        </p:spPr>
        <p:txBody>
          <a:bodyPr wrap="square" rtlCol="0" anchor="ctr"/>
          <a:lstStyle/>
          <a:p>
            <a:pPr marL="342900" indent="-342900">
              <a:lnSpc>
                <a:spcPct val="120000"/>
              </a:lnSpc>
              <a:buSzPct val="100000"/>
              <a:buChar char="•"/>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Give farmers and traders easy access to nearby cold storage</a:t>
            </a:r>
            <a:endParaRPr lang="en-US" sz="1400" b="1" dirty="0">
              <a:latin typeface="Times New Roman" panose="02020603050405020304" pitchFamily="18" charset="0"/>
              <a:cs typeface="Times New Roman" panose="02020603050405020304" pitchFamily="18" charset="0"/>
            </a:endParaRPr>
          </a:p>
        </p:txBody>
      </p:sp>
      <p:sp>
        <p:nvSpPr>
          <p:cNvPr id="14" name="Text 12"/>
          <p:cNvSpPr/>
          <p:nvPr/>
        </p:nvSpPr>
        <p:spPr>
          <a:xfrm>
            <a:off x="6537960" y="3182112"/>
            <a:ext cx="4709160" cy="658368"/>
          </a:xfrm>
          <a:prstGeom prst="rect">
            <a:avLst/>
          </a:prstGeom>
          <a:noFill/>
          <a:ln/>
        </p:spPr>
        <p:txBody>
          <a:bodyPr wrap="square" rtlCol="0" anchor="ctr"/>
          <a:lstStyle/>
          <a:p>
            <a:pPr marL="342900" indent="-342900">
              <a:lnSpc>
                <a:spcPct val="120000"/>
              </a:lnSpc>
              <a:buSzPct val="100000"/>
              <a:buChar char="•"/>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Let users search, compare and book storage and transport in one place</a:t>
            </a:r>
            <a:endParaRPr lang="en-US" sz="1400" b="1" dirty="0">
              <a:latin typeface="Times New Roman" panose="02020603050405020304" pitchFamily="18" charset="0"/>
              <a:cs typeface="Times New Roman" panose="02020603050405020304" pitchFamily="18" charset="0"/>
            </a:endParaRPr>
          </a:p>
        </p:txBody>
      </p:sp>
      <p:sp>
        <p:nvSpPr>
          <p:cNvPr id="15" name="Text 13"/>
          <p:cNvSpPr/>
          <p:nvPr/>
        </p:nvSpPr>
        <p:spPr>
          <a:xfrm>
            <a:off x="6537960" y="3895344"/>
            <a:ext cx="4709160" cy="658368"/>
          </a:xfrm>
          <a:prstGeom prst="rect">
            <a:avLst/>
          </a:prstGeom>
          <a:noFill/>
          <a:ln/>
        </p:spPr>
        <p:txBody>
          <a:bodyPr wrap="square" rtlCol="0" anchor="ctr"/>
          <a:lstStyle/>
          <a:p>
            <a:pPr marL="342900" indent="-342900">
              <a:lnSpc>
                <a:spcPct val="120000"/>
              </a:lnSpc>
              <a:buSzPct val="100000"/>
              <a:buChar char="•"/>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Connect farmers directly with verified buyers, cutting out unnecessary middlemen</a:t>
            </a:r>
            <a:endParaRPr lang="en-US" sz="1400" b="1" dirty="0">
              <a:latin typeface="Times New Roman" panose="02020603050405020304" pitchFamily="18" charset="0"/>
              <a:cs typeface="Times New Roman" panose="02020603050405020304" pitchFamily="18" charset="0"/>
            </a:endParaRPr>
          </a:p>
        </p:txBody>
      </p:sp>
      <p:sp>
        <p:nvSpPr>
          <p:cNvPr id="16" name="Text 14"/>
          <p:cNvSpPr/>
          <p:nvPr/>
        </p:nvSpPr>
        <p:spPr>
          <a:xfrm>
            <a:off x="6537960" y="4608576"/>
            <a:ext cx="4709160" cy="658368"/>
          </a:xfrm>
          <a:prstGeom prst="rect">
            <a:avLst/>
          </a:prstGeom>
          <a:noFill/>
          <a:ln/>
        </p:spPr>
        <p:txBody>
          <a:bodyPr wrap="square" rtlCol="0" anchor="ctr"/>
          <a:lstStyle/>
          <a:p>
            <a:pPr marL="342900" indent="-342900">
              <a:lnSpc>
                <a:spcPct val="120000"/>
              </a:lnSpc>
              <a:buSzPct val="100000"/>
              <a:buChar char="•"/>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Show live prices, storage availability and delivery status at all times</a:t>
            </a:r>
            <a:endParaRPr lang="en-US" sz="1400" b="1" dirty="0">
              <a:latin typeface="Times New Roman" panose="02020603050405020304" pitchFamily="18" charset="0"/>
              <a:cs typeface="Times New Roman" panose="02020603050405020304" pitchFamily="18" charset="0"/>
            </a:endParaRPr>
          </a:p>
        </p:txBody>
      </p:sp>
      <p:sp>
        <p:nvSpPr>
          <p:cNvPr id="17" name="Text 15"/>
          <p:cNvSpPr/>
          <p:nvPr/>
        </p:nvSpPr>
        <p:spPr>
          <a:xfrm>
            <a:off x="6537960" y="5321808"/>
            <a:ext cx="4709160" cy="658368"/>
          </a:xfrm>
          <a:prstGeom prst="rect">
            <a:avLst/>
          </a:prstGeom>
          <a:noFill/>
          <a:ln/>
        </p:spPr>
        <p:txBody>
          <a:bodyPr wrap="square" rtlCol="0" anchor="ctr"/>
          <a:lstStyle/>
          <a:p>
            <a:pPr marL="342900" indent="-342900">
              <a:lnSpc>
                <a:spcPct val="120000"/>
              </a:lnSpc>
              <a:buSzPct val="100000"/>
              <a:buChar char="•"/>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Keep the whole experience simple, transparent and fast to use</a:t>
            </a:r>
            <a:endParaRPr lang="en-US" sz="1400" b="1" dirty="0">
              <a:latin typeface="Times New Roman" panose="02020603050405020304" pitchFamily="18" charset="0"/>
              <a:cs typeface="Times New Roman" panose="02020603050405020304" pitchFamily="18" charset="0"/>
            </a:endParaRPr>
          </a:p>
        </p:txBody>
      </p:sp>
      <p:sp>
        <p:nvSpPr>
          <p:cNvPr id="18" name="Text 16"/>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WHO USES TOMALINK</a:t>
            </a:r>
            <a:endParaRPr lang="en-US" sz="3200" dirty="0"/>
          </a:p>
        </p:txBody>
      </p:sp>
      <p:sp>
        <p:nvSpPr>
          <p:cNvPr id="3" name="Text 1"/>
          <p:cNvSpPr/>
          <p:nvPr/>
        </p:nvSpPr>
        <p:spPr>
          <a:xfrm>
            <a:off x="640080" y="508300"/>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Five roles, one coordinated platform</a:t>
            </a:r>
            <a:endParaRPr lang="en-US" sz="2000" dirty="0"/>
          </a:p>
        </p:txBody>
      </p:sp>
      <p:sp>
        <p:nvSpPr>
          <p:cNvPr id="4" name="Shape 2"/>
          <p:cNvSpPr/>
          <p:nvPr/>
        </p:nvSpPr>
        <p:spPr>
          <a:xfrm>
            <a:off x="640080" y="1874520"/>
            <a:ext cx="2048256" cy="4206240"/>
          </a:xfrm>
          <a:prstGeom prst="roundRect">
            <a:avLst>
              <a:gd name="adj" fmla="val 2679"/>
            </a:avLst>
          </a:prstGeom>
          <a:solidFill>
            <a:srgbClr val="EAF5EB"/>
          </a:solidFill>
          <a:ln/>
        </p:spPr>
      </p:sp>
      <p:sp>
        <p:nvSpPr>
          <p:cNvPr id="5" name="Text 3"/>
          <p:cNvSpPr/>
          <p:nvPr/>
        </p:nvSpPr>
        <p:spPr>
          <a:xfrm>
            <a:off x="777240" y="2318272"/>
            <a:ext cx="1773936" cy="640080"/>
          </a:xfrm>
          <a:prstGeom prst="rect">
            <a:avLst/>
          </a:prstGeom>
          <a:noFill/>
          <a:ln/>
        </p:spPr>
        <p:txBody>
          <a:bodyPr wrap="square" rtlCol="0" anchor="ctr"/>
          <a:lstStyle/>
          <a:p>
            <a:pPr marL="0" indent="0">
              <a:buNone/>
            </a:pPr>
            <a:r>
              <a:rPr lang="en-US" b="1" dirty="0">
                <a:solidFill>
                  <a:srgbClr val="2E7D32"/>
                </a:solidFill>
                <a:latin typeface="Calibri" pitchFamily="34" charset="0"/>
                <a:ea typeface="Calibri" pitchFamily="34" charset="-122"/>
                <a:cs typeface="Calibri" pitchFamily="34" charset="-120"/>
              </a:rPr>
              <a:t>Farmer</a:t>
            </a:r>
            <a:endParaRPr lang="en-US" dirty="0"/>
          </a:p>
        </p:txBody>
      </p:sp>
      <p:sp>
        <p:nvSpPr>
          <p:cNvPr id="6" name="Text 4"/>
          <p:cNvSpPr/>
          <p:nvPr/>
        </p:nvSpPr>
        <p:spPr>
          <a:xfrm>
            <a:off x="777240" y="2600662"/>
            <a:ext cx="1773936" cy="3108960"/>
          </a:xfrm>
          <a:prstGeom prst="rect">
            <a:avLst/>
          </a:prstGeom>
          <a:noFill/>
          <a:ln/>
        </p:spPr>
        <p:txBody>
          <a:bodyPr wrap="square" rtlCol="0" anchor="ctr"/>
          <a:lstStyle/>
          <a:p>
            <a:pPr marL="0" indent="0" algn="ctr">
              <a:lnSpc>
                <a:spcPct val="125000"/>
              </a:lnSpc>
              <a:buNone/>
            </a:pPr>
            <a:r>
              <a:rPr lang="en-US" sz="1400" b="1" dirty="0">
                <a:solidFill>
                  <a:srgbClr val="1C1C1C"/>
                </a:solidFill>
                <a:latin typeface="Times New Roman" panose="02020603050405020304" pitchFamily="18" charset="0"/>
                <a:ea typeface="Cascadia Code" panose="020B0609020000020004" pitchFamily="49" charset="0"/>
                <a:cs typeface="Times New Roman" panose="02020603050405020304" pitchFamily="18" charset="0"/>
              </a:rPr>
              <a:t>Registers harvests, lists produce, requests transport, books storage, tracks sales and receives payment.</a:t>
            </a:r>
            <a:endParaRPr lang="en-US" sz="1400" b="1" dirty="0">
              <a:latin typeface="Times New Roman" panose="02020603050405020304" pitchFamily="18" charset="0"/>
              <a:cs typeface="Times New Roman" panose="02020603050405020304" pitchFamily="18" charset="0"/>
            </a:endParaRPr>
          </a:p>
        </p:txBody>
      </p:sp>
      <p:sp>
        <p:nvSpPr>
          <p:cNvPr id="7" name="Shape 5"/>
          <p:cNvSpPr/>
          <p:nvPr/>
        </p:nvSpPr>
        <p:spPr>
          <a:xfrm>
            <a:off x="2807208" y="1874520"/>
            <a:ext cx="2048256" cy="4206240"/>
          </a:xfrm>
          <a:prstGeom prst="roundRect">
            <a:avLst>
              <a:gd name="adj" fmla="val 2679"/>
            </a:avLst>
          </a:prstGeom>
          <a:solidFill>
            <a:srgbClr val="1B5E20"/>
          </a:solidFill>
          <a:ln/>
        </p:spPr>
      </p:sp>
      <p:sp>
        <p:nvSpPr>
          <p:cNvPr id="8" name="Text 6"/>
          <p:cNvSpPr/>
          <p:nvPr/>
        </p:nvSpPr>
        <p:spPr>
          <a:xfrm>
            <a:off x="2944368" y="2318272"/>
            <a:ext cx="1773936" cy="640080"/>
          </a:xfrm>
          <a:prstGeom prst="rect">
            <a:avLst/>
          </a:prstGeom>
          <a:noFill/>
          <a:ln/>
        </p:spPr>
        <p:txBody>
          <a:bodyPr wrap="square" rtlCol="0" anchor="ctr"/>
          <a:lstStyle/>
          <a:p>
            <a:pPr marL="0" indent="0">
              <a:buNone/>
            </a:pPr>
            <a:r>
              <a:rPr lang="en-US" b="1" dirty="0">
                <a:solidFill>
                  <a:schemeClr val="bg1"/>
                </a:solidFill>
                <a:latin typeface="Calibri" pitchFamily="34" charset="0"/>
                <a:ea typeface="Calibri" pitchFamily="34" charset="-122"/>
                <a:cs typeface="Calibri" pitchFamily="34" charset="-120"/>
              </a:rPr>
              <a:t>Buyer</a:t>
            </a:r>
            <a:endParaRPr lang="en-US" dirty="0">
              <a:solidFill>
                <a:schemeClr val="bg1"/>
              </a:solidFill>
            </a:endParaRPr>
          </a:p>
        </p:txBody>
      </p:sp>
      <p:sp>
        <p:nvSpPr>
          <p:cNvPr id="9" name="Text 7"/>
          <p:cNvSpPr/>
          <p:nvPr/>
        </p:nvSpPr>
        <p:spPr>
          <a:xfrm>
            <a:off x="2944368" y="2600662"/>
            <a:ext cx="1773936" cy="3108960"/>
          </a:xfrm>
          <a:prstGeom prst="rect">
            <a:avLst/>
          </a:prstGeom>
          <a:noFill/>
          <a:ln/>
        </p:spPr>
        <p:txBody>
          <a:bodyPr wrap="square" rtlCol="0" anchor="ctr"/>
          <a:lstStyle/>
          <a:p>
            <a:pPr marL="0" indent="0" algn="ctr">
              <a:lnSpc>
                <a:spcPct val="125000"/>
              </a:lnSpc>
              <a:buNone/>
            </a:pPr>
            <a:r>
              <a:rPr lang="en-US" sz="1400" b="1" dirty="0">
                <a:solidFill>
                  <a:schemeClr val="bg1"/>
                </a:solidFill>
                <a:latin typeface="Times New Roman" panose="02020603050405020304" pitchFamily="18" charset="0"/>
                <a:ea typeface="Cascadia Code" panose="020B0609020000020004" pitchFamily="49" charset="0"/>
                <a:cs typeface="Times New Roman" panose="02020603050405020304" pitchFamily="18" charset="0"/>
              </a:rPr>
              <a:t>Searches available produce, places orders, pays securely, tracks delivery and rates farmers.</a:t>
            </a:r>
            <a:endParaRPr lang="en-US" sz="1400" b="1" dirty="0">
              <a:solidFill>
                <a:schemeClr val="bg1"/>
              </a:solidFill>
              <a:latin typeface="Times New Roman" panose="02020603050405020304" pitchFamily="18" charset="0"/>
              <a:cs typeface="Times New Roman" panose="02020603050405020304" pitchFamily="18" charset="0"/>
            </a:endParaRPr>
          </a:p>
        </p:txBody>
      </p:sp>
      <p:sp>
        <p:nvSpPr>
          <p:cNvPr id="10" name="Shape 8"/>
          <p:cNvSpPr/>
          <p:nvPr/>
        </p:nvSpPr>
        <p:spPr>
          <a:xfrm>
            <a:off x="4974336" y="1874520"/>
            <a:ext cx="2048256" cy="4206240"/>
          </a:xfrm>
          <a:prstGeom prst="roundRect">
            <a:avLst>
              <a:gd name="adj" fmla="val 2679"/>
            </a:avLst>
          </a:prstGeom>
          <a:solidFill>
            <a:srgbClr val="EAF5EB"/>
          </a:solidFill>
          <a:ln/>
        </p:spPr>
      </p:sp>
      <p:sp>
        <p:nvSpPr>
          <p:cNvPr id="11" name="Text 9"/>
          <p:cNvSpPr/>
          <p:nvPr/>
        </p:nvSpPr>
        <p:spPr>
          <a:xfrm>
            <a:off x="5111496" y="2318272"/>
            <a:ext cx="1773936" cy="640080"/>
          </a:xfrm>
          <a:prstGeom prst="rect">
            <a:avLst/>
          </a:prstGeom>
          <a:noFill/>
          <a:ln/>
        </p:spPr>
        <p:txBody>
          <a:bodyPr wrap="square" rtlCol="0" anchor="ctr"/>
          <a:lstStyle/>
          <a:p>
            <a:pPr marL="0" indent="0">
              <a:buNone/>
            </a:pPr>
            <a:r>
              <a:rPr lang="en-US" b="1" dirty="0">
                <a:solidFill>
                  <a:srgbClr val="2E7D32"/>
                </a:solidFill>
                <a:latin typeface="Calibri" pitchFamily="34" charset="0"/>
                <a:ea typeface="Calibri" pitchFamily="34" charset="-122"/>
                <a:cs typeface="Calibri" pitchFamily="34" charset="-120"/>
              </a:rPr>
              <a:t>Transporter</a:t>
            </a:r>
            <a:endParaRPr lang="en-US" dirty="0"/>
          </a:p>
        </p:txBody>
      </p:sp>
      <p:sp>
        <p:nvSpPr>
          <p:cNvPr id="12" name="Text 10"/>
          <p:cNvSpPr/>
          <p:nvPr/>
        </p:nvSpPr>
        <p:spPr>
          <a:xfrm>
            <a:off x="5111496" y="2600662"/>
            <a:ext cx="1773936" cy="3108960"/>
          </a:xfrm>
          <a:prstGeom prst="rect">
            <a:avLst/>
          </a:prstGeom>
          <a:noFill/>
          <a:ln/>
        </p:spPr>
        <p:txBody>
          <a:bodyPr wrap="square" rtlCol="0" anchor="ctr"/>
          <a:lstStyle/>
          <a:p>
            <a:pPr marL="0" indent="0" algn="ctr">
              <a:lnSpc>
                <a:spcPct val="125000"/>
              </a:lnSpc>
              <a:buNone/>
            </a:pPr>
            <a:r>
              <a:rPr lang="en-US" sz="1400" b="1" dirty="0">
                <a:solidFill>
                  <a:srgbClr val="1C1C1C"/>
                </a:solidFill>
                <a:latin typeface="Times New Roman" panose="02020603050405020304" pitchFamily="18" charset="0"/>
                <a:ea typeface="Cascadia Code" panose="020B0609020000020004" pitchFamily="49" charset="0"/>
                <a:cs typeface="Times New Roman" panose="02020603050405020304" pitchFamily="18" charset="0"/>
              </a:rPr>
              <a:t>Accepts requests, schedules pickups, updates delivery status and confirms completed deliveries.</a:t>
            </a:r>
            <a:endParaRPr lang="en-US" sz="1400" b="1" dirty="0">
              <a:latin typeface="Times New Roman" panose="02020603050405020304" pitchFamily="18" charset="0"/>
              <a:cs typeface="Times New Roman" panose="02020603050405020304" pitchFamily="18" charset="0"/>
            </a:endParaRPr>
          </a:p>
        </p:txBody>
      </p:sp>
      <p:sp>
        <p:nvSpPr>
          <p:cNvPr id="13" name="Shape 11"/>
          <p:cNvSpPr/>
          <p:nvPr/>
        </p:nvSpPr>
        <p:spPr>
          <a:xfrm>
            <a:off x="7141464" y="1874520"/>
            <a:ext cx="2048256" cy="4206240"/>
          </a:xfrm>
          <a:prstGeom prst="roundRect">
            <a:avLst>
              <a:gd name="adj" fmla="val 2679"/>
            </a:avLst>
          </a:prstGeom>
          <a:solidFill>
            <a:srgbClr val="1B5E20"/>
          </a:solidFill>
          <a:ln/>
        </p:spPr>
      </p:sp>
      <p:sp>
        <p:nvSpPr>
          <p:cNvPr id="14" name="Text 12"/>
          <p:cNvSpPr/>
          <p:nvPr/>
        </p:nvSpPr>
        <p:spPr>
          <a:xfrm>
            <a:off x="7278624" y="2318272"/>
            <a:ext cx="1773936" cy="640080"/>
          </a:xfrm>
          <a:prstGeom prst="rect">
            <a:avLst/>
          </a:prstGeom>
          <a:noFill/>
          <a:ln/>
        </p:spPr>
        <p:txBody>
          <a:bodyPr wrap="square" rtlCol="0" anchor="ctr"/>
          <a:lstStyle/>
          <a:p>
            <a:pPr marL="0" indent="0">
              <a:buNone/>
            </a:pPr>
            <a:r>
              <a:rPr lang="en-US" b="1" dirty="0">
                <a:solidFill>
                  <a:schemeClr val="bg1"/>
                </a:solidFill>
                <a:latin typeface="Calibri" pitchFamily="34" charset="0"/>
                <a:ea typeface="Calibri" pitchFamily="34" charset="-122"/>
                <a:cs typeface="Calibri" pitchFamily="34" charset="-120"/>
              </a:rPr>
              <a:t>Warehouse Owner</a:t>
            </a:r>
            <a:endParaRPr lang="en-US" dirty="0">
              <a:solidFill>
                <a:schemeClr val="bg1"/>
              </a:solidFill>
            </a:endParaRPr>
          </a:p>
        </p:txBody>
      </p:sp>
      <p:sp>
        <p:nvSpPr>
          <p:cNvPr id="15" name="Text 13"/>
          <p:cNvSpPr/>
          <p:nvPr/>
        </p:nvSpPr>
        <p:spPr>
          <a:xfrm>
            <a:off x="7278624" y="2600662"/>
            <a:ext cx="1773936" cy="3108960"/>
          </a:xfrm>
          <a:prstGeom prst="rect">
            <a:avLst/>
          </a:prstGeom>
          <a:noFill/>
          <a:ln/>
        </p:spPr>
        <p:txBody>
          <a:bodyPr wrap="square" rtlCol="0" anchor="ctr"/>
          <a:lstStyle/>
          <a:p>
            <a:pPr marL="0" indent="0" algn="ctr">
              <a:lnSpc>
                <a:spcPct val="125000"/>
              </a:lnSpc>
              <a:buNone/>
            </a:pPr>
            <a:r>
              <a:rPr lang="en-US" sz="1400" b="1" dirty="0">
                <a:solidFill>
                  <a:schemeClr val="bg1"/>
                </a:solidFill>
                <a:latin typeface="Times New Roman" panose="02020603050405020304" pitchFamily="18" charset="0"/>
                <a:ea typeface="Cascadia Code" panose="020B0609020000020004" pitchFamily="49" charset="0"/>
                <a:cs typeface="Times New Roman" panose="02020603050405020304" pitchFamily="18" charset="0"/>
              </a:rPr>
              <a:t>Lists storage capacity, accepts bookings, monitors stored produce and flags nearing expiry.</a:t>
            </a:r>
            <a:endParaRPr lang="en-US" sz="1400" b="1" dirty="0">
              <a:solidFill>
                <a:schemeClr val="bg1"/>
              </a:solidFill>
              <a:latin typeface="Times New Roman" panose="02020603050405020304" pitchFamily="18" charset="0"/>
              <a:cs typeface="Times New Roman" panose="02020603050405020304" pitchFamily="18" charset="0"/>
            </a:endParaRPr>
          </a:p>
        </p:txBody>
      </p:sp>
      <p:sp>
        <p:nvSpPr>
          <p:cNvPr id="16" name="Shape 14"/>
          <p:cNvSpPr/>
          <p:nvPr/>
        </p:nvSpPr>
        <p:spPr>
          <a:xfrm>
            <a:off x="9308592" y="1874520"/>
            <a:ext cx="2048256" cy="4206240"/>
          </a:xfrm>
          <a:prstGeom prst="roundRect">
            <a:avLst>
              <a:gd name="adj" fmla="val 2679"/>
            </a:avLst>
          </a:prstGeom>
          <a:solidFill>
            <a:srgbClr val="EAF5EB"/>
          </a:solidFill>
          <a:ln/>
        </p:spPr>
      </p:sp>
      <p:sp>
        <p:nvSpPr>
          <p:cNvPr id="17" name="Text 15"/>
          <p:cNvSpPr/>
          <p:nvPr/>
        </p:nvSpPr>
        <p:spPr>
          <a:xfrm>
            <a:off x="9445752" y="2318272"/>
            <a:ext cx="1773936" cy="640080"/>
          </a:xfrm>
          <a:prstGeom prst="rect">
            <a:avLst/>
          </a:prstGeom>
          <a:noFill/>
          <a:ln/>
        </p:spPr>
        <p:txBody>
          <a:bodyPr wrap="square" rtlCol="0" anchor="ctr"/>
          <a:lstStyle/>
          <a:p>
            <a:pPr marL="0" indent="0">
              <a:buNone/>
            </a:pPr>
            <a:r>
              <a:rPr lang="en-US" b="1" dirty="0">
                <a:solidFill>
                  <a:schemeClr val="accent6">
                    <a:lumMod val="75000"/>
                  </a:schemeClr>
                </a:solidFill>
                <a:latin typeface="Calibri" pitchFamily="34" charset="0"/>
                <a:ea typeface="Calibri" pitchFamily="34" charset="-122"/>
                <a:cs typeface="Calibri" pitchFamily="34" charset="-120"/>
              </a:rPr>
              <a:t>Administrator</a:t>
            </a:r>
            <a:endParaRPr lang="en-US" dirty="0">
              <a:solidFill>
                <a:schemeClr val="accent6">
                  <a:lumMod val="75000"/>
                </a:schemeClr>
              </a:solidFill>
            </a:endParaRPr>
          </a:p>
        </p:txBody>
      </p:sp>
      <p:sp>
        <p:nvSpPr>
          <p:cNvPr id="18" name="Text 16"/>
          <p:cNvSpPr/>
          <p:nvPr/>
        </p:nvSpPr>
        <p:spPr>
          <a:xfrm>
            <a:off x="9445752" y="2600662"/>
            <a:ext cx="1773936" cy="3108960"/>
          </a:xfrm>
          <a:prstGeom prst="rect">
            <a:avLst/>
          </a:prstGeom>
          <a:noFill/>
          <a:ln/>
        </p:spPr>
        <p:txBody>
          <a:bodyPr wrap="square" rtlCol="0" anchor="ctr"/>
          <a:lstStyle/>
          <a:p>
            <a:pPr marL="0" indent="0" algn="ctr">
              <a:lnSpc>
                <a:spcPct val="125000"/>
              </a:lnSpc>
              <a:buNone/>
            </a:pPr>
            <a:r>
              <a:rPr lang="en-US" sz="1400" b="1" dirty="0">
                <a:latin typeface="Times New Roman" panose="02020603050405020304" pitchFamily="18" charset="0"/>
                <a:ea typeface="Cascadia Code" panose="020B0609020000020004" pitchFamily="49" charset="0"/>
                <a:cs typeface="Times New Roman" panose="02020603050405020304" pitchFamily="18" charset="0"/>
              </a:rPr>
              <a:t>Verifies accounts, approves partners, resolves disputes and oversees the whole platform.</a:t>
            </a:r>
            <a:endParaRPr lang="en-US" sz="1400" b="1" dirty="0">
              <a:latin typeface="Times New Roman" panose="02020603050405020304" pitchFamily="18" charset="0"/>
              <a:cs typeface="Times New Roman" panose="02020603050405020304" pitchFamily="18" charset="0"/>
            </a:endParaRPr>
          </a:p>
        </p:txBody>
      </p:sp>
      <p:sp>
        <p:nvSpPr>
          <p:cNvPr id="19" name="Text 17"/>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CORE FEATURES</a:t>
            </a:r>
            <a:endParaRPr lang="en-US" sz="3200" dirty="0"/>
          </a:p>
        </p:txBody>
      </p:sp>
      <p:sp>
        <p:nvSpPr>
          <p:cNvPr id="3" name="Text 1"/>
          <p:cNvSpPr/>
          <p:nvPr/>
        </p:nvSpPr>
        <p:spPr>
          <a:xfrm>
            <a:off x="640080" y="521747"/>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The ten must have features that define the MVP</a:t>
            </a:r>
            <a:endParaRPr lang="en-US" sz="2000" dirty="0"/>
          </a:p>
        </p:txBody>
      </p:sp>
      <p:sp>
        <p:nvSpPr>
          <p:cNvPr id="4" name="Shape 2"/>
          <p:cNvSpPr/>
          <p:nvPr/>
        </p:nvSpPr>
        <p:spPr>
          <a:xfrm>
            <a:off x="640080" y="1874520"/>
            <a:ext cx="5212080" cy="685800"/>
          </a:xfrm>
          <a:prstGeom prst="roundRect">
            <a:avLst>
              <a:gd name="adj" fmla="val 6667"/>
            </a:avLst>
          </a:prstGeom>
          <a:solidFill>
            <a:srgbClr val="EAF5EB"/>
          </a:solidFill>
          <a:ln/>
        </p:spPr>
      </p:sp>
      <p:sp>
        <p:nvSpPr>
          <p:cNvPr id="5" name="Text 3"/>
          <p:cNvSpPr/>
          <p:nvPr/>
        </p:nvSpPr>
        <p:spPr>
          <a:xfrm>
            <a:off x="822960" y="1874520"/>
            <a:ext cx="640080" cy="6858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01</a:t>
            </a:r>
            <a:endParaRPr lang="en-US" sz="2400" dirty="0"/>
          </a:p>
        </p:txBody>
      </p:sp>
      <p:sp>
        <p:nvSpPr>
          <p:cNvPr id="6" name="Text 4"/>
          <p:cNvSpPr/>
          <p:nvPr/>
        </p:nvSpPr>
        <p:spPr>
          <a:xfrm>
            <a:off x="1508760" y="1874520"/>
            <a:ext cx="4206240" cy="68580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User Registration &amp; Authentication</a:t>
            </a:r>
            <a:endParaRPr lang="en-US" dirty="0"/>
          </a:p>
        </p:txBody>
      </p:sp>
      <p:sp>
        <p:nvSpPr>
          <p:cNvPr id="7" name="Shape 5"/>
          <p:cNvSpPr/>
          <p:nvPr/>
        </p:nvSpPr>
        <p:spPr>
          <a:xfrm>
            <a:off x="6309360" y="1874520"/>
            <a:ext cx="5212080" cy="685800"/>
          </a:xfrm>
          <a:prstGeom prst="roundRect">
            <a:avLst>
              <a:gd name="adj" fmla="val 6667"/>
            </a:avLst>
          </a:prstGeom>
          <a:solidFill>
            <a:srgbClr val="EAF5EB"/>
          </a:solidFill>
          <a:ln/>
        </p:spPr>
      </p:sp>
      <p:sp>
        <p:nvSpPr>
          <p:cNvPr id="8" name="Text 6"/>
          <p:cNvSpPr/>
          <p:nvPr/>
        </p:nvSpPr>
        <p:spPr>
          <a:xfrm>
            <a:off x="6492240" y="1874520"/>
            <a:ext cx="640080" cy="6858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02</a:t>
            </a:r>
            <a:endParaRPr lang="en-US" sz="2400" dirty="0"/>
          </a:p>
        </p:txBody>
      </p:sp>
      <p:sp>
        <p:nvSpPr>
          <p:cNvPr id="9" name="Text 7"/>
          <p:cNvSpPr/>
          <p:nvPr/>
        </p:nvSpPr>
        <p:spPr>
          <a:xfrm>
            <a:off x="7178040" y="1874520"/>
            <a:ext cx="4206240" cy="68580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User Profile Management</a:t>
            </a:r>
            <a:endParaRPr lang="en-US" dirty="0"/>
          </a:p>
        </p:txBody>
      </p:sp>
      <p:sp>
        <p:nvSpPr>
          <p:cNvPr id="10" name="Shape 8"/>
          <p:cNvSpPr/>
          <p:nvPr/>
        </p:nvSpPr>
        <p:spPr>
          <a:xfrm>
            <a:off x="640080" y="2697480"/>
            <a:ext cx="5212080" cy="685800"/>
          </a:xfrm>
          <a:prstGeom prst="roundRect">
            <a:avLst>
              <a:gd name="adj" fmla="val 6667"/>
            </a:avLst>
          </a:prstGeom>
          <a:solidFill>
            <a:srgbClr val="EAF5EB"/>
          </a:solidFill>
          <a:ln/>
        </p:spPr>
      </p:sp>
      <p:sp>
        <p:nvSpPr>
          <p:cNvPr id="11" name="Text 9"/>
          <p:cNvSpPr/>
          <p:nvPr/>
        </p:nvSpPr>
        <p:spPr>
          <a:xfrm>
            <a:off x="822960" y="2697480"/>
            <a:ext cx="640080" cy="6858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03</a:t>
            </a:r>
            <a:endParaRPr lang="en-US" sz="2400" dirty="0"/>
          </a:p>
        </p:txBody>
      </p:sp>
      <p:sp>
        <p:nvSpPr>
          <p:cNvPr id="12" name="Text 10"/>
          <p:cNvSpPr/>
          <p:nvPr/>
        </p:nvSpPr>
        <p:spPr>
          <a:xfrm>
            <a:off x="1508760" y="2697480"/>
            <a:ext cx="4206240" cy="68580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Cold Storage Booking</a:t>
            </a:r>
            <a:endParaRPr lang="en-US" dirty="0"/>
          </a:p>
        </p:txBody>
      </p:sp>
      <p:sp>
        <p:nvSpPr>
          <p:cNvPr id="13" name="Shape 11"/>
          <p:cNvSpPr/>
          <p:nvPr/>
        </p:nvSpPr>
        <p:spPr>
          <a:xfrm>
            <a:off x="6309360" y="2697480"/>
            <a:ext cx="5212080" cy="685800"/>
          </a:xfrm>
          <a:prstGeom prst="roundRect">
            <a:avLst>
              <a:gd name="adj" fmla="val 6667"/>
            </a:avLst>
          </a:prstGeom>
          <a:solidFill>
            <a:srgbClr val="EAF5EB"/>
          </a:solidFill>
          <a:ln/>
        </p:spPr>
      </p:sp>
      <p:sp>
        <p:nvSpPr>
          <p:cNvPr id="14" name="Text 12"/>
          <p:cNvSpPr/>
          <p:nvPr/>
        </p:nvSpPr>
        <p:spPr>
          <a:xfrm>
            <a:off x="6492240" y="2697480"/>
            <a:ext cx="640080" cy="6858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04</a:t>
            </a:r>
            <a:endParaRPr lang="en-US" sz="2400" dirty="0"/>
          </a:p>
        </p:txBody>
      </p:sp>
      <p:sp>
        <p:nvSpPr>
          <p:cNvPr id="15" name="Text 13"/>
          <p:cNvSpPr/>
          <p:nvPr/>
        </p:nvSpPr>
        <p:spPr>
          <a:xfrm>
            <a:off x="7178040" y="2697480"/>
            <a:ext cx="4206240" cy="68580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Warehouse Booking</a:t>
            </a:r>
            <a:endParaRPr lang="en-US" dirty="0"/>
          </a:p>
        </p:txBody>
      </p:sp>
      <p:sp>
        <p:nvSpPr>
          <p:cNvPr id="16" name="Shape 14"/>
          <p:cNvSpPr/>
          <p:nvPr/>
        </p:nvSpPr>
        <p:spPr>
          <a:xfrm>
            <a:off x="640080" y="3520440"/>
            <a:ext cx="5212080" cy="685800"/>
          </a:xfrm>
          <a:prstGeom prst="roundRect">
            <a:avLst>
              <a:gd name="adj" fmla="val 6667"/>
            </a:avLst>
          </a:prstGeom>
          <a:solidFill>
            <a:srgbClr val="EAF5EB"/>
          </a:solidFill>
          <a:ln/>
        </p:spPr>
      </p:sp>
      <p:sp>
        <p:nvSpPr>
          <p:cNvPr id="17" name="Text 15"/>
          <p:cNvSpPr/>
          <p:nvPr/>
        </p:nvSpPr>
        <p:spPr>
          <a:xfrm>
            <a:off x="822960" y="3520440"/>
            <a:ext cx="640080" cy="6858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05</a:t>
            </a:r>
            <a:endParaRPr lang="en-US" sz="2400" dirty="0"/>
          </a:p>
        </p:txBody>
      </p:sp>
      <p:sp>
        <p:nvSpPr>
          <p:cNvPr id="18" name="Text 16"/>
          <p:cNvSpPr/>
          <p:nvPr/>
        </p:nvSpPr>
        <p:spPr>
          <a:xfrm>
            <a:off x="1508760" y="3520440"/>
            <a:ext cx="4206240" cy="68580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Logistics Booking</a:t>
            </a:r>
            <a:endParaRPr lang="en-US" dirty="0"/>
          </a:p>
        </p:txBody>
      </p:sp>
      <p:sp>
        <p:nvSpPr>
          <p:cNvPr id="19" name="Shape 17"/>
          <p:cNvSpPr/>
          <p:nvPr/>
        </p:nvSpPr>
        <p:spPr>
          <a:xfrm>
            <a:off x="6309360" y="3520440"/>
            <a:ext cx="5212080" cy="685800"/>
          </a:xfrm>
          <a:prstGeom prst="roundRect">
            <a:avLst>
              <a:gd name="adj" fmla="val 6667"/>
            </a:avLst>
          </a:prstGeom>
          <a:solidFill>
            <a:srgbClr val="EAF5EB"/>
          </a:solidFill>
          <a:ln/>
        </p:spPr>
      </p:sp>
      <p:sp>
        <p:nvSpPr>
          <p:cNvPr id="20" name="Text 18"/>
          <p:cNvSpPr/>
          <p:nvPr/>
        </p:nvSpPr>
        <p:spPr>
          <a:xfrm>
            <a:off x="6492240" y="3520440"/>
            <a:ext cx="640080" cy="6858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06</a:t>
            </a:r>
            <a:endParaRPr lang="en-US" sz="2400" dirty="0"/>
          </a:p>
        </p:txBody>
      </p:sp>
      <p:sp>
        <p:nvSpPr>
          <p:cNvPr id="21" name="Text 19"/>
          <p:cNvSpPr/>
          <p:nvPr/>
        </p:nvSpPr>
        <p:spPr>
          <a:xfrm>
            <a:off x="7178040" y="3520440"/>
            <a:ext cx="4206240" cy="68580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Marketplace</a:t>
            </a:r>
            <a:endParaRPr lang="en-US" dirty="0"/>
          </a:p>
        </p:txBody>
      </p:sp>
      <p:sp>
        <p:nvSpPr>
          <p:cNvPr id="22" name="Shape 20"/>
          <p:cNvSpPr/>
          <p:nvPr/>
        </p:nvSpPr>
        <p:spPr>
          <a:xfrm>
            <a:off x="640080" y="4343400"/>
            <a:ext cx="5212080" cy="685800"/>
          </a:xfrm>
          <a:prstGeom prst="roundRect">
            <a:avLst>
              <a:gd name="adj" fmla="val 6667"/>
            </a:avLst>
          </a:prstGeom>
          <a:solidFill>
            <a:srgbClr val="EAF5EB"/>
          </a:solidFill>
          <a:ln/>
        </p:spPr>
      </p:sp>
      <p:sp>
        <p:nvSpPr>
          <p:cNvPr id="23" name="Text 21"/>
          <p:cNvSpPr/>
          <p:nvPr/>
        </p:nvSpPr>
        <p:spPr>
          <a:xfrm>
            <a:off x="822960" y="4343400"/>
            <a:ext cx="640080" cy="6858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07</a:t>
            </a:r>
            <a:endParaRPr lang="en-US" sz="2400" dirty="0"/>
          </a:p>
        </p:txBody>
      </p:sp>
      <p:sp>
        <p:nvSpPr>
          <p:cNvPr id="24" name="Text 22"/>
          <p:cNvSpPr/>
          <p:nvPr/>
        </p:nvSpPr>
        <p:spPr>
          <a:xfrm>
            <a:off x="1508760" y="4343400"/>
            <a:ext cx="4206240" cy="68580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Order Management</a:t>
            </a:r>
            <a:endParaRPr lang="en-US" dirty="0"/>
          </a:p>
        </p:txBody>
      </p:sp>
      <p:sp>
        <p:nvSpPr>
          <p:cNvPr id="25" name="Shape 23"/>
          <p:cNvSpPr/>
          <p:nvPr/>
        </p:nvSpPr>
        <p:spPr>
          <a:xfrm>
            <a:off x="6309360" y="4343400"/>
            <a:ext cx="5212080" cy="685800"/>
          </a:xfrm>
          <a:prstGeom prst="roundRect">
            <a:avLst>
              <a:gd name="adj" fmla="val 6667"/>
            </a:avLst>
          </a:prstGeom>
          <a:solidFill>
            <a:srgbClr val="EAF5EB"/>
          </a:solidFill>
          <a:ln/>
        </p:spPr>
      </p:sp>
      <p:sp>
        <p:nvSpPr>
          <p:cNvPr id="26" name="Text 24"/>
          <p:cNvSpPr/>
          <p:nvPr/>
        </p:nvSpPr>
        <p:spPr>
          <a:xfrm>
            <a:off x="6492240" y="4343400"/>
            <a:ext cx="640080" cy="6858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08</a:t>
            </a:r>
            <a:endParaRPr lang="en-US" sz="2400" dirty="0"/>
          </a:p>
        </p:txBody>
      </p:sp>
      <p:sp>
        <p:nvSpPr>
          <p:cNvPr id="27" name="Text 25"/>
          <p:cNvSpPr/>
          <p:nvPr/>
        </p:nvSpPr>
        <p:spPr>
          <a:xfrm>
            <a:off x="7178040" y="4343400"/>
            <a:ext cx="4206240" cy="68580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Shipment Tracking</a:t>
            </a:r>
            <a:endParaRPr lang="en-US" dirty="0"/>
          </a:p>
        </p:txBody>
      </p:sp>
      <p:sp>
        <p:nvSpPr>
          <p:cNvPr id="28" name="Shape 26"/>
          <p:cNvSpPr/>
          <p:nvPr/>
        </p:nvSpPr>
        <p:spPr>
          <a:xfrm>
            <a:off x="640080" y="5166360"/>
            <a:ext cx="5212080" cy="685800"/>
          </a:xfrm>
          <a:prstGeom prst="roundRect">
            <a:avLst>
              <a:gd name="adj" fmla="val 6667"/>
            </a:avLst>
          </a:prstGeom>
          <a:solidFill>
            <a:srgbClr val="EAF5EB"/>
          </a:solidFill>
          <a:ln/>
        </p:spPr>
      </p:sp>
      <p:sp>
        <p:nvSpPr>
          <p:cNvPr id="29" name="Text 27"/>
          <p:cNvSpPr/>
          <p:nvPr/>
        </p:nvSpPr>
        <p:spPr>
          <a:xfrm>
            <a:off x="822960" y="5166360"/>
            <a:ext cx="640080" cy="6858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09</a:t>
            </a:r>
            <a:endParaRPr lang="en-US" sz="2400" dirty="0"/>
          </a:p>
        </p:txBody>
      </p:sp>
      <p:sp>
        <p:nvSpPr>
          <p:cNvPr id="30" name="Text 28"/>
          <p:cNvSpPr/>
          <p:nvPr/>
        </p:nvSpPr>
        <p:spPr>
          <a:xfrm>
            <a:off x="1508760" y="5166360"/>
            <a:ext cx="4206240" cy="68580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Payment Integration</a:t>
            </a:r>
            <a:endParaRPr lang="en-US" dirty="0"/>
          </a:p>
        </p:txBody>
      </p:sp>
      <p:sp>
        <p:nvSpPr>
          <p:cNvPr id="31" name="Shape 29"/>
          <p:cNvSpPr/>
          <p:nvPr/>
        </p:nvSpPr>
        <p:spPr>
          <a:xfrm>
            <a:off x="6309360" y="5166360"/>
            <a:ext cx="5212080" cy="685800"/>
          </a:xfrm>
          <a:prstGeom prst="roundRect">
            <a:avLst>
              <a:gd name="adj" fmla="val 6667"/>
            </a:avLst>
          </a:prstGeom>
          <a:solidFill>
            <a:srgbClr val="EAF5EB"/>
          </a:solidFill>
          <a:ln/>
        </p:spPr>
      </p:sp>
      <p:sp>
        <p:nvSpPr>
          <p:cNvPr id="32" name="Text 30"/>
          <p:cNvSpPr/>
          <p:nvPr/>
        </p:nvSpPr>
        <p:spPr>
          <a:xfrm>
            <a:off x="6492240" y="5166360"/>
            <a:ext cx="640080" cy="6858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10</a:t>
            </a:r>
            <a:endParaRPr lang="en-US" sz="2400" dirty="0"/>
          </a:p>
        </p:txBody>
      </p:sp>
      <p:sp>
        <p:nvSpPr>
          <p:cNvPr id="33" name="Text 31"/>
          <p:cNvSpPr/>
          <p:nvPr/>
        </p:nvSpPr>
        <p:spPr>
          <a:xfrm>
            <a:off x="7178040" y="5166360"/>
            <a:ext cx="4206240" cy="68580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Admin Dashboard</a:t>
            </a:r>
            <a:endParaRPr lang="en-US" dirty="0"/>
          </a:p>
        </p:txBody>
      </p:sp>
      <p:sp>
        <p:nvSpPr>
          <p:cNvPr id="34" name="Text 32"/>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THE FARMER JOURNEY</a:t>
            </a:r>
            <a:endParaRPr lang="en-US" sz="3200" dirty="0"/>
          </a:p>
        </p:txBody>
      </p:sp>
      <p:sp>
        <p:nvSpPr>
          <p:cNvPr id="3" name="Text 1"/>
          <p:cNvSpPr/>
          <p:nvPr/>
        </p:nvSpPr>
        <p:spPr>
          <a:xfrm>
            <a:off x="640080" y="494853"/>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From sign up to a successful sale, in seven simple steps</a:t>
            </a:r>
            <a:endParaRPr lang="en-US" sz="2000" dirty="0"/>
          </a:p>
        </p:txBody>
      </p:sp>
      <p:sp>
        <p:nvSpPr>
          <p:cNvPr id="4" name="Shape 2"/>
          <p:cNvSpPr/>
          <p:nvPr/>
        </p:nvSpPr>
        <p:spPr>
          <a:xfrm>
            <a:off x="1024128" y="2834640"/>
            <a:ext cx="10140696" cy="0"/>
          </a:xfrm>
          <a:prstGeom prst="line">
            <a:avLst/>
          </a:prstGeom>
          <a:noFill/>
          <a:ln w="25400">
            <a:solidFill>
              <a:srgbClr val="D8D8D8"/>
            </a:solidFill>
            <a:prstDash val="solid"/>
          </a:ln>
        </p:spPr>
      </p:sp>
      <p:sp>
        <p:nvSpPr>
          <p:cNvPr id="5" name="Shape 3"/>
          <p:cNvSpPr/>
          <p:nvPr/>
        </p:nvSpPr>
        <p:spPr>
          <a:xfrm>
            <a:off x="640080" y="2450592"/>
            <a:ext cx="768096" cy="768096"/>
          </a:xfrm>
          <a:prstGeom prst="ellipse">
            <a:avLst/>
          </a:prstGeom>
          <a:solidFill>
            <a:srgbClr val="2E7D32"/>
          </a:solidFill>
          <a:ln w="25400">
            <a:solidFill>
              <a:srgbClr val="FFFFFF"/>
            </a:solidFill>
            <a:prstDash val="solid"/>
          </a:ln>
        </p:spPr>
      </p:sp>
      <p:sp>
        <p:nvSpPr>
          <p:cNvPr id="6" name="Text 4"/>
          <p:cNvSpPr/>
          <p:nvPr/>
        </p:nvSpPr>
        <p:spPr>
          <a:xfrm>
            <a:off x="640080" y="2450592"/>
            <a:ext cx="768096" cy="76809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246888" y="1856232"/>
            <a:ext cx="1554480" cy="502920"/>
          </a:xfrm>
          <a:prstGeom prst="rect">
            <a:avLst/>
          </a:prstGeom>
          <a:noFill/>
          <a:ln/>
        </p:spPr>
        <p:txBody>
          <a:bodyPr wrap="square" rtlCol="0" anchor="ctr"/>
          <a:lstStyle/>
          <a:p>
            <a:pPr marL="0" indent="0" algn="ctr">
              <a:lnSpc>
                <a:spcPct val="110000"/>
              </a:lnSpc>
              <a:buNone/>
            </a:pPr>
            <a:r>
              <a:rPr lang="en-US" b="1" dirty="0">
                <a:solidFill>
                  <a:srgbClr val="1C1C1C"/>
                </a:solidFill>
                <a:latin typeface="Calibri" pitchFamily="34" charset="0"/>
                <a:ea typeface="Calibri" pitchFamily="34" charset="-122"/>
                <a:cs typeface="Calibri" pitchFamily="34" charset="-120"/>
              </a:rPr>
              <a:t>Sign Up</a:t>
            </a:r>
            <a:endParaRPr lang="en-US" dirty="0"/>
          </a:p>
        </p:txBody>
      </p:sp>
      <p:sp>
        <p:nvSpPr>
          <p:cNvPr id="8" name="Shape 6"/>
          <p:cNvSpPr/>
          <p:nvPr/>
        </p:nvSpPr>
        <p:spPr>
          <a:xfrm>
            <a:off x="2330196" y="2450592"/>
            <a:ext cx="768096" cy="768096"/>
          </a:xfrm>
          <a:prstGeom prst="ellipse">
            <a:avLst/>
          </a:prstGeom>
          <a:solidFill>
            <a:srgbClr val="2E7D32"/>
          </a:solidFill>
          <a:ln w="25400">
            <a:solidFill>
              <a:srgbClr val="FFFFFF"/>
            </a:solidFill>
            <a:prstDash val="solid"/>
          </a:ln>
        </p:spPr>
      </p:sp>
      <p:sp>
        <p:nvSpPr>
          <p:cNvPr id="9" name="Text 7"/>
          <p:cNvSpPr/>
          <p:nvPr/>
        </p:nvSpPr>
        <p:spPr>
          <a:xfrm>
            <a:off x="2330196" y="2450592"/>
            <a:ext cx="768096" cy="76809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937004" y="3401568"/>
            <a:ext cx="1554480" cy="502920"/>
          </a:xfrm>
          <a:prstGeom prst="rect">
            <a:avLst/>
          </a:prstGeom>
          <a:noFill/>
          <a:ln/>
        </p:spPr>
        <p:txBody>
          <a:bodyPr wrap="square" rtlCol="0" anchor="ctr"/>
          <a:lstStyle/>
          <a:p>
            <a:pPr marL="0" indent="0" algn="ctr">
              <a:lnSpc>
                <a:spcPct val="110000"/>
              </a:lnSpc>
              <a:buNone/>
            </a:pPr>
            <a:r>
              <a:rPr lang="en-US" b="1" dirty="0">
                <a:solidFill>
                  <a:srgbClr val="1C1C1C"/>
                </a:solidFill>
                <a:latin typeface="Calibri" pitchFamily="34" charset="0"/>
                <a:ea typeface="Calibri" pitchFamily="34" charset="-122"/>
                <a:cs typeface="Calibri" pitchFamily="34" charset="-120"/>
              </a:rPr>
              <a:t>Complete Profile</a:t>
            </a:r>
            <a:endParaRPr lang="en-US" dirty="0"/>
          </a:p>
        </p:txBody>
      </p:sp>
      <p:sp>
        <p:nvSpPr>
          <p:cNvPr id="11" name="Shape 9"/>
          <p:cNvSpPr/>
          <p:nvPr/>
        </p:nvSpPr>
        <p:spPr>
          <a:xfrm>
            <a:off x="4020312" y="2450592"/>
            <a:ext cx="768096" cy="768096"/>
          </a:xfrm>
          <a:prstGeom prst="ellipse">
            <a:avLst/>
          </a:prstGeom>
          <a:solidFill>
            <a:srgbClr val="2E7D32"/>
          </a:solidFill>
          <a:ln w="25400">
            <a:solidFill>
              <a:srgbClr val="FFFFFF"/>
            </a:solidFill>
            <a:prstDash val="solid"/>
          </a:ln>
        </p:spPr>
      </p:sp>
      <p:sp>
        <p:nvSpPr>
          <p:cNvPr id="12" name="Text 10"/>
          <p:cNvSpPr/>
          <p:nvPr/>
        </p:nvSpPr>
        <p:spPr>
          <a:xfrm>
            <a:off x="4020312" y="2450592"/>
            <a:ext cx="768096" cy="76809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p:nvPr/>
        </p:nvSpPr>
        <p:spPr>
          <a:xfrm>
            <a:off x="3627120" y="1856232"/>
            <a:ext cx="1554480" cy="502920"/>
          </a:xfrm>
          <a:prstGeom prst="rect">
            <a:avLst/>
          </a:prstGeom>
          <a:noFill/>
          <a:ln/>
        </p:spPr>
        <p:txBody>
          <a:bodyPr wrap="square" rtlCol="0" anchor="ctr"/>
          <a:lstStyle/>
          <a:p>
            <a:pPr marL="0" indent="0" algn="ctr">
              <a:lnSpc>
                <a:spcPct val="110000"/>
              </a:lnSpc>
              <a:buNone/>
            </a:pPr>
            <a:r>
              <a:rPr lang="en-US" b="1" dirty="0">
                <a:solidFill>
                  <a:srgbClr val="1C1C1C"/>
                </a:solidFill>
                <a:latin typeface="Calibri" pitchFamily="34" charset="0"/>
                <a:ea typeface="Calibri" pitchFamily="34" charset="-122"/>
                <a:cs typeface="Calibri" pitchFamily="34" charset="-120"/>
              </a:rPr>
              <a:t>Book Cold Storage</a:t>
            </a:r>
            <a:endParaRPr lang="en-US" dirty="0"/>
          </a:p>
        </p:txBody>
      </p:sp>
      <p:sp>
        <p:nvSpPr>
          <p:cNvPr id="14" name="Shape 12"/>
          <p:cNvSpPr/>
          <p:nvPr/>
        </p:nvSpPr>
        <p:spPr>
          <a:xfrm>
            <a:off x="5710428" y="2450592"/>
            <a:ext cx="768096" cy="768096"/>
          </a:xfrm>
          <a:prstGeom prst="ellipse">
            <a:avLst/>
          </a:prstGeom>
          <a:solidFill>
            <a:srgbClr val="2E7D32"/>
          </a:solidFill>
          <a:ln w="25400">
            <a:solidFill>
              <a:srgbClr val="FFFFFF"/>
            </a:solidFill>
            <a:prstDash val="solid"/>
          </a:ln>
        </p:spPr>
      </p:sp>
      <p:sp>
        <p:nvSpPr>
          <p:cNvPr id="15" name="Text 13"/>
          <p:cNvSpPr/>
          <p:nvPr/>
        </p:nvSpPr>
        <p:spPr>
          <a:xfrm>
            <a:off x="5710428" y="2450592"/>
            <a:ext cx="768096" cy="76809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6" name="Text 14"/>
          <p:cNvSpPr/>
          <p:nvPr/>
        </p:nvSpPr>
        <p:spPr>
          <a:xfrm>
            <a:off x="5317236" y="3401568"/>
            <a:ext cx="1554480" cy="502920"/>
          </a:xfrm>
          <a:prstGeom prst="rect">
            <a:avLst/>
          </a:prstGeom>
          <a:noFill/>
          <a:ln/>
        </p:spPr>
        <p:txBody>
          <a:bodyPr wrap="square" rtlCol="0" anchor="ctr"/>
          <a:lstStyle/>
          <a:p>
            <a:pPr marL="0" indent="0" algn="ctr">
              <a:lnSpc>
                <a:spcPct val="110000"/>
              </a:lnSpc>
              <a:buNone/>
            </a:pPr>
            <a:r>
              <a:rPr lang="en-US" b="1" dirty="0">
                <a:solidFill>
                  <a:srgbClr val="1C1C1C"/>
                </a:solidFill>
                <a:latin typeface="Calibri" pitchFamily="34" charset="0"/>
                <a:ea typeface="Calibri" pitchFamily="34" charset="-122"/>
                <a:cs typeface="Calibri" pitchFamily="34" charset="-120"/>
              </a:rPr>
              <a:t>Schedule Logistics</a:t>
            </a:r>
            <a:endParaRPr lang="en-US" dirty="0"/>
          </a:p>
        </p:txBody>
      </p:sp>
      <p:sp>
        <p:nvSpPr>
          <p:cNvPr id="17" name="Shape 15"/>
          <p:cNvSpPr/>
          <p:nvPr/>
        </p:nvSpPr>
        <p:spPr>
          <a:xfrm>
            <a:off x="7400544" y="2450592"/>
            <a:ext cx="768096" cy="768096"/>
          </a:xfrm>
          <a:prstGeom prst="ellipse">
            <a:avLst/>
          </a:prstGeom>
          <a:solidFill>
            <a:srgbClr val="2E7D32"/>
          </a:solidFill>
          <a:ln w="25400">
            <a:solidFill>
              <a:srgbClr val="FFFFFF"/>
            </a:solidFill>
            <a:prstDash val="solid"/>
          </a:ln>
        </p:spPr>
      </p:sp>
      <p:sp>
        <p:nvSpPr>
          <p:cNvPr id="18" name="Text 16"/>
          <p:cNvSpPr/>
          <p:nvPr/>
        </p:nvSpPr>
        <p:spPr>
          <a:xfrm>
            <a:off x="7400544" y="2450592"/>
            <a:ext cx="768096" cy="76809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9" name="Text 17"/>
          <p:cNvSpPr/>
          <p:nvPr/>
        </p:nvSpPr>
        <p:spPr>
          <a:xfrm>
            <a:off x="7007352" y="1856232"/>
            <a:ext cx="1554480" cy="502920"/>
          </a:xfrm>
          <a:prstGeom prst="rect">
            <a:avLst/>
          </a:prstGeom>
          <a:noFill/>
          <a:ln/>
        </p:spPr>
        <p:txBody>
          <a:bodyPr wrap="square" rtlCol="0" anchor="ctr"/>
          <a:lstStyle/>
          <a:p>
            <a:pPr marL="0" indent="0" algn="ctr">
              <a:lnSpc>
                <a:spcPct val="110000"/>
              </a:lnSpc>
              <a:buNone/>
            </a:pPr>
            <a:r>
              <a:rPr lang="en-US" b="1" dirty="0">
                <a:solidFill>
                  <a:srgbClr val="1C1C1C"/>
                </a:solidFill>
                <a:latin typeface="Calibri" pitchFamily="34" charset="0"/>
                <a:ea typeface="Calibri" pitchFamily="34" charset="-122"/>
                <a:cs typeface="Calibri" pitchFamily="34" charset="-120"/>
              </a:rPr>
              <a:t>Sell on Marketplace</a:t>
            </a:r>
            <a:endParaRPr lang="en-US" dirty="0"/>
          </a:p>
        </p:txBody>
      </p:sp>
      <p:sp>
        <p:nvSpPr>
          <p:cNvPr id="20" name="Shape 18"/>
          <p:cNvSpPr/>
          <p:nvPr/>
        </p:nvSpPr>
        <p:spPr>
          <a:xfrm>
            <a:off x="9090660" y="2450592"/>
            <a:ext cx="768096" cy="768096"/>
          </a:xfrm>
          <a:prstGeom prst="ellipse">
            <a:avLst/>
          </a:prstGeom>
          <a:solidFill>
            <a:srgbClr val="2E7D32"/>
          </a:solidFill>
          <a:ln w="25400">
            <a:solidFill>
              <a:srgbClr val="FFFFFF"/>
            </a:solidFill>
            <a:prstDash val="solid"/>
          </a:ln>
        </p:spPr>
      </p:sp>
      <p:sp>
        <p:nvSpPr>
          <p:cNvPr id="21" name="Text 19"/>
          <p:cNvSpPr/>
          <p:nvPr/>
        </p:nvSpPr>
        <p:spPr>
          <a:xfrm>
            <a:off x="9090660" y="2450592"/>
            <a:ext cx="768096" cy="76809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2" name="Text 20"/>
          <p:cNvSpPr/>
          <p:nvPr/>
        </p:nvSpPr>
        <p:spPr>
          <a:xfrm>
            <a:off x="8697468" y="3401568"/>
            <a:ext cx="1554480" cy="502920"/>
          </a:xfrm>
          <a:prstGeom prst="rect">
            <a:avLst/>
          </a:prstGeom>
          <a:noFill/>
          <a:ln/>
        </p:spPr>
        <p:txBody>
          <a:bodyPr wrap="square" rtlCol="0" anchor="ctr"/>
          <a:lstStyle/>
          <a:p>
            <a:pPr marL="0" indent="0" algn="ctr">
              <a:lnSpc>
                <a:spcPct val="110000"/>
              </a:lnSpc>
              <a:buNone/>
            </a:pPr>
            <a:r>
              <a:rPr lang="en-US" b="1" dirty="0">
                <a:solidFill>
                  <a:srgbClr val="1C1C1C"/>
                </a:solidFill>
                <a:latin typeface="Calibri" pitchFamily="34" charset="0"/>
                <a:ea typeface="Calibri" pitchFamily="34" charset="-122"/>
                <a:cs typeface="Calibri" pitchFamily="34" charset="-120"/>
              </a:rPr>
              <a:t>Track Delivery</a:t>
            </a:r>
            <a:endParaRPr lang="en-US" dirty="0"/>
          </a:p>
        </p:txBody>
      </p:sp>
      <p:sp>
        <p:nvSpPr>
          <p:cNvPr id="23" name="Shape 21"/>
          <p:cNvSpPr/>
          <p:nvPr/>
        </p:nvSpPr>
        <p:spPr>
          <a:xfrm>
            <a:off x="10780776" y="2450592"/>
            <a:ext cx="768096" cy="768096"/>
          </a:xfrm>
          <a:prstGeom prst="ellipse">
            <a:avLst/>
          </a:prstGeom>
          <a:solidFill>
            <a:srgbClr val="2E7D32"/>
          </a:solidFill>
          <a:ln w="25400">
            <a:solidFill>
              <a:srgbClr val="FFFFFF"/>
            </a:solidFill>
            <a:prstDash val="solid"/>
          </a:ln>
        </p:spPr>
      </p:sp>
      <p:sp>
        <p:nvSpPr>
          <p:cNvPr id="24" name="Text 22"/>
          <p:cNvSpPr/>
          <p:nvPr/>
        </p:nvSpPr>
        <p:spPr>
          <a:xfrm>
            <a:off x="10780776" y="2450592"/>
            <a:ext cx="768096" cy="76809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25" name="Text 23"/>
          <p:cNvSpPr/>
          <p:nvPr/>
        </p:nvSpPr>
        <p:spPr>
          <a:xfrm>
            <a:off x="10387584" y="1856232"/>
            <a:ext cx="1554480" cy="502920"/>
          </a:xfrm>
          <a:prstGeom prst="rect">
            <a:avLst/>
          </a:prstGeom>
          <a:noFill/>
          <a:ln/>
        </p:spPr>
        <p:txBody>
          <a:bodyPr wrap="square" rtlCol="0" anchor="ctr"/>
          <a:lstStyle/>
          <a:p>
            <a:pPr marL="0" indent="0" algn="ctr">
              <a:lnSpc>
                <a:spcPct val="110000"/>
              </a:lnSpc>
              <a:buNone/>
            </a:pPr>
            <a:r>
              <a:rPr lang="en-US" b="1" dirty="0">
                <a:solidFill>
                  <a:srgbClr val="1C1C1C"/>
                </a:solidFill>
                <a:latin typeface="Calibri" pitchFamily="34" charset="0"/>
                <a:ea typeface="Calibri" pitchFamily="34" charset="-122"/>
                <a:cs typeface="Calibri" pitchFamily="34" charset="-120"/>
              </a:rPr>
              <a:t>Rate Experience</a:t>
            </a:r>
            <a:endParaRPr lang="en-US" dirty="0"/>
          </a:p>
        </p:txBody>
      </p:sp>
      <p:sp>
        <p:nvSpPr>
          <p:cNvPr id="26" name="Shape 24"/>
          <p:cNvSpPr/>
          <p:nvPr/>
        </p:nvSpPr>
        <p:spPr>
          <a:xfrm>
            <a:off x="640080" y="5029200"/>
            <a:ext cx="10881360" cy="1188720"/>
          </a:xfrm>
          <a:prstGeom prst="roundRect">
            <a:avLst>
              <a:gd name="adj" fmla="val 4615"/>
            </a:avLst>
          </a:prstGeom>
          <a:solidFill>
            <a:srgbClr val="EAF5EB"/>
          </a:solidFill>
          <a:ln/>
        </p:spPr>
      </p:sp>
      <p:sp>
        <p:nvSpPr>
          <p:cNvPr id="27" name="Text 25"/>
          <p:cNvSpPr/>
          <p:nvPr/>
        </p:nvSpPr>
        <p:spPr>
          <a:xfrm>
            <a:off x="914400" y="5166360"/>
            <a:ext cx="10332720" cy="914400"/>
          </a:xfrm>
          <a:prstGeom prst="rect">
            <a:avLst/>
          </a:prstGeom>
          <a:noFill/>
          <a:ln/>
        </p:spPr>
        <p:txBody>
          <a:bodyPr wrap="square" rtlCol="0" anchor="ctr"/>
          <a:lstStyle/>
          <a:p>
            <a:pPr marL="0" indent="0">
              <a:lnSpc>
                <a:spcPct val="130000"/>
              </a:lnSpc>
              <a:buNone/>
            </a:pPr>
            <a:r>
              <a:rPr lang="en-US" sz="1600" dirty="0">
                <a:solidFill>
                  <a:srgbClr val="1C1C1C"/>
                </a:solidFill>
                <a:latin typeface="Calibri" pitchFamily="34" charset="0"/>
                <a:ea typeface="Calibri" pitchFamily="34" charset="-122"/>
                <a:cs typeface="Calibri" pitchFamily="34" charset="-120"/>
              </a:rPr>
              <a:t>Each step closes a gap where produce is normally lost. Booking storage the moment harvest happens prevents open air spoilage, scheduling refrigerated transport prevents bruising in transit, and live tracking means a shipment is never simply lost to silence.</a:t>
            </a:r>
            <a:endParaRPr lang="en-US" sz="1600" dirty="0"/>
          </a:p>
        </p:txBody>
      </p:sp>
      <p:sp>
        <p:nvSpPr>
          <p:cNvPr id="28" name="Text 26"/>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INSIDE THE PRODUCT</a:t>
            </a:r>
            <a:endParaRPr lang="en-US" sz="3200" dirty="0"/>
          </a:p>
        </p:txBody>
      </p:sp>
      <p:sp>
        <p:nvSpPr>
          <p:cNvPr id="3" name="Text 1"/>
          <p:cNvSpPr/>
          <p:nvPr/>
        </p:nvSpPr>
        <p:spPr>
          <a:xfrm>
            <a:off x="640080" y="508300"/>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Getting started takes under a minute</a:t>
            </a:r>
            <a:endParaRPr lang="en-US" sz="2000" dirty="0"/>
          </a:p>
        </p:txBody>
      </p:sp>
      <p:pic>
        <p:nvPicPr>
          <p:cNvPr id="4" name="Image 0" descr="/mnt/user-data/uploads/Picture7.png"/>
          <p:cNvPicPr>
            <a:picLocks noChangeAspect="1"/>
          </p:cNvPicPr>
          <p:nvPr/>
        </p:nvPicPr>
        <p:blipFill>
          <a:blip r:embed="rId3"/>
          <a:stretch>
            <a:fillRect/>
          </a:stretch>
        </p:blipFill>
        <p:spPr>
          <a:xfrm>
            <a:off x="134471" y="1371600"/>
            <a:ext cx="5769777" cy="4838248"/>
          </a:xfrm>
          <a:prstGeom prst="rect">
            <a:avLst/>
          </a:prstGeom>
          <a:effectLst>
            <a:outerShdw blurRad="127000" dist="38100" dir="5400000" algn="bl" rotWithShape="0">
              <a:srgbClr val="000000">
                <a:alpha val="25000"/>
              </a:srgbClr>
            </a:outerShdw>
          </a:effectLst>
        </p:spPr>
      </p:pic>
      <p:pic>
        <p:nvPicPr>
          <p:cNvPr id="5" name="Image 1" descr="/mnt/user-data/uploads/Picture8.png"/>
          <p:cNvPicPr>
            <a:picLocks noChangeAspect="1"/>
          </p:cNvPicPr>
          <p:nvPr/>
        </p:nvPicPr>
        <p:blipFill>
          <a:blip r:embed="rId4"/>
          <a:stretch>
            <a:fillRect/>
          </a:stretch>
        </p:blipFill>
        <p:spPr>
          <a:xfrm>
            <a:off x="6270008" y="1371600"/>
            <a:ext cx="5800072" cy="4838248"/>
          </a:xfrm>
          <a:prstGeom prst="rect">
            <a:avLst/>
          </a:prstGeom>
          <a:effectLst>
            <a:outerShdw blurRad="127000" dist="38100" dir="5400000" algn="bl" rotWithShape="0">
              <a:srgbClr val="000000">
                <a:alpha val="25000"/>
              </a:srgbClr>
            </a:outerShdw>
          </a:effectLst>
        </p:spPr>
      </p:pic>
      <p:sp>
        <p:nvSpPr>
          <p:cNvPr id="6" name="Text 2"/>
          <p:cNvSpPr/>
          <p:nvPr/>
        </p:nvSpPr>
        <p:spPr>
          <a:xfrm>
            <a:off x="819446" y="6209848"/>
            <a:ext cx="5084802" cy="365760"/>
          </a:xfrm>
          <a:prstGeom prst="rect">
            <a:avLst/>
          </a:prstGeom>
          <a:noFill/>
          <a:ln/>
        </p:spPr>
        <p:txBody>
          <a:bodyPr wrap="square" rtlCol="0" anchor="ctr"/>
          <a:lstStyle/>
          <a:p>
            <a:pPr marL="0" indent="0" algn="ctr">
              <a:buNone/>
            </a:pPr>
            <a:r>
              <a:rPr lang="en-US" sz="1600" b="1" i="1" dirty="0">
                <a:latin typeface="Calibri" pitchFamily="34" charset="0"/>
                <a:ea typeface="Calibri" pitchFamily="34" charset="-122"/>
                <a:cs typeface="Calibri" pitchFamily="34" charset="-120"/>
              </a:rPr>
              <a:t>Choose a role, Farmer, Storage Facilitator or Buyer</a:t>
            </a:r>
            <a:endParaRPr lang="en-US" sz="1600" b="1" dirty="0"/>
          </a:p>
        </p:txBody>
      </p:sp>
      <p:sp>
        <p:nvSpPr>
          <p:cNvPr id="7" name="Text 3"/>
          <p:cNvSpPr/>
          <p:nvPr/>
        </p:nvSpPr>
        <p:spPr>
          <a:xfrm>
            <a:off x="6270008" y="6209848"/>
            <a:ext cx="5099498" cy="365760"/>
          </a:xfrm>
          <a:prstGeom prst="rect">
            <a:avLst/>
          </a:prstGeom>
          <a:noFill/>
          <a:ln/>
        </p:spPr>
        <p:txBody>
          <a:bodyPr wrap="square" rtlCol="0" anchor="ctr"/>
          <a:lstStyle/>
          <a:p>
            <a:pPr marL="0" indent="0" algn="ctr">
              <a:buNone/>
            </a:pPr>
            <a:r>
              <a:rPr lang="en-US" sz="1600" b="1" i="1" dirty="0">
                <a:latin typeface="Calibri" pitchFamily="34" charset="0"/>
                <a:ea typeface="Calibri" pitchFamily="34" charset="-122"/>
                <a:cs typeface="Calibri" pitchFamily="34" charset="-120"/>
              </a:rPr>
              <a:t>Sign in with phone, email or Google</a:t>
            </a:r>
            <a:endParaRPr lang="en-US" sz="1600" b="1" dirty="0"/>
          </a:p>
        </p:txBody>
      </p:sp>
      <p:sp>
        <p:nvSpPr>
          <p:cNvPr id="8" name="Text 4"/>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3.0 INSIDE THE PRODUCT</a:t>
            </a:r>
            <a:endParaRPr lang="en-US" sz="3200" dirty="0"/>
          </a:p>
        </p:txBody>
      </p:sp>
      <p:sp>
        <p:nvSpPr>
          <p:cNvPr id="3" name="Text 1"/>
          <p:cNvSpPr/>
          <p:nvPr/>
        </p:nvSpPr>
        <p:spPr>
          <a:xfrm>
            <a:off x="640080" y="521747"/>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One dashboard, then storage booked in a few taps</a:t>
            </a:r>
            <a:endParaRPr lang="en-US" sz="2000" dirty="0"/>
          </a:p>
        </p:txBody>
      </p:sp>
      <p:pic>
        <p:nvPicPr>
          <p:cNvPr id="4" name="Image 0" descr="/mnt/user-data/uploads/Picture9.png"/>
          <p:cNvPicPr>
            <a:picLocks noChangeAspect="1"/>
          </p:cNvPicPr>
          <p:nvPr/>
        </p:nvPicPr>
        <p:blipFill>
          <a:blip r:embed="rId3"/>
          <a:stretch>
            <a:fillRect/>
          </a:stretch>
        </p:blipFill>
        <p:spPr>
          <a:xfrm>
            <a:off x="215152" y="1678194"/>
            <a:ext cx="5696443" cy="4402566"/>
          </a:xfrm>
          <a:prstGeom prst="rect">
            <a:avLst/>
          </a:prstGeom>
          <a:effectLst>
            <a:outerShdw blurRad="127000" dist="38100" dir="5400000" algn="bl" rotWithShape="0">
              <a:srgbClr val="000000">
                <a:alpha val="25000"/>
              </a:srgbClr>
            </a:outerShdw>
          </a:effectLst>
        </p:spPr>
      </p:pic>
      <p:pic>
        <p:nvPicPr>
          <p:cNvPr id="5" name="Image 1" descr="/mnt/user-data/uploads/Picture10.png"/>
          <p:cNvPicPr>
            <a:picLocks noChangeAspect="1"/>
          </p:cNvPicPr>
          <p:nvPr/>
        </p:nvPicPr>
        <p:blipFill>
          <a:blip r:embed="rId4"/>
          <a:stretch>
            <a:fillRect/>
          </a:stretch>
        </p:blipFill>
        <p:spPr>
          <a:xfrm>
            <a:off x="6277356" y="1619027"/>
            <a:ext cx="5792724" cy="4461733"/>
          </a:xfrm>
          <a:prstGeom prst="rect">
            <a:avLst/>
          </a:prstGeom>
          <a:effectLst>
            <a:outerShdw blurRad="127000" dist="38100" dir="5400000" algn="bl" rotWithShape="0">
              <a:srgbClr val="000000">
                <a:alpha val="25000"/>
              </a:srgbClr>
            </a:outerShdw>
          </a:effectLst>
        </p:spPr>
      </p:pic>
      <p:sp>
        <p:nvSpPr>
          <p:cNvPr id="6" name="Text 2"/>
          <p:cNvSpPr/>
          <p:nvPr/>
        </p:nvSpPr>
        <p:spPr>
          <a:xfrm>
            <a:off x="812098" y="6344318"/>
            <a:ext cx="5099498" cy="365760"/>
          </a:xfrm>
          <a:prstGeom prst="rect">
            <a:avLst/>
          </a:prstGeom>
          <a:noFill/>
          <a:ln/>
        </p:spPr>
        <p:txBody>
          <a:bodyPr wrap="square" rtlCol="0" anchor="ctr"/>
          <a:lstStyle/>
          <a:p>
            <a:pPr marL="0" indent="0" algn="ctr">
              <a:buNone/>
            </a:pPr>
            <a:r>
              <a:rPr lang="en-US" sz="1600" b="1" i="1" dirty="0">
                <a:latin typeface="Calibri" pitchFamily="34" charset="0"/>
                <a:ea typeface="Calibri" pitchFamily="34" charset="-122"/>
                <a:cs typeface="Calibri" pitchFamily="34" charset="-120"/>
              </a:rPr>
              <a:t>A single home screen for storage, logistics, market and sales</a:t>
            </a:r>
            <a:endParaRPr lang="en-US" sz="1600" b="1" dirty="0"/>
          </a:p>
        </p:txBody>
      </p:sp>
      <p:sp>
        <p:nvSpPr>
          <p:cNvPr id="7" name="Text 3"/>
          <p:cNvSpPr/>
          <p:nvPr/>
        </p:nvSpPr>
        <p:spPr>
          <a:xfrm>
            <a:off x="6277356" y="6344318"/>
            <a:ext cx="5099498" cy="365760"/>
          </a:xfrm>
          <a:prstGeom prst="rect">
            <a:avLst/>
          </a:prstGeom>
          <a:noFill/>
          <a:ln/>
        </p:spPr>
        <p:txBody>
          <a:bodyPr wrap="square" rtlCol="0" anchor="ctr"/>
          <a:lstStyle/>
          <a:p>
            <a:pPr marL="0" indent="0" algn="ctr">
              <a:buNone/>
            </a:pPr>
            <a:r>
              <a:rPr lang="en-US" sz="1600" b="1" i="1" dirty="0">
                <a:latin typeface="Calibri" pitchFamily="34" charset="0"/>
                <a:ea typeface="Calibri" pitchFamily="34" charset="-122"/>
                <a:cs typeface="Calibri" pitchFamily="34" charset="-120"/>
              </a:rPr>
              <a:t>Compare nearby cold storage by price, capacity and distance</a:t>
            </a:r>
            <a:endParaRPr lang="en-US" sz="1600" b="1" dirty="0"/>
          </a:p>
        </p:txBody>
      </p:sp>
      <p:sp>
        <p:nvSpPr>
          <p:cNvPr id="8" name="Text 4"/>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INSIDE THE PRODUCT</a:t>
            </a:r>
            <a:endParaRPr lang="en-US" sz="3200" dirty="0"/>
          </a:p>
        </p:txBody>
      </p:sp>
      <p:sp>
        <p:nvSpPr>
          <p:cNvPr id="3" name="Text 1"/>
          <p:cNvSpPr/>
          <p:nvPr/>
        </p:nvSpPr>
        <p:spPr>
          <a:xfrm>
            <a:off x="640080" y="548641"/>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Book a refrigerated truck, then watch it move in real time</a:t>
            </a:r>
            <a:endParaRPr lang="en-US" sz="2000" dirty="0"/>
          </a:p>
        </p:txBody>
      </p:sp>
      <p:pic>
        <p:nvPicPr>
          <p:cNvPr id="4" name="Image 0" descr="/mnt/user-data/uploads/Picture11.png"/>
          <p:cNvPicPr>
            <a:picLocks noChangeAspect="1"/>
          </p:cNvPicPr>
          <p:nvPr/>
        </p:nvPicPr>
        <p:blipFill>
          <a:blip r:embed="rId3"/>
          <a:stretch>
            <a:fillRect/>
          </a:stretch>
        </p:blipFill>
        <p:spPr>
          <a:xfrm>
            <a:off x="188259" y="1600203"/>
            <a:ext cx="5135839" cy="4477868"/>
          </a:xfrm>
          <a:prstGeom prst="rect">
            <a:avLst/>
          </a:prstGeom>
          <a:effectLst>
            <a:outerShdw blurRad="127000" dist="38100" dir="5400000" algn="bl" rotWithShape="0">
              <a:srgbClr val="000000">
                <a:alpha val="25000"/>
              </a:srgbClr>
            </a:outerShdw>
          </a:effectLst>
        </p:spPr>
      </p:pic>
      <p:pic>
        <p:nvPicPr>
          <p:cNvPr id="5" name="Image 1" descr="/mnt/user-data/uploads/Picture12.png"/>
          <p:cNvPicPr>
            <a:picLocks noChangeAspect="1"/>
          </p:cNvPicPr>
          <p:nvPr/>
        </p:nvPicPr>
        <p:blipFill>
          <a:blip r:embed="rId4"/>
          <a:stretch>
            <a:fillRect/>
          </a:stretch>
        </p:blipFill>
        <p:spPr>
          <a:xfrm>
            <a:off x="5689857" y="1600202"/>
            <a:ext cx="6313884" cy="4477868"/>
          </a:xfrm>
          <a:prstGeom prst="rect">
            <a:avLst/>
          </a:prstGeom>
          <a:effectLst>
            <a:outerShdw blurRad="127000" dist="38100" dir="5400000" algn="bl" rotWithShape="0">
              <a:srgbClr val="000000">
                <a:alpha val="25000"/>
              </a:srgbClr>
            </a:outerShdw>
          </a:effectLst>
        </p:spPr>
      </p:pic>
      <p:sp>
        <p:nvSpPr>
          <p:cNvPr id="6" name="Text 2"/>
          <p:cNvSpPr/>
          <p:nvPr/>
        </p:nvSpPr>
        <p:spPr>
          <a:xfrm>
            <a:off x="649558" y="6242120"/>
            <a:ext cx="4674540" cy="365760"/>
          </a:xfrm>
          <a:prstGeom prst="rect">
            <a:avLst/>
          </a:prstGeom>
          <a:noFill/>
          <a:ln/>
        </p:spPr>
        <p:txBody>
          <a:bodyPr wrap="square" rtlCol="0" anchor="ctr"/>
          <a:lstStyle/>
          <a:p>
            <a:pPr marL="0" indent="0" algn="ctr">
              <a:buNone/>
            </a:pPr>
            <a:r>
              <a:rPr lang="en-US" sz="1600" b="1" i="1" dirty="0">
                <a:latin typeface="Calibri" pitchFamily="34" charset="0"/>
                <a:ea typeface="Calibri" pitchFamily="34" charset="-122"/>
                <a:cs typeface="Calibri" pitchFamily="34" charset="-120"/>
              </a:rPr>
              <a:t>Request a refrigerated truck with a clear price upfront</a:t>
            </a:r>
            <a:endParaRPr lang="en-US" sz="1600" b="1" dirty="0"/>
          </a:p>
        </p:txBody>
      </p:sp>
      <p:sp>
        <p:nvSpPr>
          <p:cNvPr id="7" name="Text 3"/>
          <p:cNvSpPr/>
          <p:nvPr/>
        </p:nvSpPr>
        <p:spPr>
          <a:xfrm>
            <a:off x="5689857" y="6242120"/>
            <a:ext cx="5849537" cy="365760"/>
          </a:xfrm>
          <a:prstGeom prst="rect">
            <a:avLst/>
          </a:prstGeom>
          <a:noFill/>
          <a:ln/>
        </p:spPr>
        <p:txBody>
          <a:bodyPr wrap="square" rtlCol="0" anchor="ctr"/>
          <a:lstStyle/>
          <a:p>
            <a:pPr marL="0" indent="0" algn="ctr">
              <a:buNone/>
            </a:pPr>
            <a:r>
              <a:rPr lang="en-US" sz="1600" b="1" i="1" dirty="0">
                <a:latin typeface="Calibri" pitchFamily="34" charset="0"/>
                <a:ea typeface="Calibri" pitchFamily="34" charset="-122"/>
                <a:cs typeface="Calibri" pitchFamily="34" charset="-120"/>
              </a:rPr>
              <a:t>Live GPS tracking from pickup confirmed to delivered</a:t>
            </a:r>
            <a:endParaRPr lang="en-US" sz="1600" b="1" dirty="0"/>
          </a:p>
        </p:txBody>
      </p:sp>
      <p:sp>
        <p:nvSpPr>
          <p:cNvPr id="8" name="Text 4"/>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HOW WE BUILT IT</a:t>
            </a:r>
            <a:endParaRPr lang="en-US" sz="3200" dirty="0"/>
          </a:p>
        </p:txBody>
      </p:sp>
      <p:sp>
        <p:nvSpPr>
          <p:cNvPr id="3" name="Text 1"/>
          <p:cNvSpPr/>
          <p:nvPr/>
        </p:nvSpPr>
        <p:spPr>
          <a:xfrm>
            <a:off x="640080" y="521747"/>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A modern stack, secured by design, built with AI as a reviewed co-pilot</a:t>
            </a:r>
            <a:endParaRPr lang="en-US" sz="2000" dirty="0"/>
          </a:p>
        </p:txBody>
      </p:sp>
      <p:sp>
        <p:nvSpPr>
          <p:cNvPr id="4" name="Text 2"/>
          <p:cNvSpPr/>
          <p:nvPr/>
        </p:nvSpPr>
        <p:spPr>
          <a:xfrm>
            <a:off x="640080" y="1828800"/>
            <a:ext cx="5120640" cy="320040"/>
          </a:xfrm>
          <a:prstGeom prst="rect">
            <a:avLst/>
          </a:prstGeom>
          <a:noFill/>
          <a:ln/>
        </p:spPr>
        <p:txBody>
          <a:bodyPr wrap="square" rtlCol="0" anchor="ctr"/>
          <a:lstStyle/>
          <a:p>
            <a:pPr marL="0" indent="0">
              <a:buNone/>
            </a:pPr>
            <a:r>
              <a:rPr lang="en-US" b="1" kern="0" spc="150" dirty="0">
                <a:solidFill>
                  <a:srgbClr val="DC5B5B"/>
                </a:solidFill>
                <a:latin typeface="Calibri" pitchFamily="34" charset="0"/>
                <a:ea typeface="Calibri" pitchFamily="34" charset="-122"/>
                <a:cs typeface="Calibri" pitchFamily="34" charset="-120"/>
              </a:rPr>
              <a:t>TECHNOLOGY STACK</a:t>
            </a:r>
            <a:endParaRPr lang="en-US" dirty="0">
              <a:solidFill>
                <a:srgbClr val="DC5B5B"/>
              </a:solidFill>
            </a:endParaRPr>
          </a:p>
        </p:txBody>
      </p:sp>
      <p:sp>
        <p:nvSpPr>
          <p:cNvPr id="5" name="Text 3"/>
          <p:cNvSpPr/>
          <p:nvPr/>
        </p:nvSpPr>
        <p:spPr>
          <a:xfrm>
            <a:off x="640080" y="2423158"/>
            <a:ext cx="5120640" cy="1737360"/>
          </a:xfrm>
          <a:prstGeom prst="rect">
            <a:avLst/>
          </a:prstGeom>
          <a:noFill/>
          <a:ln/>
        </p:spPr>
        <p:txBody>
          <a:bodyPr wrap="square" rtlCol="0" anchor="ctr"/>
          <a:lstStyle/>
          <a:p>
            <a:pPr marL="342900" indent="-342900">
              <a:lnSpc>
                <a:spcPct val="125000"/>
              </a:lnSpc>
              <a:spcAft>
                <a:spcPts val="600"/>
              </a:spcAft>
              <a:buSzPct val="100000"/>
              <a:buChar char="•"/>
            </a:pPr>
            <a:r>
              <a:rPr lang="en-US" sz="1600" dirty="0">
                <a:solidFill>
                  <a:srgbClr val="1C1C1C"/>
                </a:solidFill>
                <a:latin typeface="Calibri" pitchFamily="34" charset="0"/>
                <a:ea typeface="Calibri" pitchFamily="34" charset="-122"/>
                <a:cs typeface="Calibri" pitchFamily="34" charset="-120"/>
              </a:rPr>
              <a:t>Frontend: HTML, CSS, JavaScript, React</a:t>
            </a:r>
            <a:endParaRPr lang="en-US" sz="1600" dirty="0"/>
          </a:p>
          <a:p>
            <a:pPr marL="342900" indent="-342900">
              <a:lnSpc>
                <a:spcPct val="125000"/>
              </a:lnSpc>
              <a:spcAft>
                <a:spcPts val="600"/>
              </a:spcAft>
              <a:buSzPct val="100000"/>
              <a:buChar char="•"/>
            </a:pPr>
            <a:r>
              <a:rPr lang="en-US" sz="1600" dirty="0">
                <a:solidFill>
                  <a:srgbClr val="1C1C1C"/>
                </a:solidFill>
                <a:latin typeface="Calibri" pitchFamily="34" charset="0"/>
                <a:ea typeface="Calibri" pitchFamily="34" charset="-122"/>
                <a:cs typeface="Calibri" pitchFamily="34" charset="-120"/>
              </a:rPr>
              <a:t>Backend: Node.js, Express</a:t>
            </a:r>
            <a:endParaRPr lang="en-US" sz="1600" dirty="0"/>
          </a:p>
          <a:p>
            <a:pPr marL="342900" indent="-342900">
              <a:lnSpc>
                <a:spcPct val="125000"/>
              </a:lnSpc>
              <a:spcAft>
                <a:spcPts val="600"/>
              </a:spcAft>
              <a:buSzPct val="100000"/>
              <a:buChar char="•"/>
            </a:pPr>
            <a:r>
              <a:rPr lang="en-US" sz="1600" dirty="0">
                <a:solidFill>
                  <a:srgbClr val="1C1C1C"/>
                </a:solidFill>
                <a:latin typeface="Calibri" pitchFamily="34" charset="0"/>
                <a:ea typeface="Calibri" pitchFamily="34" charset="-122"/>
                <a:cs typeface="Calibri" pitchFamily="34" charset="-120"/>
              </a:rPr>
              <a:t>Database: MongoDB</a:t>
            </a:r>
            <a:endParaRPr lang="en-US" sz="1600" dirty="0"/>
          </a:p>
          <a:p>
            <a:pPr marL="342900" indent="-342900">
              <a:lnSpc>
                <a:spcPct val="125000"/>
              </a:lnSpc>
              <a:buSzPct val="100000"/>
              <a:buChar char="•"/>
            </a:pPr>
            <a:r>
              <a:rPr lang="en-US" sz="1600" dirty="0">
                <a:solidFill>
                  <a:srgbClr val="1C1C1C"/>
                </a:solidFill>
                <a:latin typeface="Calibri" pitchFamily="34" charset="0"/>
                <a:ea typeface="Calibri" pitchFamily="34" charset="-122"/>
                <a:cs typeface="Calibri" pitchFamily="34" charset="-120"/>
              </a:rPr>
              <a:t>Workflow: Jira, GitHub, Figma, Canva, Google Workspace</a:t>
            </a:r>
            <a:endParaRPr lang="en-US" sz="1600" dirty="0"/>
          </a:p>
        </p:txBody>
      </p:sp>
      <p:sp>
        <p:nvSpPr>
          <p:cNvPr id="6" name="Text 4"/>
          <p:cNvSpPr/>
          <p:nvPr/>
        </p:nvSpPr>
        <p:spPr>
          <a:xfrm>
            <a:off x="828339" y="4674197"/>
            <a:ext cx="5120640" cy="320040"/>
          </a:xfrm>
          <a:prstGeom prst="rect">
            <a:avLst/>
          </a:prstGeom>
          <a:noFill/>
          <a:ln/>
        </p:spPr>
        <p:txBody>
          <a:bodyPr wrap="square" rtlCol="0" anchor="ctr"/>
          <a:lstStyle/>
          <a:p>
            <a:pPr marL="0" indent="0">
              <a:buNone/>
            </a:pPr>
            <a:r>
              <a:rPr lang="en-US" b="1" kern="0" spc="150" dirty="0">
                <a:solidFill>
                  <a:srgbClr val="D32F2F"/>
                </a:solidFill>
                <a:latin typeface="Calibri" pitchFamily="34" charset="0"/>
                <a:ea typeface="Calibri" pitchFamily="34" charset="-122"/>
                <a:cs typeface="Calibri" pitchFamily="34" charset="-120"/>
              </a:rPr>
              <a:t>SECURITY HIGHLIGHTS</a:t>
            </a:r>
            <a:endParaRPr lang="en-US" dirty="0"/>
          </a:p>
        </p:txBody>
      </p:sp>
      <p:sp>
        <p:nvSpPr>
          <p:cNvPr id="7" name="Text 5"/>
          <p:cNvSpPr/>
          <p:nvPr/>
        </p:nvSpPr>
        <p:spPr>
          <a:xfrm>
            <a:off x="640080" y="4964652"/>
            <a:ext cx="5120640" cy="1737360"/>
          </a:xfrm>
          <a:prstGeom prst="rect">
            <a:avLst/>
          </a:prstGeom>
          <a:noFill/>
          <a:ln/>
        </p:spPr>
        <p:txBody>
          <a:bodyPr wrap="square" rtlCol="0" anchor="ctr"/>
          <a:lstStyle/>
          <a:p>
            <a:pPr marL="342900" indent="-342900">
              <a:lnSpc>
                <a:spcPct val="125000"/>
              </a:lnSpc>
              <a:spcAft>
                <a:spcPts val="600"/>
              </a:spcAft>
              <a:buSzPct val="100000"/>
              <a:buChar char="•"/>
            </a:pPr>
            <a:r>
              <a:rPr lang="en-US" sz="1600" dirty="0">
                <a:solidFill>
                  <a:srgbClr val="1C1C1C"/>
                </a:solidFill>
                <a:latin typeface="Calibri" pitchFamily="34" charset="0"/>
                <a:ea typeface="Calibri" pitchFamily="34" charset="-122"/>
                <a:cs typeface="Calibri" pitchFamily="34" charset="-120"/>
              </a:rPr>
              <a:t>Secure authentication and password protection</a:t>
            </a:r>
            <a:endParaRPr lang="en-US" sz="1600" dirty="0"/>
          </a:p>
          <a:p>
            <a:pPr marL="342900" indent="-342900">
              <a:lnSpc>
                <a:spcPct val="125000"/>
              </a:lnSpc>
              <a:spcAft>
                <a:spcPts val="600"/>
              </a:spcAft>
              <a:buSzPct val="100000"/>
              <a:buChar char="•"/>
            </a:pPr>
            <a:r>
              <a:rPr lang="en-US" sz="1600" dirty="0">
                <a:solidFill>
                  <a:srgbClr val="1C1C1C"/>
                </a:solidFill>
                <a:latin typeface="Calibri" pitchFamily="34" charset="0"/>
                <a:ea typeface="Calibri" pitchFamily="34" charset="-122"/>
                <a:cs typeface="Calibri" pitchFamily="34" charset="-120"/>
              </a:rPr>
              <a:t>Role based access for each of the five user types</a:t>
            </a:r>
            <a:endParaRPr lang="en-US" sz="1600" dirty="0"/>
          </a:p>
          <a:p>
            <a:pPr marL="342900" indent="-342900">
              <a:lnSpc>
                <a:spcPct val="125000"/>
              </a:lnSpc>
              <a:spcAft>
                <a:spcPts val="600"/>
              </a:spcAft>
              <a:buSzPct val="100000"/>
              <a:buChar char="•"/>
            </a:pPr>
            <a:r>
              <a:rPr lang="en-US" sz="1600" dirty="0">
                <a:solidFill>
                  <a:srgbClr val="1C1C1C"/>
                </a:solidFill>
                <a:latin typeface="Calibri" pitchFamily="34" charset="0"/>
                <a:ea typeface="Calibri" pitchFamily="34" charset="-122"/>
                <a:cs typeface="Calibri" pitchFamily="34" charset="-120"/>
              </a:rPr>
              <a:t>Data encryption and privacy protection throughout</a:t>
            </a:r>
            <a:endParaRPr lang="en-US" sz="1600" dirty="0"/>
          </a:p>
          <a:p>
            <a:pPr marL="342900" indent="-342900">
              <a:lnSpc>
                <a:spcPct val="125000"/>
              </a:lnSpc>
              <a:buSzPct val="100000"/>
              <a:buChar char="•"/>
            </a:pPr>
            <a:r>
              <a:rPr lang="en-US" sz="1600" dirty="0">
                <a:solidFill>
                  <a:srgbClr val="1C1C1C"/>
                </a:solidFill>
                <a:latin typeface="Calibri" pitchFamily="34" charset="0"/>
                <a:ea typeface="Calibri" pitchFamily="34" charset="-122"/>
                <a:cs typeface="Calibri" pitchFamily="34" charset="-120"/>
              </a:rPr>
              <a:t>Active threat mitigation on all user facing endpoints</a:t>
            </a:r>
            <a:endParaRPr lang="en-US" sz="1600" dirty="0"/>
          </a:p>
        </p:txBody>
      </p:sp>
      <p:pic>
        <p:nvPicPr>
          <p:cNvPr id="8" name="Image 0" descr="/mnt/user-data/uploads/Picture5.png"/>
          <p:cNvPicPr>
            <a:picLocks noChangeAspect="1"/>
          </p:cNvPicPr>
          <p:nvPr/>
        </p:nvPicPr>
        <p:blipFill>
          <a:blip r:embed="rId3"/>
          <a:stretch>
            <a:fillRect/>
          </a:stretch>
        </p:blipFill>
        <p:spPr>
          <a:xfrm>
            <a:off x="6870994" y="1783080"/>
            <a:ext cx="4677878" cy="3703320"/>
          </a:xfrm>
          <a:prstGeom prst="rect">
            <a:avLst/>
          </a:prstGeom>
          <a:effectLst>
            <a:outerShdw blurRad="127000" dist="38100" dir="5400000" algn="bl" rotWithShape="0">
              <a:srgbClr val="000000">
                <a:alpha val="25000"/>
              </a:srgbClr>
            </a:outerShdw>
          </a:effectLst>
        </p:spPr>
      </p:pic>
      <p:sp>
        <p:nvSpPr>
          <p:cNvPr id="9" name="Text 6"/>
          <p:cNvSpPr/>
          <p:nvPr/>
        </p:nvSpPr>
        <p:spPr>
          <a:xfrm>
            <a:off x="6870994" y="5623560"/>
            <a:ext cx="4677878" cy="731520"/>
          </a:xfrm>
          <a:prstGeom prst="rect">
            <a:avLst/>
          </a:prstGeom>
          <a:noFill/>
          <a:ln/>
        </p:spPr>
        <p:txBody>
          <a:bodyPr wrap="square" rtlCol="0" anchor="ctr"/>
          <a:lstStyle/>
          <a:p>
            <a:pPr marL="0" indent="0">
              <a:lnSpc>
                <a:spcPct val="125000"/>
              </a:lnSpc>
              <a:buNone/>
            </a:pPr>
            <a:r>
              <a:rPr lang="en-US" sz="1400" b="1" i="1" dirty="0">
                <a:solidFill>
                  <a:srgbClr val="5F6368"/>
                </a:solidFill>
                <a:latin typeface="Calibri" pitchFamily="34" charset="0"/>
                <a:ea typeface="Calibri" pitchFamily="34" charset="-122"/>
                <a:cs typeface="Calibri" pitchFamily="34" charset="-120"/>
              </a:rPr>
              <a:t>Every AI assisted output across product, design, engineering and marketing was reviewed, tested or validated by a team member before use, logged here for full transparency.</a:t>
            </a:r>
            <a:endParaRPr lang="en-US" sz="1400" b="1" dirty="0"/>
          </a:p>
        </p:txBody>
      </p:sp>
      <p:sp>
        <p:nvSpPr>
          <p:cNvPr id="10" name="Text 7"/>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ROADMAP &amp; GO TO MARKET</a:t>
            </a:r>
            <a:endParaRPr lang="en-US" sz="3200" dirty="0"/>
          </a:p>
        </p:txBody>
      </p:sp>
      <p:sp>
        <p:nvSpPr>
          <p:cNvPr id="3" name="Text 1"/>
          <p:cNvSpPr/>
          <p:nvPr/>
        </p:nvSpPr>
        <p:spPr>
          <a:xfrm>
            <a:off x="640080" y="548641"/>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Six months from research to a national launch</a:t>
            </a:r>
            <a:endParaRPr lang="en-US" sz="2000" dirty="0"/>
          </a:p>
        </p:txBody>
      </p:sp>
      <p:sp>
        <p:nvSpPr>
          <p:cNvPr id="4" name="Shape 2"/>
          <p:cNvSpPr/>
          <p:nvPr/>
        </p:nvSpPr>
        <p:spPr>
          <a:xfrm>
            <a:off x="640080" y="1828800"/>
            <a:ext cx="1755648" cy="1554480"/>
          </a:xfrm>
          <a:prstGeom prst="roundRect">
            <a:avLst>
              <a:gd name="adj" fmla="val 2941"/>
            </a:avLst>
          </a:prstGeom>
          <a:solidFill>
            <a:srgbClr val="2E7D32"/>
          </a:solidFill>
          <a:ln/>
        </p:spPr>
      </p:sp>
      <p:sp>
        <p:nvSpPr>
          <p:cNvPr id="5" name="Text 3"/>
          <p:cNvSpPr/>
          <p:nvPr/>
        </p:nvSpPr>
        <p:spPr>
          <a:xfrm>
            <a:off x="731520" y="1965960"/>
            <a:ext cx="1572768" cy="960120"/>
          </a:xfrm>
          <a:prstGeom prst="rect">
            <a:avLst/>
          </a:prstGeom>
          <a:noFill/>
          <a:ln/>
        </p:spPr>
        <p:txBody>
          <a:bodyPr wrap="square"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Discovery</a:t>
            </a:r>
            <a:endParaRPr lang="en-US" dirty="0"/>
          </a:p>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&amp; Planning</a:t>
            </a:r>
            <a:endParaRPr lang="en-US" dirty="0"/>
          </a:p>
        </p:txBody>
      </p:sp>
      <p:sp>
        <p:nvSpPr>
          <p:cNvPr id="6" name="Text 4"/>
          <p:cNvSpPr/>
          <p:nvPr/>
        </p:nvSpPr>
        <p:spPr>
          <a:xfrm>
            <a:off x="731520" y="2971800"/>
            <a:ext cx="1572768" cy="320040"/>
          </a:xfrm>
          <a:prstGeom prst="rect">
            <a:avLst/>
          </a:prstGeom>
          <a:noFill/>
          <a:ln/>
        </p:spPr>
        <p:txBody>
          <a:bodyPr wrap="square" rtlCol="0" anchor="ctr"/>
          <a:lstStyle/>
          <a:p>
            <a:pPr marL="0" indent="0" algn="ctr">
              <a:buNone/>
            </a:pPr>
            <a:r>
              <a:rPr lang="en-US" sz="1600" b="1" dirty="0">
                <a:solidFill>
                  <a:srgbClr val="D4EDD5"/>
                </a:solidFill>
                <a:latin typeface="Calibri" pitchFamily="34" charset="0"/>
                <a:ea typeface="Calibri" pitchFamily="34" charset="-122"/>
                <a:cs typeface="Calibri" pitchFamily="34" charset="-120"/>
              </a:rPr>
              <a:t>Wks 1-2</a:t>
            </a:r>
            <a:endParaRPr lang="en-US" sz="1600" b="1" dirty="0"/>
          </a:p>
        </p:txBody>
      </p:sp>
      <p:sp>
        <p:nvSpPr>
          <p:cNvPr id="7" name="Shape 5"/>
          <p:cNvSpPr/>
          <p:nvPr/>
        </p:nvSpPr>
        <p:spPr>
          <a:xfrm>
            <a:off x="2487168" y="1828800"/>
            <a:ext cx="1755648" cy="1554480"/>
          </a:xfrm>
          <a:prstGeom prst="roundRect">
            <a:avLst>
              <a:gd name="adj" fmla="val 2941"/>
            </a:avLst>
          </a:prstGeom>
          <a:solidFill>
            <a:srgbClr val="2E7D32"/>
          </a:solidFill>
          <a:ln/>
        </p:spPr>
      </p:sp>
      <p:sp>
        <p:nvSpPr>
          <p:cNvPr id="8" name="Text 6"/>
          <p:cNvSpPr/>
          <p:nvPr/>
        </p:nvSpPr>
        <p:spPr>
          <a:xfrm>
            <a:off x="2578608" y="1965960"/>
            <a:ext cx="1572768" cy="960120"/>
          </a:xfrm>
          <a:prstGeom prst="rect">
            <a:avLst/>
          </a:prstGeom>
          <a:noFill/>
          <a:ln/>
        </p:spPr>
        <p:txBody>
          <a:bodyPr wrap="square"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UX / UI</a:t>
            </a:r>
            <a:endParaRPr lang="en-US" dirty="0"/>
          </a:p>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Design</a:t>
            </a:r>
            <a:endParaRPr lang="en-US" dirty="0"/>
          </a:p>
        </p:txBody>
      </p:sp>
      <p:sp>
        <p:nvSpPr>
          <p:cNvPr id="9" name="Text 7"/>
          <p:cNvSpPr/>
          <p:nvPr/>
        </p:nvSpPr>
        <p:spPr>
          <a:xfrm>
            <a:off x="2578608" y="2971800"/>
            <a:ext cx="1572768" cy="320040"/>
          </a:xfrm>
          <a:prstGeom prst="rect">
            <a:avLst/>
          </a:prstGeom>
          <a:noFill/>
          <a:ln/>
        </p:spPr>
        <p:txBody>
          <a:bodyPr wrap="square" rtlCol="0" anchor="ctr"/>
          <a:lstStyle/>
          <a:p>
            <a:pPr marL="0" indent="0" algn="ctr">
              <a:buNone/>
            </a:pPr>
            <a:r>
              <a:rPr lang="en-US" sz="1600" b="1" dirty="0">
                <a:solidFill>
                  <a:srgbClr val="D4EDD5"/>
                </a:solidFill>
                <a:latin typeface="Calibri" pitchFamily="34" charset="0"/>
                <a:ea typeface="Calibri" pitchFamily="34" charset="-122"/>
                <a:cs typeface="Calibri" pitchFamily="34" charset="-120"/>
              </a:rPr>
              <a:t>Wks 3-6</a:t>
            </a:r>
            <a:endParaRPr lang="en-US" sz="1600" b="1" dirty="0"/>
          </a:p>
        </p:txBody>
      </p:sp>
      <p:sp>
        <p:nvSpPr>
          <p:cNvPr id="10" name="Shape 8"/>
          <p:cNvSpPr/>
          <p:nvPr/>
        </p:nvSpPr>
        <p:spPr>
          <a:xfrm>
            <a:off x="4334256" y="1828800"/>
            <a:ext cx="1755648" cy="1554480"/>
          </a:xfrm>
          <a:prstGeom prst="roundRect">
            <a:avLst>
              <a:gd name="adj" fmla="val 2941"/>
            </a:avLst>
          </a:prstGeom>
          <a:solidFill>
            <a:srgbClr val="2E7D32"/>
          </a:solidFill>
          <a:ln/>
        </p:spPr>
      </p:sp>
      <p:sp>
        <p:nvSpPr>
          <p:cNvPr id="11" name="Text 9"/>
          <p:cNvSpPr/>
          <p:nvPr/>
        </p:nvSpPr>
        <p:spPr>
          <a:xfrm>
            <a:off x="4425696" y="1965960"/>
            <a:ext cx="1572768" cy="960120"/>
          </a:xfrm>
          <a:prstGeom prst="rect">
            <a:avLst/>
          </a:prstGeom>
          <a:noFill/>
          <a:ln/>
        </p:spPr>
        <p:txBody>
          <a:bodyPr wrap="square"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MVP</a:t>
            </a:r>
            <a:endParaRPr lang="en-US" dirty="0"/>
          </a:p>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Development</a:t>
            </a:r>
            <a:endParaRPr lang="en-US" dirty="0"/>
          </a:p>
        </p:txBody>
      </p:sp>
      <p:sp>
        <p:nvSpPr>
          <p:cNvPr id="12" name="Text 10"/>
          <p:cNvSpPr/>
          <p:nvPr/>
        </p:nvSpPr>
        <p:spPr>
          <a:xfrm>
            <a:off x="4425696" y="2971800"/>
            <a:ext cx="1572768" cy="320040"/>
          </a:xfrm>
          <a:prstGeom prst="rect">
            <a:avLst/>
          </a:prstGeom>
          <a:noFill/>
          <a:ln/>
        </p:spPr>
        <p:txBody>
          <a:bodyPr wrap="square" rtlCol="0" anchor="ctr"/>
          <a:lstStyle/>
          <a:p>
            <a:pPr marL="0" indent="0" algn="ctr">
              <a:buNone/>
            </a:pPr>
            <a:r>
              <a:rPr lang="en-US" sz="1600" b="1" dirty="0">
                <a:solidFill>
                  <a:srgbClr val="D4EDD5"/>
                </a:solidFill>
                <a:latin typeface="Calibri" pitchFamily="34" charset="0"/>
                <a:ea typeface="Calibri" pitchFamily="34" charset="-122"/>
                <a:cs typeface="Calibri" pitchFamily="34" charset="-120"/>
              </a:rPr>
              <a:t>Wks 7-14</a:t>
            </a:r>
            <a:endParaRPr lang="en-US" sz="1600" b="1" dirty="0"/>
          </a:p>
        </p:txBody>
      </p:sp>
      <p:sp>
        <p:nvSpPr>
          <p:cNvPr id="13" name="Shape 11"/>
          <p:cNvSpPr/>
          <p:nvPr/>
        </p:nvSpPr>
        <p:spPr>
          <a:xfrm>
            <a:off x="6181344" y="1828800"/>
            <a:ext cx="1755648" cy="1554480"/>
          </a:xfrm>
          <a:prstGeom prst="roundRect">
            <a:avLst>
              <a:gd name="adj" fmla="val 2941"/>
            </a:avLst>
          </a:prstGeom>
          <a:solidFill>
            <a:srgbClr val="2E7D32"/>
          </a:solidFill>
          <a:ln/>
        </p:spPr>
      </p:sp>
      <p:sp>
        <p:nvSpPr>
          <p:cNvPr id="14" name="Text 12"/>
          <p:cNvSpPr/>
          <p:nvPr/>
        </p:nvSpPr>
        <p:spPr>
          <a:xfrm>
            <a:off x="6272784" y="1965960"/>
            <a:ext cx="1572768" cy="960120"/>
          </a:xfrm>
          <a:prstGeom prst="rect">
            <a:avLst/>
          </a:prstGeom>
          <a:noFill/>
          <a:ln/>
        </p:spPr>
        <p:txBody>
          <a:bodyPr wrap="square"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Testing</a:t>
            </a:r>
            <a:endParaRPr lang="en-US" dirty="0"/>
          </a:p>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&amp; QA</a:t>
            </a:r>
            <a:endParaRPr lang="en-US" dirty="0"/>
          </a:p>
        </p:txBody>
      </p:sp>
      <p:sp>
        <p:nvSpPr>
          <p:cNvPr id="15" name="Text 13"/>
          <p:cNvSpPr/>
          <p:nvPr/>
        </p:nvSpPr>
        <p:spPr>
          <a:xfrm>
            <a:off x="6272784" y="2971800"/>
            <a:ext cx="1572768" cy="320040"/>
          </a:xfrm>
          <a:prstGeom prst="rect">
            <a:avLst/>
          </a:prstGeom>
          <a:noFill/>
          <a:ln/>
        </p:spPr>
        <p:txBody>
          <a:bodyPr wrap="square" rtlCol="0" anchor="ctr"/>
          <a:lstStyle/>
          <a:p>
            <a:pPr marL="0" indent="0" algn="ctr">
              <a:buNone/>
            </a:pPr>
            <a:r>
              <a:rPr lang="en-US" sz="1600" b="1" dirty="0">
                <a:solidFill>
                  <a:srgbClr val="D4EDD5"/>
                </a:solidFill>
                <a:latin typeface="Calibri" pitchFamily="34" charset="0"/>
                <a:ea typeface="Calibri" pitchFamily="34" charset="-122"/>
                <a:cs typeface="Calibri" pitchFamily="34" charset="-120"/>
              </a:rPr>
              <a:t>Wks 15-16</a:t>
            </a:r>
            <a:endParaRPr lang="en-US" sz="1600" b="1" dirty="0"/>
          </a:p>
        </p:txBody>
      </p:sp>
      <p:sp>
        <p:nvSpPr>
          <p:cNvPr id="16" name="Shape 14"/>
          <p:cNvSpPr/>
          <p:nvPr/>
        </p:nvSpPr>
        <p:spPr>
          <a:xfrm>
            <a:off x="8028432" y="1828800"/>
            <a:ext cx="1755648" cy="1554480"/>
          </a:xfrm>
          <a:prstGeom prst="roundRect">
            <a:avLst>
              <a:gd name="adj" fmla="val 2941"/>
            </a:avLst>
          </a:prstGeom>
          <a:solidFill>
            <a:srgbClr val="1B5E20"/>
          </a:solidFill>
          <a:ln/>
        </p:spPr>
      </p:sp>
      <p:sp>
        <p:nvSpPr>
          <p:cNvPr id="17" name="Text 15"/>
          <p:cNvSpPr/>
          <p:nvPr/>
        </p:nvSpPr>
        <p:spPr>
          <a:xfrm>
            <a:off x="8119872" y="1965960"/>
            <a:ext cx="1572768" cy="960120"/>
          </a:xfrm>
          <a:prstGeom prst="rect">
            <a:avLst/>
          </a:prstGeom>
          <a:noFill/>
          <a:ln/>
        </p:spPr>
        <p:txBody>
          <a:bodyPr wrap="square"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Pilot</a:t>
            </a:r>
            <a:endParaRPr lang="en-US" dirty="0"/>
          </a:p>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Launch</a:t>
            </a:r>
            <a:endParaRPr lang="en-US" dirty="0"/>
          </a:p>
        </p:txBody>
      </p:sp>
      <p:sp>
        <p:nvSpPr>
          <p:cNvPr id="18" name="Text 16"/>
          <p:cNvSpPr/>
          <p:nvPr/>
        </p:nvSpPr>
        <p:spPr>
          <a:xfrm>
            <a:off x="8119872" y="2971800"/>
            <a:ext cx="1572768" cy="320040"/>
          </a:xfrm>
          <a:prstGeom prst="rect">
            <a:avLst/>
          </a:prstGeom>
          <a:noFill/>
          <a:ln/>
        </p:spPr>
        <p:txBody>
          <a:bodyPr wrap="square" rtlCol="0" anchor="ctr"/>
          <a:lstStyle/>
          <a:p>
            <a:pPr marL="0" indent="0" algn="ctr">
              <a:buNone/>
            </a:pPr>
            <a:r>
              <a:rPr lang="en-US" sz="1600" b="1" dirty="0">
                <a:solidFill>
                  <a:srgbClr val="D4EDD5"/>
                </a:solidFill>
                <a:latin typeface="Calibri" pitchFamily="34" charset="0"/>
                <a:ea typeface="Calibri" pitchFamily="34" charset="-122"/>
                <a:cs typeface="Calibri" pitchFamily="34" charset="-120"/>
              </a:rPr>
              <a:t>Wks 17-18</a:t>
            </a:r>
            <a:endParaRPr lang="en-US" sz="1600" b="1" dirty="0"/>
          </a:p>
        </p:txBody>
      </p:sp>
      <p:sp>
        <p:nvSpPr>
          <p:cNvPr id="19" name="Shape 17"/>
          <p:cNvSpPr/>
          <p:nvPr/>
        </p:nvSpPr>
        <p:spPr>
          <a:xfrm>
            <a:off x="9875520" y="1828800"/>
            <a:ext cx="1755648" cy="1554480"/>
          </a:xfrm>
          <a:prstGeom prst="roundRect">
            <a:avLst>
              <a:gd name="adj" fmla="val 2941"/>
            </a:avLst>
          </a:prstGeom>
          <a:solidFill>
            <a:srgbClr val="1B5E20"/>
          </a:solidFill>
          <a:ln/>
        </p:spPr>
      </p:sp>
      <p:sp>
        <p:nvSpPr>
          <p:cNvPr id="20" name="Text 18"/>
          <p:cNvSpPr/>
          <p:nvPr/>
        </p:nvSpPr>
        <p:spPr>
          <a:xfrm>
            <a:off x="9966960" y="1965960"/>
            <a:ext cx="1572768" cy="960120"/>
          </a:xfrm>
          <a:prstGeom prst="rect">
            <a:avLst/>
          </a:prstGeom>
          <a:noFill/>
          <a:ln/>
        </p:spPr>
        <p:txBody>
          <a:bodyPr wrap="square" rtlCol="0" anchor="ctr"/>
          <a:lstStyle/>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Public Launch</a:t>
            </a:r>
            <a:endParaRPr lang="en-US" dirty="0"/>
          </a:p>
          <a:p>
            <a:pPr marL="0" indent="0" algn="ctr">
              <a:lnSpc>
                <a:spcPct val="110000"/>
              </a:lnSpc>
              <a:buNone/>
            </a:pPr>
            <a:r>
              <a:rPr lang="en-US" b="1" dirty="0">
                <a:solidFill>
                  <a:srgbClr val="FFFFFF"/>
                </a:solidFill>
                <a:latin typeface="Calibri" pitchFamily="34" charset="0"/>
                <a:ea typeface="Calibri" pitchFamily="34" charset="-122"/>
                <a:cs typeface="Calibri" pitchFamily="34" charset="-120"/>
              </a:rPr>
              <a:t>&amp; Scale</a:t>
            </a:r>
            <a:endParaRPr lang="en-US" dirty="0"/>
          </a:p>
        </p:txBody>
      </p:sp>
      <p:sp>
        <p:nvSpPr>
          <p:cNvPr id="21" name="Text 19"/>
          <p:cNvSpPr/>
          <p:nvPr/>
        </p:nvSpPr>
        <p:spPr>
          <a:xfrm>
            <a:off x="9966960" y="2971800"/>
            <a:ext cx="1572768" cy="320040"/>
          </a:xfrm>
          <a:prstGeom prst="rect">
            <a:avLst/>
          </a:prstGeom>
          <a:noFill/>
          <a:ln/>
        </p:spPr>
        <p:txBody>
          <a:bodyPr wrap="square" rtlCol="0" anchor="ctr"/>
          <a:lstStyle/>
          <a:p>
            <a:pPr marL="0" indent="0" algn="ctr">
              <a:buNone/>
            </a:pPr>
            <a:r>
              <a:rPr lang="en-US" sz="1600" b="1" dirty="0">
                <a:solidFill>
                  <a:srgbClr val="D4EDD5"/>
                </a:solidFill>
                <a:latin typeface="Calibri" pitchFamily="34" charset="0"/>
                <a:ea typeface="Calibri" pitchFamily="34" charset="-122"/>
                <a:cs typeface="Calibri" pitchFamily="34" charset="-120"/>
              </a:rPr>
              <a:t>Wks 19-24</a:t>
            </a:r>
            <a:endParaRPr lang="en-US" sz="1600" b="1" dirty="0"/>
          </a:p>
        </p:txBody>
      </p:sp>
      <p:sp>
        <p:nvSpPr>
          <p:cNvPr id="22" name="Text 20"/>
          <p:cNvSpPr/>
          <p:nvPr/>
        </p:nvSpPr>
        <p:spPr>
          <a:xfrm>
            <a:off x="640080" y="3657600"/>
            <a:ext cx="5486400" cy="320040"/>
          </a:xfrm>
          <a:prstGeom prst="rect">
            <a:avLst/>
          </a:prstGeom>
          <a:noFill/>
          <a:ln/>
        </p:spPr>
        <p:txBody>
          <a:bodyPr wrap="square" rtlCol="0" anchor="ctr"/>
          <a:lstStyle/>
          <a:p>
            <a:pPr marL="0" indent="0">
              <a:buNone/>
            </a:pPr>
            <a:r>
              <a:rPr lang="en-US" b="1" kern="0" spc="150" dirty="0">
                <a:solidFill>
                  <a:srgbClr val="2E7D32"/>
                </a:solidFill>
                <a:latin typeface="Calibri" pitchFamily="34" charset="0"/>
                <a:ea typeface="Calibri" pitchFamily="34" charset="-122"/>
                <a:cs typeface="Calibri" pitchFamily="34" charset="-120"/>
              </a:rPr>
              <a:t>GO TO MARKET, THREE PHASES</a:t>
            </a:r>
            <a:endParaRPr lang="en-US" dirty="0"/>
          </a:p>
        </p:txBody>
      </p:sp>
      <p:sp>
        <p:nvSpPr>
          <p:cNvPr id="23" name="Text 21"/>
          <p:cNvSpPr/>
          <p:nvPr/>
        </p:nvSpPr>
        <p:spPr>
          <a:xfrm>
            <a:off x="640080" y="4023360"/>
            <a:ext cx="2103120" cy="32004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Awareness</a:t>
            </a:r>
            <a:endParaRPr lang="en-US" dirty="0"/>
          </a:p>
        </p:txBody>
      </p:sp>
      <p:sp>
        <p:nvSpPr>
          <p:cNvPr id="24" name="Text 22"/>
          <p:cNvSpPr/>
          <p:nvPr/>
        </p:nvSpPr>
        <p:spPr>
          <a:xfrm>
            <a:off x="640080" y="4315968"/>
            <a:ext cx="2103120" cy="274320"/>
          </a:xfrm>
          <a:prstGeom prst="rect">
            <a:avLst/>
          </a:prstGeom>
          <a:noFill/>
          <a:ln/>
        </p:spPr>
        <p:txBody>
          <a:bodyPr wrap="square" rtlCol="0" anchor="ctr"/>
          <a:lstStyle/>
          <a:p>
            <a:pPr marL="0" indent="0">
              <a:buNone/>
            </a:pPr>
            <a:r>
              <a:rPr lang="en-US" sz="1600" i="1" dirty="0">
                <a:solidFill>
                  <a:srgbClr val="5F6368"/>
                </a:solidFill>
                <a:latin typeface="Calibri" pitchFamily="34" charset="0"/>
                <a:ea typeface="Calibri" pitchFamily="34" charset="-122"/>
                <a:cs typeface="Calibri" pitchFamily="34" charset="-120"/>
              </a:rPr>
              <a:t>4 weeks</a:t>
            </a:r>
            <a:endParaRPr lang="en-US" sz="1600" dirty="0"/>
          </a:p>
        </p:txBody>
      </p:sp>
      <p:sp>
        <p:nvSpPr>
          <p:cNvPr id="25" name="Text 23"/>
          <p:cNvSpPr/>
          <p:nvPr/>
        </p:nvSpPr>
        <p:spPr>
          <a:xfrm>
            <a:off x="2880360" y="4023360"/>
            <a:ext cx="8641080" cy="640080"/>
          </a:xfrm>
          <a:prstGeom prst="rect">
            <a:avLst/>
          </a:prstGeom>
          <a:noFill/>
          <a:ln/>
        </p:spPr>
        <p:txBody>
          <a:bodyPr wrap="square" rtlCol="0" anchor="ctr"/>
          <a:lstStyle/>
          <a:p>
            <a:pPr marL="0" indent="0">
              <a:lnSpc>
                <a:spcPct val="120000"/>
              </a:lnSpc>
              <a:buNone/>
            </a:pPr>
            <a:r>
              <a:rPr lang="en-US" sz="1600" dirty="0">
                <a:solidFill>
                  <a:srgbClr val="1C1C1C"/>
                </a:solidFill>
                <a:latin typeface="Calibri" pitchFamily="34" charset="0"/>
                <a:ea typeface="Calibri" pitchFamily="34" charset="-122"/>
                <a:cs typeface="Calibri" pitchFamily="34" charset="-120"/>
              </a:rPr>
              <a:t>Landing page, social campaigns, farming community outreach. Target: 2,000+ waitlist signups.</a:t>
            </a:r>
            <a:endParaRPr lang="en-US" sz="1600" dirty="0"/>
          </a:p>
        </p:txBody>
      </p:sp>
      <p:sp>
        <p:nvSpPr>
          <p:cNvPr id="26" name="Text 24"/>
          <p:cNvSpPr/>
          <p:nvPr/>
        </p:nvSpPr>
        <p:spPr>
          <a:xfrm>
            <a:off x="640080" y="4800600"/>
            <a:ext cx="2103120" cy="32004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Pilot Launch</a:t>
            </a:r>
            <a:endParaRPr lang="en-US" dirty="0"/>
          </a:p>
        </p:txBody>
      </p:sp>
      <p:sp>
        <p:nvSpPr>
          <p:cNvPr id="27" name="Text 25"/>
          <p:cNvSpPr/>
          <p:nvPr/>
        </p:nvSpPr>
        <p:spPr>
          <a:xfrm>
            <a:off x="640080" y="5093208"/>
            <a:ext cx="2103120" cy="274320"/>
          </a:xfrm>
          <a:prstGeom prst="rect">
            <a:avLst/>
          </a:prstGeom>
          <a:noFill/>
          <a:ln/>
        </p:spPr>
        <p:txBody>
          <a:bodyPr wrap="square" rtlCol="0" anchor="ctr"/>
          <a:lstStyle/>
          <a:p>
            <a:pPr marL="0" indent="0">
              <a:buNone/>
            </a:pPr>
            <a:r>
              <a:rPr lang="en-US" sz="1600" i="1" dirty="0">
                <a:solidFill>
                  <a:srgbClr val="5F6368"/>
                </a:solidFill>
                <a:latin typeface="Calibri" pitchFamily="34" charset="0"/>
                <a:ea typeface="Calibri" pitchFamily="34" charset="-122"/>
                <a:cs typeface="Calibri" pitchFamily="34" charset="-120"/>
              </a:rPr>
              <a:t>2 weeks</a:t>
            </a:r>
            <a:endParaRPr lang="en-US" sz="1600" dirty="0"/>
          </a:p>
        </p:txBody>
      </p:sp>
      <p:sp>
        <p:nvSpPr>
          <p:cNvPr id="28" name="Text 26"/>
          <p:cNvSpPr/>
          <p:nvPr/>
        </p:nvSpPr>
        <p:spPr>
          <a:xfrm>
            <a:off x="2880360" y="4800600"/>
            <a:ext cx="8641080" cy="640080"/>
          </a:xfrm>
          <a:prstGeom prst="rect">
            <a:avLst/>
          </a:prstGeom>
          <a:noFill/>
          <a:ln/>
        </p:spPr>
        <p:txBody>
          <a:bodyPr wrap="square" rtlCol="0" anchor="ctr"/>
          <a:lstStyle/>
          <a:p>
            <a:pPr marL="0" indent="0">
              <a:lnSpc>
                <a:spcPct val="120000"/>
              </a:lnSpc>
              <a:buNone/>
            </a:pPr>
            <a:r>
              <a:rPr lang="en-US" sz="1600" dirty="0">
                <a:solidFill>
                  <a:srgbClr val="1C1C1C"/>
                </a:solidFill>
                <a:latin typeface="Calibri" pitchFamily="34" charset="0"/>
                <a:ea typeface="Calibri" pitchFamily="34" charset="-122"/>
                <a:cs typeface="Calibri" pitchFamily="34" charset="-120"/>
              </a:rPr>
              <a:t>Live in Kaduna, Kano, Plateau and Jos with free first bookings. Target: 500 active users, 100 bookings.</a:t>
            </a:r>
            <a:endParaRPr lang="en-US" sz="1600" dirty="0"/>
          </a:p>
        </p:txBody>
      </p:sp>
      <p:sp>
        <p:nvSpPr>
          <p:cNvPr id="29" name="Text 27"/>
          <p:cNvSpPr/>
          <p:nvPr/>
        </p:nvSpPr>
        <p:spPr>
          <a:xfrm>
            <a:off x="640080" y="5577840"/>
            <a:ext cx="2103120" cy="320040"/>
          </a:xfrm>
          <a:prstGeom prst="rect">
            <a:avLst/>
          </a:prstGeom>
          <a:noFill/>
          <a:ln/>
        </p:spPr>
        <p:txBody>
          <a:bodyPr wrap="square" rtlCol="0" anchor="ctr"/>
          <a:lstStyle/>
          <a:p>
            <a:pPr marL="0" indent="0">
              <a:buNone/>
            </a:pPr>
            <a:r>
              <a:rPr lang="en-US" b="1" dirty="0">
                <a:solidFill>
                  <a:srgbClr val="1C1C1C"/>
                </a:solidFill>
                <a:latin typeface="Calibri" pitchFamily="34" charset="0"/>
                <a:ea typeface="Calibri" pitchFamily="34" charset="-122"/>
                <a:cs typeface="Calibri" pitchFamily="34" charset="-120"/>
              </a:rPr>
              <a:t>Public Launch</a:t>
            </a:r>
            <a:endParaRPr lang="en-US" dirty="0"/>
          </a:p>
        </p:txBody>
      </p:sp>
      <p:sp>
        <p:nvSpPr>
          <p:cNvPr id="30" name="Text 28"/>
          <p:cNvSpPr/>
          <p:nvPr/>
        </p:nvSpPr>
        <p:spPr>
          <a:xfrm>
            <a:off x="640080" y="5870448"/>
            <a:ext cx="2103120" cy="274320"/>
          </a:xfrm>
          <a:prstGeom prst="rect">
            <a:avLst/>
          </a:prstGeom>
          <a:noFill/>
          <a:ln/>
        </p:spPr>
        <p:txBody>
          <a:bodyPr wrap="square" rtlCol="0" anchor="ctr"/>
          <a:lstStyle/>
          <a:p>
            <a:pPr marL="0" indent="0">
              <a:buNone/>
            </a:pPr>
            <a:r>
              <a:rPr lang="en-US" sz="1600" i="1" dirty="0">
                <a:solidFill>
                  <a:srgbClr val="5F6368"/>
                </a:solidFill>
                <a:latin typeface="Calibri" pitchFamily="34" charset="0"/>
                <a:ea typeface="Calibri" pitchFamily="34" charset="-122"/>
                <a:cs typeface="Calibri" pitchFamily="34" charset="-120"/>
              </a:rPr>
              <a:t>Ongoing</a:t>
            </a:r>
            <a:endParaRPr lang="en-US" sz="1600" dirty="0"/>
          </a:p>
        </p:txBody>
      </p:sp>
      <p:sp>
        <p:nvSpPr>
          <p:cNvPr id="31" name="Text 29"/>
          <p:cNvSpPr/>
          <p:nvPr/>
        </p:nvSpPr>
        <p:spPr>
          <a:xfrm>
            <a:off x="2880360" y="5577840"/>
            <a:ext cx="8641080" cy="640080"/>
          </a:xfrm>
          <a:prstGeom prst="rect">
            <a:avLst/>
          </a:prstGeom>
          <a:noFill/>
          <a:ln/>
        </p:spPr>
        <p:txBody>
          <a:bodyPr wrap="square" rtlCol="0" anchor="ctr"/>
          <a:lstStyle/>
          <a:p>
            <a:pPr marL="0" indent="0">
              <a:lnSpc>
                <a:spcPct val="120000"/>
              </a:lnSpc>
              <a:buNone/>
            </a:pPr>
            <a:r>
              <a:rPr lang="en-US" sz="1600" dirty="0">
                <a:solidFill>
                  <a:srgbClr val="1C1C1C"/>
                </a:solidFill>
                <a:latin typeface="Calibri" pitchFamily="34" charset="0"/>
                <a:ea typeface="Calibri" pitchFamily="34" charset="-122"/>
                <a:cs typeface="Calibri" pitchFamily="34" charset="-120"/>
              </a:rPr>
              <a:t>Launch event, press coverage, referral programme and NGO partnerships. Target: 5,000 users in year one.</a:t>
            </a:r>
            <a:endParaRPr lang="en-US" sz="1600" dirty="0"/>
          </a:p>
        </p:txBody>
      </p:sp>
      <p:sp>
        <p:nvSpPr>
          <p:cNvPr id="32" name="Text 30"/>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20</a:t>
            </a:r>
            <a:endParaRPr lang="en-US" sz="1000" dirty="0"/>
          </a:p>
        </p:txBody>
      </p:sp>
      <p:sp>
        <p:nvSpPr>
          <p:cNvPr id="33" name="Text 1">
            <a:extLst>
              <a:ext uri="{FF2B5EF4-FFF2-40B4-BE49-F238E27FC236}">
                <a16:creationId xmlns:a16="http://schemas.microsoft.com/office/drawing/2014/main" id="{B9ED8230-47E1-4A60-8AD7-815DF1093ABC}"/>
              </a:ext>
            </a:extLst>
          </p:cNvPr>
          <p:cNvSpPr/>
          <p:nvPr/>
        </p:nvSpPr>
        <p:spPr>
          <a:xfrm>
            <a:off x="640080" y="535194"/>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Six months from research to a national launch</a:t>
            </a:r>
            <a:endParaRPr lang="en-US" sz="2000" dirty="0"/>
          </a:p>
        </p:txBody>
      </p:sp>
      <p:sp>
        <p:nvSpPr>
          <p:cNvPr id="34" name="Text 22">
            <a:extLst>
              <a:ext uri="{FF2B5EF4-FFF2-40B4-BE49-F238E27FC236}">
                <a16:creationId xmlns:a16="http://schemas.microsoft.com/office/drawing/2014/main" id="{CE865F63-0838-4F4E-A4B1-6D0C5FD6AFFF}"/>
              </a:ext>
            </a:extLst>
          </p:cNvPr>
          <p:cNvSpPr/>
          <p:nvPr/>
        </p:nvSpPr>
        <p:spPr>
          <a:xfrm>
            <a:off x="640080" y="4302521"/>
            <a:ext cx="2103120" cy="274320"/>
          </a:xfrm>
          <a:prstGeom prst="rect">
            <a:avLst/>
          </a:prstGeom>
          <a:noFill/>
          <a:ln/>
        </p:spPr>
        <p:txBody>
          <a:bodyPr wrap="square" rtlCol="0" anchor="ctr"/>
          <a:lstStyle/>
          <a:p>
            <a:pPr marL="0" indent="0">
              <a:buNone/>
            </a:pPr>
            <a:r>
              <a:rPr lang="en-US" sz="1600" i="1" dirty="0">
                <a:solidFill>
                  <a:srgbClr val="5F6368"/>
                </a:solidFill>
                <a:latin typeface="Calibri" pitchFamily="34" charset="0"/>
                <a:ea typeface="Calibri" pitchFamily="34" charset="-122"/>
                <a:cs typeface="Calibri" pitchFamily="34" charset="-120"/>
              </a:rPr>
              <a:t>4 weeks</a:t>
            </a:r>
            <a:endParaRPr lang="en-US" sz="1600" dirty="0"/>
          </a:p>
        </p:txBody>
      </p:sp>
      <p:sp>
        <p:nvSpPr>
          <p:cNvPr id="35" name="Text 23">
            <a:extLst>
              <a:ext uri="{FF2B5EF4-FFF2-40B4-BE49-F238E27FC236}">
                <a16:creationId xmlns:a16="http://schemas.microsoft.com/office/drawing/2014/main" id="{BAC859EB-D693-496F-B4F3-E9665ED787B7}"/>
              </a:ext>
            </a:extLst>
          </p:cNvPr>
          <p:cNvSpPr/>
          <p:nvPr/>
        </p:nvSpPr>
        <p:spPr>
          <a:xfrm>
            <a:off x="2880360" y="4009913"/>
            <a:ext cx="8641080" cy="640080"/>
          </a:xfrm>
          <a:prstGeom prst="rect">
            <a:avLst/>
          </a:prstGeom>
          <a:noFill/>
          <a:ln/>
        </p:spPr>
        <p:txBody>
          <a:bodyPr wrap="square" rtlCol="0" anchor="ctr"/>
          <a:lstStyle/>
          <a:p>
            <a:pPr marL="0" indent="0">
              <a:lnSpc>
                <a:spcPct val="120000"/>
              </a:lnSpc>
              <a:buNone/>
            </a:pPr>
            <a:r>
              <a:rPr lang="en-US" sz="1600" dirty="0">
                <a:solidFill>
                  <a:srgbClr val="1C1C1C"/>
                </a:solidFill>
                <a:latin typeface="Calibri" pitchFamily="34" charset="0"/>
                <a:ea typeface="Calibri" pitchFamily="34" charset="-122"/>
                <a:cs typeface="Calibri" pitchFamily="34" charset="-120"/>
              </a:rPr>
              <a:t>Landing page, social campaigns, farming community outreach. Target: 2,000+ waitlist signups.</a:t>
            </a:r>
            <a:endParaRPr lang="en-US" sz="1600" dirty="0"/>
          </a:p>
        </p:txBody>
      </p:sp>
      <p:sp>
        <p:nvSpPr>
          <p:cNvPr id="36" name="Text 25">
            <a:extLst>
              <a:ext uri="{FF2B5EF4-FFF2-40B4-BE49-F238E27FC236}">
                <a16:creationId xmlns:a16="http://schemas.microsoft.com/office/drawing/2014/main" id="{F0E0B6D3-A1C7-474A-81EB-317BBC49C4DE}"/>
              </a:ext>
            </a:extLst>
          </p:cNvPr>
          <p:cNvSpPr/>
          <p:nvPr/>
        </p:nvSpPr>
        <p:spPr>
          <a:xfrm>
            <a:off x="640080" y="5079761"/>
            <a:ext cx="2103120" cy="274320"/>
          </a:xfrm>
          <a:prstGeom prst="rect">
            <a:avLst/>
          </a:prstGeom>
          <a:noFill/>
          <a:ln/>
        </p:spPr>
        <p:txBody>
          <a:bodyPr wrap="square" rtlCol="0" anchor="ctr"/>
          <a:lstStyle/>
          <a:p>
            <a:pPr marL="0" indent="0">
              <a:buNone/>
            </a:pPr>
            <a:r>
              <a:rPr lang="en-US" sz="1600" i="1" dirty="0">
                <a:solidFill>
                  <a:srgbClr val="5F6368"/>
                </a:solidFill>
                <a:latin typeface="Calibri" pitchFamily="34" charset="0"/>
                <a:ea typeface="Calibri" pitchFamily="34" charset="-122"/>
                <a:cs typeface="Calibri" pitchFamily="34" charset="-120"/>
              </a:rPr>
              <a:t>2 weeks</a:t>
            </a:r>
            <a:endParaRPr lang="en-US" sz="1600" dirty="0"/>
          </a:p>
        </p:txBody>
      </p:sp>
      <p:sp>
        <p:nvSpPr>
          <p:cNvPr id="37" name="Text 26">
            <a:extLst>
              <a:ext uri="{FF2B5EF4-FFF2-40B4-BE49-F238E27FC236}">
                <a16:creationId xmlns:a16="http://schemas.microsoft.com/office/drawing/2014/main" id="{0DBDF1DE-6CB2-4082-A37C-6D7A50A1A739}"/>
              </a:ext>
            </a:extLst>
          </p:cNvPr>
          <p:cNvSpPr/>
          <p:nvPr/>
        </p:nvSpPr>
        <p:spPr>
          <a:xfrm>
            <a:off x="2880360" y="4787153"/>
            <a:ext cx="8641080" cy="640080"/>
          </a:xfrm>
          <a:prstGeom prst="rect">
            <a:avLst/>
          </a:prstGeom>
          <a:noFill/>
          <a:ln/>
        </p:spPr>
        <p:txBody>
          <a:bodyPr wrap="square" rtlCol="0" anchor="ctr"/>
          <a:lstStyle/>
          <a:p>
            <a:pPr marL="0" indent="0">
              <a:lnSpc>
                <a:spcPct val="120000"/>
              </a:lnSpc>
              <a:buNone/>
            </a:pPr>
            <a:r>
              <a:rPr lang="en-US" sz="1600" dirty="0">
                <a:solidFill>
                  <a:srgbClr val="1C1C1C"/>
                </a:solidFill>
                <a:latin typeface="Calibri" pitchFamily="34" charset="0"/>
                <a:ea typeface="Calibri" pitchFamily="34" charset="-122"/>
                <a:cs typeface="Calibri" pitchFamily="34" charset="-120"/>
              </a:rPr>
              <a:t>Live in Kaduna, Kano, Plateau and Jos with free first bookings. Target: 500 active users, 100 bookings.</a:t>
            </a:r>
            <a:endParaRPr lang="en-US" sz="1600" dirty="0"/>
          </a:p>
        </p:txBody>
      </p:sp>
      <p:sp>
        <p:nvSpPr>
          <p:cNvPr id="38" name="Text 28">
            <a:extLst>
              <a:ext uri="{FF2B5EF4-FFF2-40B4-BE49-F238E27FC236}">
                <a16:creationId xmlns:a16="http://schemas.microsoft.com/office/drawing/2014/main" id="{82EECE64-17AE-4B23-B12D-6CCFCBF3EFE4}"/>
              </a:ext>
            </a:extLst>
          </p:cNvPr>
          <p:cNvSpPr/>
          <p:nvPr/>
        </p:nvSpPr>
        <p:spPr>
          <a:xfrm>
            <a:off x="640080" y="5857001"/>
            <a:ext cx="2103120" cy="274320"/>
          </a:xfrm>
          <a:prstGeom prst="rect">
            <a:avLst/>
          </a:prstGeom>
          <a:noFill/>
          <a:ln/>
        </p:spPr>
        <p:txBody>
          <a:bodyPr wrap="square" rtlCol="0" anchor="ctr"/>
          <a:lstStyle/>
          <a:p>
            <a:pPr marL="0" indent="0">
              <a:buNone/>
            </a:pPr>
            <a:r>
              <a:rPr lang="en-US" sz="1600" i="1" dirty="0">
                <a:solidFill>
                  <a:srgbClr val="5F6368"/>
                </a:solidFill>
                <a:latin typeface="Calibri" pitchFamily="34" charset="0"/>
                <a:ea typeface="Calibri" pitchFamily="34" charset="-122"/>
                <a:cs typeface="Calibri" pitchFamily="34" charset="-120"/>
              </a:rPr>
              <a:t>Ongoing</a:t>
            </a:r>
            <a:endParaRPr lang="en-US" sz="1600" dirty="0"/>
          </a:p>
        </p:txBody>
      </p:sp>
      <p:sp>
        <p:nvSpPr>
          <p:cNvPr id="39" name="Text 29">
            <a:extLst>
              <a:ext uri="{FF2B5EF4-FFF2-40B4-BE49-F238E27FC236}">
                <a16:creationId xmlns:a16="http://schemas.microsoft.com/office/drawing/2014/main" id="{6CF2A5A6-6628-4373-8505-3E8BD09BBBC2}"/>
              </a:ext>
            </a:extLst>
          </p:cNvPr>
          <p:cNvSpPr/>
          <p:nvPr/>
        </p:nvSpPr>
        <p:spPr>
          <a:xfrm>
            <a:off x="2880360" y="5564393"/>
            <a:ext cx="8641080" cy="640080"/>
          </a:xfrm>
          <a:prstGeom prst="rect">
            <a:avLst/>
          </a:prstGeom>
          <a:noFill/>
          <a:ln/>
        </p:spPr>
        <p:txBody>
          <a:bodyPr wrap="square" rtlCol="0" anchor="ctr"/>
          <a:lstStyle/>
          <a:p>
            <a:pPr marL="0" indent="0">
              <a:lnSpc>
                <a:spcPct val="120000"/>
              </a:lnSpc>
              <a:buNone/>
            </a:pPr>
            <a:r>
              <a:rPr lang="en-US" sz="1600" dirty="0">
                <a:solidFill>
                  <a:srgbClr val="1C1C1C"/>
                </a:solidFill>
                <a:latin typeface="Calibri" pitchFamily="34" charset="0"/>
                <a:ea typeface="Calibri" pitchFamily="34" charset="-122"/>
                <a:cs typeface="Calibri" pitchFamily="34" charset="-120"/>
              </a:rPr>
              <a:t>Launch event, press coverage, referral programme and NGO partnerships. Target: 5,000 users in year one.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5E20"/>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solidFill>
            <a:srgbClr val="1B5E20"/>
          </a:solidFill>
          <a:ln/>
        </p:spPr>
        <p:txBody>
          <a:bodyPr wrap="square" rtlCol="0" anchor="ctr"/>
          <a:lstStyle/>
          <a:p>
            <a:pPr marL="0" indent="0">
              <a:buNone/>
            </a:pPr>
            <a:r>
              <a:rPr lang="en-US" sz="3200" b="1" kern="0" spc="200" dirty="0">
                <a:solidFill>
                  <a:srgbClr val="A8D5AA"/>
                </a:solidFill>
                <a:latin typeface="Calibri" pitchFamily="34" charset="0"/>
                <a:ea typeface="Calibri" pitchFamily="34" charset="-122"/>
                <a:cs typeface="Calibri" pitchFamily="34" charset="-120"/>
              </a:rPr>
              <a:t>SUCCESS METRICS</a:t>
            </a:r>
            <a:endParaRPr lang="en-US" sz="3200" dirty="0"/>
          </a:p>
        </p:txBody>
      </p:sp>
      <p:sp>
        <p:nvSpPr>
          <p:cNvPr id="3" name="Text 1"/>
          <p:cNvSpPr/>
          <p:nvPr/>
        </p:nvSpPr>
        <p:spPr>
          <a:xfrm>
            <a:off x="640080" y="521747"/>
            <a:ext cx="10881360" cy="9601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How we will know TomaLink is working</a:t>
            </a:r>
            <a:endParaRPr lang="en-US" sz="2000" dirty="0"/>
          </a:p>
        </p:txBody>
      </p:sp>
      <p:sp>
        <p:nvSpPr>
          <p:cNvPr id="4" name="Text 2"/>
          <p:cNvSpPr/>
          <p:nvPr/>
        </p:nvSpPr>
        <p:spPr>
          <a:xfrm>
            <a:off x="640080" y="1965960"/>
            <a:ext cx="3429000" cy="8229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6,000+</a:t>
            </a:r>
            <a:endParaRPr lang="en-US" sz="3000" dirty="0"/>
          </a:p>
        </p:txBody>
      </p:sp>
      <p:sp>
        <p:nvSpPr>
          <p:cNvPr id="5" name="Text 3"/>
          <p:cNvSpPr/>
          <p:nvPr/>
        </p:nvSpPr>
        <p:spPr>
          <a:xfrm>
            <a:off x="640080" y="2743200"/>
            <a:ext cx="3429000" cy="822960"/>
          </a:xfrm>
          <a:prstGeom prst="rect">
            <a:avLst/>
          </a:prstGeom>
          <a:noFill/>
          <a:ln/>
        </p:spPr>
        <p:txBody>
          <a:bodyPr wrap="square" rtlCol="0" anchor="ctr"/>
          <a:lstStyle/>
          <a:p>
            <a:pPr marL="0" indent="0">
              <a:lnSpc>
                <a:spcPct val="120000"/>
              </a:lnSpc>
              <a:buNone/>
            </a:pPr>
            <a:r>
              <a:rPr lang="en-US" dirty="0">
                <a:solidFill>
                  <a:srgbClr val="C9E6CA"/>
                </a:solidFill>
                <a:latin typeface="Calibri" pitchFamily="34" charset="0"/>
                <a:ea typeface="Calibri" pitchFamily="34" charset="-122"/>
                <a:cs typeface="Calibri" pitchFamily="34" charset="-120"/>
              </a:rPr>
              <a:t>registered users within Year 1</a:t>
            </a:r>
            <a:endParaRPr lang="en-US" dirty="0"/>
          </a:p>
        </p:txBody>
      </p:sp>
      <p:sp>
        <p:nvSpPr>
          <p:cNvPr id="6" name="Text 4"/>
          <p:cNvSpPr/>
          <p:nvPr/>
        </p:nvSpPr>
        <p:spPr>
          <a:xfrm>
            <a:off x="4389120" y="1965960"/>
            <a:ext cx="3429000" cy="8229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 85%</a:t>
            </a:r>
            <a:endParaRPr lang="en-US" sz="3000" dirty="0"/>
          </a:p>
        </p:txBody>
      </p:sp>
      <p:sp>
        <p:nvSpPr>
          <p:cNvPr id="7" name="Text 5"/>
          <p:cNvSpPr/>
          <p:nvPr/>
        </p:nvSpPr>
        <p:spPr>
          <a:xfrm>
            <a:off x="4389120" y="2743200"/>
            <a:ext cx="3429000" cy="822960"/>
          </a:xfrm>
          <a:prstGeom prst="rect">
            <a:avLst/>
          </a:prstGeom>
          <a:noFill/>
          <a:ln/>
        </p:spPr>
        <p:txBody>
          <a:bodyPr wrap="square" rtlCol="0" anchor="ctr"/>
          <a:lstStyle/>
          <a:p>
            <a:pPr marL="0" indent="0">
              <a:lnSpc>
                <a:spcPct val="120000"/>
              </a:lnSpc>
              <a:buNone/>
            </a:pPr>
            <a:r>
              <a:rPr lang="en-US" dirty="0">
                <a:solidFill>
                  <a:srgbClr val="C9E6CA"/>
                </a:solidFill>
                <a:latin typeface="Calibri" pitchFamily="34" charset="0"/>
                <a:ea typeface="Calibri" pitchFamily="34" charset="-122"/>
                <a:cs typeface="Calibri" pitchFamily="34" charset="-120"/>
              </a:rPr>
              <a:t>booking completion rate</a:t>
            </a:r>
            <a:endParaRPr lang="en-US" dirty="0"/>
          </a:p>
        </p:txBody>
      </p:sp>
      <p:sp>
        <p:nvSpPr>
          <p:cNvPr id="8" name="Text 6"/>
          <p:cNvSpPr/>
          <p:nvPr/>
        </p:nvSpPr>
        <p:spPr>
          <a:xfrm>
            <a:off x="8138160" y="1965960"/>
            <a:ext cx="3429000" cy="8229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₦50M+</a:t>
            </a:r>
            <a:endParaRPr lang="en-US" sz="3000" dirty="0"/>
          </a:p>
        </p:txBody>
      </p:sp>
      <p:sp>
        <p:nvSpPr>
          <p:cNvPr id="9" name="Text 7"/>
          <p:cNvSpPr/>
          <p:nvPr/>
        </p:nvSpPr>
        <p:spPr>
          <a:xfrm>
            <a:off x="8138160" y="2743200"/>
            <a:ext cx="3429000" cy="822960"/>
          </a:xfrm>
          <a:prstGeom prst="rect">
            <a:avLst/>
          </a:prstGeom>
          <a:noFill/>
          <a:ln/>
        </p:spPr>
        <p:txBody>
          <a:bodyPr wrap="square" rtlCol="0" anchor="ctr"/>
          <a:lstStyle/>
          <a:p>
            <a:pPr marL="0" indent="0">
              <a:lnSpc>
                <a:spcPct val="120000"/>
              </a:lnSpc>
              <a:buNone/>
            </a:pPr>
            <a:r>
              <a:rPr lang="en-US" dirty="0">
                <a:solidFill>
                  <a:srgbClr val="C9E6CA"/>
                </a:solidFill>
                <a:latin typeface="Calibri" pitchFamily="34" charset="0"/>
                <a:ea typeface="Calibri" pitchFamily="34" charset="-122"/>
                <a:cs typeface="Calibri" pitchFamily="34" charset="-120"/>
              </a:rPr>
              <a:t>annual transaction value</a:t>
            </a:r>
            <a:endParaRPr lang="en-US" dirty="0"/>
          </a:p>
        </p:txBody>
      </p:sp>
      <p:sp>
        <p:nvSpPr>
          <p:cNvPr id="10" name="Text 8"/>
          <p:cNvSpPr/>
          <p:nvPr/>
        </p:nvSpPr>
        <p:spPr>
          <a:xfrm>
            <a:off x="640080" y="4160520"/>
            <a:ext cx="3429000" cy="8229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 60</a:t>
            </a:r>
            <a:endParaRPr lang="en-US" sz="3000" dirty="0"/>
          </a:p>
        </p:txBody>
      </p:sp>
      <p:sp>
        <p:nvSpPr>
          <p:cNvPr id="11" name="Text 9"/>
          <p:cNvSpPr/>
          <p:nvPr/>
        </p:nvSpPr>
        <p:spPr>
          <a:xfrm>
            <a:off x="640080" y="4937760"/>
            <a:ext cx="3429000" cy="822960"/>
          </a:xfrm>
          <a:prstGeom prst="rect">
            <a:avLst/>
          </a:prstGeom>
          <a:noFill/>
          <a:ln/>
        </p:spPr>
        <p:txBody>
          <a:bodyPr wrap="square" rtlCol="0" anchor="ctr"/>
          <a:lstStyle/>
          <a:p>
            <a:pPr marL="0" indent="0">
              <a:lnSpc>
                <a:spcPct val="120000"/>
              </a:lnSpc>
              <a:buNone/>
            </a:pPr>
            <a:r>
              <a:rPr lang="en-US" dirty="0">
                <a:solidFill>
                  <a:srgbClr val="C9E6CA"/>
                </a:solidFill>
                <a:latin typeface="Calibri" pitchFamily="34" charset="0"/>
                <a:ea typeface="Calibri" pitchFamily="34" charset="-122"/>
                <a:cs typeface="Calibri" pitchFamily="34" charset="-120"/>
              </a:rPr>
              <a:t>Net Promoter Score</a:t>
            </a:r>
            <a:endParaRPr lang="en-US" dirty="0"/>
          </a:p>
        </p:txBody>
      </p:sp>
      <p:sp>
        <p:nvSpPr>
          <p:cNvPr id="12" name="Text 10"/>
          <p:cNvSpPr/>
          <p:nvPr/>
        </p:nvSpPr>
        <p:spPr>
          <a:xfrm>
            <a:off x="4389120" y="4160520"/>
            <a:ext cx="3429000" cy="8229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30%</a:t>
            </a:r>
            <a:endParaRPr lang="en-US" sz="3000" dirty="0"/>
          </a:p>
        </p:txBody>
      </p:sp>
      <p:sp>
        <p:nvSpPr>
          <p:cNvPr id="13" name="Text 11"/>
          <p:cNvSpPr/>
          <p:nvPr/>
        </p:nvSpPr>
        <p:spPr>
          <a:xfrm>
            <a:off x="4389120" y="4937760"/>
            <a:ext cx="3429000" cy="822960"/>
          </a:xfrm>
          <a:prstGeom prst="rect">
            <a:avLst/>
          </a:prstGeom>
          <a:noFill/>
          <a:ln/>
        </p:spPr>
        <p:txBody>
          <a:bodyPr wrap="square" rtlCol="0" anchor="ctr"/>
          <a:lstStyle/>
          <a:p>
            <a:pPr marL="0" indent="0">
              <a:lnSpc>
                <a:spcPct val="120000"/>
              </a:lnSpc>
              <a:buNone/>
            </a:pPr>
            <a:r>
              <a:rPr lang="en-US" dirty="0">
                <a:solidFill>
                  <a:srgbClr val="C9E6CA"/>
                </a:solidFill>
                <a:latin typeface="Calibri" pitchFamily="34" charset="0"/>
                <a:ea typeface="Calibri" pitchFamily="34" charset="-122"/>
                <a:cs typeface="Calibri" pitchFamily="34" charset="-120"/>
              </a:rPr>
              <a:t>reduction in post harvest losses</a:t>
            </a:r>
            <a:endParaRPr lang="en-US" dirty="0"/>
          </a:p>
        </p:txBody>
      </p:sp>
      <p:sp>
        <p:nvSpPr>
          <p:cNvPr id="14" name="Text 12"/>
          <p:cNvSpPr/>
          <p:nvPr/>
        </p:nvSpPr>
        <p:spPr>
          <a:xfrm>
            <a:off x="8138160" y="4160520"/>
            <a:ext cx="3429000" cy="8229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20%</a:t>
            </a:r>
            <a:endParaRPr lang="en-US" sz="3000" dirty="0"/>
          </a:p>
        </p:txBody>
      </p:sp>
      <p:sp>
        <p:nvSpPr>
          <p:cNvPr id="15" name="Text 13"/>
          <p:cNvSpPr/>
          <p:nvPr/>
        </p:nvSpPr>
        <p:spPr>
          <a:xfrm>
            <a:off x="8138160" y="4937760"/>
            <a:ext cx="3429000" cy="822960"/>
          </a:xfrm>
          <a:prstGeom prst="rect">
            <a:avLst/>
          </a:prstGeom>
          <a:noFill/>
          <a:ln/>
        </p:spPr>
        <p:txBody>
          <a:bodyPr wrap="square" rtlCol="0" anchor="ctr"/>
          <a:lstStyle/>
          <a:p>
            <a:pPr marL="0" indent="0">
              <a:lnSpc>
                <a:spcPct val="120000"/>
              </a:lnSpc>
              <a:buNone/>
            </a:pPr>
            <a:r>
              <a:rPr lang="en-US" dirty="0">
                <a:solidFill>
                  <a:srgbClr val="C9E6CA"/>
                </a:solidFill>
                <a:latin typeface="Calibri" pitchFamily="34" charset="0"/>
                <a:ea typeface="Calibri" pitchFamily="34" charset="-122"/>
                <a:cs typeface="Calibri" pitchFamily="34" charset="-120"/>
              </a:rPr>
              <a:t>increase in average farmer income</a:t>
            </a:r>
            <a:endParaRPr lang="en-US" dirty="0"/>
          </a:p>
        </p:txBody>
      </p:sp>
      <p:sp>
        <p:nvSpPr>
          <p:cNvPr id="16" name="Text 14"/>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8FBC8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EXPECTED IMPACT</a:t>
            </a:r>
            <a:endParaRPr lang="en-US" sz="3200" dirty="0"/>
          </a:p>
        </p:txBody>
      </p:sp>
      <p:sp>
        <p:nvSpPr>
          <p:cNvPr id="3" name="Text 1"/>
          <p:cNvSpPr/>
          <p:nvPr/>
        </p:nvSpPr>
        <p:spPr>
          <a:xfrm>
            <a:off x="640080" y="494853"/>
            <a:ext cx="10881360" cy="96012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Better outcomes for every stakeholder in the chain</a:t>
            </a:r>
            <a:endParaRPr lang="en-US" sz="2000" dirty="0"/>
          </a:p>
        </p:txBody>
      </p:sp>
      <p:sp>
        <p:nvSpPr>
          <p:cNvPr id="4" name="Shape 2"/>
          <p:cNvSpPr/>
          <p:nvPr/>
        </p:nvSpPr>
        <p:spPr>
          <a:xfrm>
            <a:off x="640080" y="1920240"/>
            <a:ext cx="3520440" cy="2103120"/>
          </a:xfrm>
          <a:prstGeom prst="roundRect">
            <a:avLst>
              <a:gd name="adj" fmla="val 2609"/>
            </a:avLst>
          </a:prstGeom>
          <a:solidFill>
            <a:srgbClr val="EAF5EB"/>
          </a:solidFill>
          <a:ln/>
        </p:spPr>
      </p:sp>
      <p:sp>
        <p:nvSpPr>
          <p:cNvPr id="5" name="Text 3"/>
          <p:cNvSpPr/>
          <p:nvPr/>
        </p:nvSpPr>
        <p:spPr>
          <a:xfrm>
            <a:off x="822960" y="2148840"/>
            <a:ext cx="3154680" cy="4572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Farmers</a:t>
            </a:r>
            <a:endParaRPr lang="en-US" sz="2400" dirty="0"/>
          </a:p>
        </p:txBody>
      </p:sp>
      <p:sp>
        <p:nvSpPr>
          <p:cNvPr id="6" name="Text 4"/>
          <p:cNvSpPr/>
          <p:nvPr/>
        </p:nvSpPr>
        <p:spPr>
          <a:xfrm>
            <a:off x="822960" y="2697480"/>
            <a:ext cx="3154680" cy="1188720"/>
          </a:xfrm>
          <a:prstGeom prst="rect">
            <a:avLst/>
          </a:prstGeom>
          <a:noFill/>
          <a:ln/>
        </p:spPr>
        <p:txBody>
          <a:bodyPr wrap="square" rtlCol="0" anchor="ctr"/>
          <a:lstStyle/>
          <a:p>
            <a:pPr marL="0" indent="0">
              <a:lnSpc>
                <a:spcPct val="130000"/>
              </a:lnSpc>
              <a:buNone/>
            </a:pPr>
            <a:r>
              <a:rPr lang="en-US" sz="1600" dirty="0">
                <a:solidFill>
                  <a:srgbClr val="1C1C1C"/>
                </a:solidFill>
                <a:latin typeface="Calibri" pitchFamily="34" charset="0"/>
                <a:ea typeface="Calibri" pitchFamily="34" charset="-122"/>
                <a:cs typeface="Calibri" pitchFamily="34" charset="-120"/>
              </a:rPr>
              <a:t>Higher income, lower spoilage, direct access to buyers</a:t>
            </a:r>
            <a:endParaRPr lang="en-US" sz="1600" dirty="0"/>
          </a:p>
        </p:txBody>
      </p:sp>
      <p:sp>
        <p:nvSpPr>
          <p:cNvPr id="7" name="Shape 5"/>
          <p:cNvSpPr/>
          <p:nvPr/>
        </p:nvSpPr>
        <p:spPr>
          <a:xfrm>
            <a:off x="4297680" y="1920240"/>
            <a:ext cx="3520440" cy="2103120"/>
          </a:xfrm>
          <a:prstGeom prst="roundRect">
            <a:avLst>
              <a:gd name="adj" fmla="val 2609"/>
            </a:avLst>
          </a:prstGeom>
          <a:solidFill>
            <a:srgbClr val="EAF5EB"/>
          </a:solidFill>
          <a:ln/>
        </p:spPr>
      </p:sp>
      <p:sp>
        <p:nvSpPr>
          <p:cNvPr id="8" name="Text 6"/>
          <p:cNvSpPr/>
          <p:nvPr/>
        </p:nvSpPr>
        <p:spPr>
          <a:xfrm>
            <a:off x="4480560" y="2148840"/>
            <a:ext cx="3154680" cy="4572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Businesses</a:t>
            </a:r>
            <a:endParaRPr lang="en-US" sz="2400" dirty="0"/>
          </a:p>
        </p:txBody>
      </p:sp>
      <p:sp>
        <p:nvSpPr>
          <p:cNvPr id="9" name="Text 7"/>
          <p:cNvSpPr/>
          <p:nvPr/>
        </p:nvSpPr>
        <p:spPr>
          <a:xfrm>
            <a:off x="4480560" y="2697480"/>
            <a:ext cx="3154680" cy="1188720"/>
          </a:xfrm>
          <a:prstGeom prst="rect">
            <a:avLst/>
          </a:prstGeom>
          <a:noFill/>
          <a:ln/>
        </p:spPr>
        <p:txBody>
          <a:bodyPr wrap="square" rtlCol="0" anchor="ctr"/>
          <a:lstStyle/>
          <a:p>
            <a:pPr marL="0" indent="0">
              <a:lnSpc>
                <a:spcPct val="130000"/>
              </a:lnSpc>
              <a:buNone/>
            </a:pPr>
            <a:r>
              <a:rPr lang="en-US" sz="1600" dirty="0">
                <a:solidFill>
                  <a:srgbClr val="1C1C1C"/>
                </a:solidFill>
                <a:latin typeface="Calibri" pitchFamily="34" charset="0"/>
                <a:ea typeface="Calibri" pitchFamily="34" charset="-122"/>
                <a:cs typeface="Calibri" pitchFamily="34" charset="-120"/>
              </a:rPr>
              <a:t>Efficient logistics, reliable supply, improved produce quality</a:t>
            </a:r>
            <a:endParaRPr lang="en-US" sz="1600" dirty="0"/>
          </a:p>
        </p:txBody>
      </p:sp>
      <p:sp>
        <p:nvSpPr>
          <p:cNvPr id="10" name="Shape 8"/>
          <p:cNvSpPr/>
          <p:nvPr/>
        </p:nvSpPr>
        <p:spPr>
          <a:xfrm>
            <a:off x="7955280" y="1920240"/>
            <a:ext cx="3520440" cy="2103120"/>
          </a:xfrm>
          <a:prstGeom prst="roundRect">
            <a:avLst>
              <a:gd name="adj" fmla="val 2609"/>
            </a:avLst>
          </a:prstGeom>
          <a:solidFill>
            <a:srgbClr val="EAF5EB"/>
          </a:solidFill>
          <a:ln/>
        </p:spPr>
      </p:sp>
      <p:sp>
        <p:nvSpPr>
          <p:cNvPr id="11" name="Text 9"/>
          <p:cNvSpPr/>
          <p:nvPr/>
        </p:nvSpPr>
        <p:spPr>
          <a:xfrm>
            <a:off x="8138160" y="2148840"/>
            <a:ext cx="3154680" cy="457200"/>
          </a:xfrm>
          <a:prstGeom prst="rect">
            <a:avLst/>
          </a:prstGeom>
          <a:noFill/>
          <a:ln/>
        </p:spPr>
        <p:txBody>
          <a:bodyPr wrap="square" rtlCol="0" anchor="ctr"/>
          <a:lstStyle/>
          <a:p>
            <a:pPr marL="0" indent="0">
              <a:buNone/>
            </a:pPr>
            <a:r>
              <a:rPr lang="en-US" sz="2400" b="1" dirty="0">
                <a:solidFill>
                  <a:srgbClr val="2E7D32"/>
                </a:solidFill>
                <a:latin typeface="Calibri" pitchFamily="34" charset="0"/>
                <a:ea typeface="Calibri" pitchFamily="34" charset="-122"/>
                <a:cs typeface="Calibri" pitchFamily="34" charset="-120"/>
              </a:rPr>
              <a:t>Nigeria</a:t>
            </a:r>
            <a:endParaRPr lang="en-US" sz="2400" dirty="0"/>
          </a:p>
        </p:txBody>
      </p:sp>
      <p:sp>
        <p:nvSpPr>
          <p:cNvPr id="12" name="Text 10"/>
          <p:cNvSpPr/>
          <p:nvPr/>
        </p:nvSpPr>
        <p:spPr>
          <a:xfrm>
            <a:off x="8138160" y="2697480"/>
            <a:ext cx="3154680" cy="1188720"/>
          </a:xfrm>
          <a:prstGeom prst="rect">
            <a:avLst/>
          </a:prstGeom>
          <a:noFill/>
          <a:ln/>
        </p:spPr>
        <p:txBody>
          <a:bodyPr wrap="square" rtlCol="0" anchor="ctr"/>
          <a:lstStyle/>
          <a:p>
            <a:pPr marL="0" indent="0">
              <a:lnSpc>
                <a:spcPct val="130000"/>
              </a:lnSpc>
              <a:buNone/>
            </a:pPr>
            <a:r>
              <a:rPr lang="en-US" sz="1600" dirty="0">
                <a:solidFill>
                  <a:srgbClr val="1C1C1C"/>
                </a:solidFill>
                <a:latin typeface="Calibri" pitchFamily="34" charset="0"/>
                <a:ea typeface="Calibri" pitchFamily="34" charset="-122"/>
                <a:cs typeface="Calibri" pitchFamily="34" charset="-120"/>
              </a:rPr>
              <a:t>Reduced food waste, stronger food security, digital agriculture adoption</a:t>
            </a:r>
            <a:endParaRPr lang="en-US" sz="1600" dirty="0"/>
          </a:p>
        </p:txBody>
      </p:sp>
      <p:sp>
        <p:nvSpPr>
          <p:cNvPr id="13" name="Shape 11"/>
          <p:cNvSpPr/>
          <p:nvPr/>
        </p:nvSpPr>
        <p:spPr>
          <a:xfrm>
            <a:off x="640080" y="4343400"/>
            <a:ext cx="10881360" cy="0"/>
          </a:xfrm>
          <a:prstGeom prst="line">
            <a:avLst/>
          </a:prstGeom>
          <a:noFill/>
          <a:ln w="12700">
            <a:solidFill>
              <a:srgbClr val="E0E0E0"/>
            </a:solidFill>
            <a:prstDash val="solid"/>
          </a:ln>
        </p:spPr>
      </p:sp>
      <p:pic>
        <p:nvPicPr>
          <p:cNvPr id="14" name="Image 0" descr="/home/claude/tomalink_deck/logo_clean.png"/>
          <p:cNvPicPr>
            <a:picLocks noChangeAspect="1"/>
          </p:cNvPicPr>
          <p:nvPr/>
        </p:nvPicPr>
        <p:blipFill>
          <a:blip r:embed="rId3"/>
          <a:stretch>
            <a:fillRect/>
          </a:stretch>
        </p:blipFill>
        <p:spPr>
          <a:xfrm>
            <a:off x="5180535" y="4709160"/>
            <a:ext cx="1827881" cy="1554480"/>
          </a:xfrm>
          <a:prstGeom prst="rect">
            <a:avLst/>
          </a:prstGeom>
        </p:spPr>
      </p:pic>
      <p:sp>
        <p:nvSpPr>
          <p:cNvPr id="15" name="Text 12"/>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2AD6797-923B-4C2E-A110-6C657DB7C6E1}"/>
              </a:ext>
            </a:extLst>
          </p:cNvPr>
          <p:cNvSpPr/>
          <p:nvPr/>
        </p:nvSpPr>
        <p:spPr>
          <a:xfrm>
            <a:off x="640080" y="443753"/>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UI/UX, FARMER USER FLOW</a:t>
            </a:r>
            <a:endParaRPr lang="en-US" sz="3200" dirty="0"/>
          </a:p>
        </p:txBody>
      </p:sp>
      <p:sp>
        <p:nvSpPr>
          <p:cNvPr id="3" name="Text 1">
            <a:extLst>
              <a:ext uri="{FF2B5EF4-FFF2-40B4-BE49-F238E27FC236}">
                <a16:creationId xmlns:a16="http://schemas.microsoft.com/office/drawing/2014/main" id="{0E516612-4E43-4F7A-81D8-BD6B4773F77B}"/>
              </a:ext>
            </a:extLst>
          </p:cNvPr>
          <p:cNvSpPr/>
          <p:nvPr/>
        </p:nvSpPr>
        <p:spPr>
          <a:xfrm>
            <a:off x="640080" y="481406"/>
            <a:ext cx="10881360" cy="91440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Onboarding and sign in, before a farmer ever reaches the dashboard</a:t>
            </a:r>
            <a:endParaRPr lang="en-US" sz="2000" dirty="0"/>
          </a:p>
        </p:txBody>
      </p:sp>
      <p:pic>
        <p:nvPicPr>
          <p:cNvPr id="4" name="Image 0" descr="/mnt/user-data/uploads/farmer.jpg">
            <a:extLst>
              <a:ext uri="{FF2B5EF4-FFF2-40B4-BE49-F238E27FC236}">
                <a16:creationId xmlns:a16="http://schemas.microsoft.com/office/drawing/2014/main" id="{50EC36A2-B461-4998-BFC7-F213E3B14E0B}"/>
              </a:ext>
            </a:extLst>
          </p:cNvPr>
          <p:cNvPicPr>
            <a:picLocks noChangeAspect="1"/>
          </p:cNvPicPr>
          <p:nvPr/>
        </p:nvPicPr>
        <p:blipFill>
          <a:blip r:embed="rId2"/>
          <a:stretch>
            <a:fillRect/>
          </a:stretch>
        </p:blipFill>
        <p:spPr>
          <a:xfrm>
            <a:off x="640081" y="1395806"/>
            <a:ext cx="10494084" cy="5233594"/>
          </a:xfrm>
          <a:prstGeom prst="rect">
            <a:avLst/>
          </a:prstGeom>
          <a:effectLst>
            <a:outerShdw blurRad="127000" dist="38100" dir="5400000" algn="bl" rotWithShape="0">
              <a:srgbClr val="000000">
                <a:alpha val="25000"/>
              </a:srgbClr>
            </a:outerShdw>
          </a:effectLst>
        </p:spPr>
      </p:pic>
      <p:sp>
        <p:nvSpPr>
          <p:cNvPr id="5" name="Text 2">
            <a:extLst>
              <a:ext uri="{FF2B5EF4-FFF2-40B4-BE49-F238E27FC236}">
                <a16:creationId xmlns:a16="http://schemas.microsoft.com/office/drawing/2014/main" id="{1F14FBA0-BC71-42C4-BFBE-1F83037CB701}"/>
              </a:ext>
            </a:extLst>
          </p:cNvPr>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02</a:t>
            </a:r>
            <a:endParaRPr lang="en-US" sz="1000" dirty="0"/>
          </a:p>
        </p:txBody>
      </p:sp>
    </p:spTree>
    <p:extLst>
      <p:ext uri="{BB962C8B-B14F-4D97-AF65-F5344CB8AC3E}">
        <p14:creationId xmlns:p14="http://schemas.microsoft.com/office/powerpoint/2010/main" val="891807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130D192-B544-48DA-A674-675671F2B00D}"/>
              </a:ext>
            </a:extLst>
          </p:cNvPr>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UI/UX, FARMER USER FLOW</a:t>
            </a:r>
            <a:endParaRPr lang="en-US" sz="3200" dirty="0"/>
          </a:p>
        </p:txBody>
      </p:sp>
      <p:sp>
        <p:nvSpPr>
          <p:cNvPr id="3" name="Text 1">
            <a:extLst>
              <a:ext uri="{FF2B5EF4-FFF2-40B4-BE49-F238E27FC236}">
                <a16:creationId xmlns:a16="http://schemas.microsoft.com/office/drawing/2014/main" id="{5E98B7F1-DBAE-4F58-B973-2B9690F9BABE}"/>
              </a:ext>
            </a:extLst>
          </p:cNvPr>
          <p:cNvSpPr/>
          <p:nvPr/>
        </p:nvSpPr>
        <p:spPr>
          <a:xfrm>
            <a:off x="640080" y="548641"/>
            <a:ext cx="10881360" cy="91440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From email verification through to a listed harvest</a:t>
            </a:r>
            <a:endParaRPr lang="en-US" sz="2000" dirty="0"/>
          </a:p>
        </p:txBody>
      </p:sp>
      <p:pic>
        <p:nvPicPr>
          <p:cNvPr id="4" name="Image 0" descr="/mnt/user-data/uploads/farmer2.jpg">
            <a:extLst>
              <a:ext uri="{FF2B5EF4-FFF2-40B4-BE49-F238E27FC236}">
                <a16:creationId xmlns:a16="http://schemas.microsoft.com/office/drawing/2014/main" id="{A1D9277F-F70A-4CBE-A284-657973CFC6E5}"/>
              </a:ext>
            </a:extLst>
          </p:cNvPr>
          <p:cNvPicPr>
            <a:picLocks noChangeAspect="1"/>
          </p:cNvPicPr>
          <p:nvPr/>
        </p:nvPicPr>
        <p:blipFill>
          <a:blip r:embed="rId2"/>
          <a:stretch>
            <a:fillRect/>
          </a:stretch>
        </p:blipFill>
        <p:spPr>
          <a:xfrm>
            <a:off x="753035" y="1783080"/>
            <a:ext cx="10488706" cy="4690872"/>
          </a:xfrm>
          <a:prstGeom prst="rect">
            <a:avLst/>
          </a:prstGeom>
          <a:effectLst>
            <a:outerShdw blurRad="127000" dist="38100" dir="5400000" algn="bl" rotWithShape="0">
              <a:srgbClr val="000000">
                <a:alpha val="25000"/>
              </a:srgbClr>
            </a:outerShdw>
          </a:effectLst>
        </p:spPr>
      </p:pic>
      <p:sp>
        <p:nvSpPr>
          <p:cNvPr id="5" name="Text 2">
            <a:extLst>
              <a:ext uri="{FF2B5EF4-FFF2-40B4-BE49-F238E27FC236}">
                <a16:creationId xmlns:a16="http://schemas.microsoft.com/office/drawing/2014/main" id="{E5F73E76-0F51-42C4-A35F-E3B8A7CBFE86}"/>
              </a:ext>
            </a:extLst>
          </p:cNvPr>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03</a:t>
            </a:r>
            <a:endParaRPr lang="en-US" sz="1000" dirty="0"/>
          </a:p>
        </p:txBody>
      </p:sp>
    </p:spTree>
    <p:extLst>
      <p:ext uri="{BB962C8B-B14F-4D97-AF65-F5344CB8AC3E}">
        <p14:creationId xmlns:p14="http://schemas.microsoft.com/office/powerpoint/2010/main" val="615125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60661F-8523-4A8A-9EAD-9484159BA748}"/>
              </a:ext>
            </a:extLst>
          </p:cNvPr>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UI/UX, BUYER USER FLOW</a:t>
            </a:r>
            <a:endParaRPr lang="en-US" sz="3200" dirty="0"/>
          </a:p>
        </p:txBody>
      </p:sp>
      <p:sp>
        <p:nvSpPr>
          <p:cNvPr id="3" name="Text 1">
            <a:extLst>
              <a:ext uri="{FF2B5EF4-FFF2-40B4-BE49-F238E27FC236}">
                <a16:creationId xmlns:a16="http://schemas.microsoft.com/office/drawing/2014/main" id="{BD69D2C5-EB05-4092-8A5C-BB23B681D259}"/>
              </a:ext>
            </a:extLst>
          </p:cNvPr>
          <p:cNvSpPr/>
          <p:nvPr/>
        </p:nvSpPr>
        <p:spPr>
          <a:xfrm>
            <a:off x="640080" y="562088"/>
            <a:ext cx="10881360" cy="91440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The same trusted onboarding pattern, built for buyers</a:t>
            </a:r>
            <a:endParaRPr lang="en-US" sz="2000" dirty="0"/>
          </a:p>
        </p:txBody>
      </p:sp>
      <p:pic>
        <p:nvPicPr>
          <p:cNvPr id="4" name="Image 0" descr="/mnt/user-data/uploads/buyer.jpg">
            <a:extLst>
              <a:ext uri="{FF2B5EF4-FFF2-40B4-BE49-F238E27FC236}">
                <a16:creationId xmlns:a16="http://schemas.microsoft.com/office/drawing/2014/main" id="{F62F9710-AA4B-4FAB-99F9-AC3999AFE027}"/>
              </a:ext>
            </a:extLst>
          </p:cNvPr>
          <p:cNvPicPr>
            <a:picLocks noChangeAspect="1"/>
          </p:cNvPicPr>
          <p:nvPr/>
        </p:nvPicPr>
        <p:blipFill>
          <a:blip r:embed="rId2"/>
          <a:stretch>
            <a:fillRect/>
          </a:stretch>
        </p:blipFill>
        <p:spPr>
          <a:xfrm>
            <a:off x="470647" y="1783080"/>
            <a:ext cx="11349318" cy="4846320"/>
          </a:xfrm>
          <a:prstGeom prst="rect">
            <a:avLst/>
          </a:prstGeom>
          <a:effectLst>
            <a:outerShdw blurRad="127000" dist="38100" dir="5400000" algn="bl" rotWithShape="0">
              <a:srgbClr val="000000">
                <a:alpha val="25000"/>
              </a:srgbClr>
            </a:outerShdw>
          </a:effectLst>
        </p:spPr>
      </p:pic>
      <p:sp>
        <p:nvSpPr>
          <p:cNvPr id="5" name="Text 2">
            <a:extLst>
              <a:ext uri="{FF2B5EF4-FFF2-40B4-BE49-F238E27FC236}">
                <a16:creationId xmlns:a16="http://schemas.microsoft.com/office/drawing/2014/main" id="{F4300990-F14F-45FC-90B4-A0BB0C3E9B0B}"/>
              </a:ext>
            </a:extLst>
          </p:cNvPr>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04</a:t>
            </a:r>
            <a:endParaRPr lang="en-US" sz="1000" dirty="0"/>
          </a:p>
        </p:txBody>
      </p:sp>
    </p:spTree>
    <p:extLst>
      <p:ext uri="{BB962C8B-B14F-4D97-AF65-F5344CB8AC3E}">
        <p14:creationId xmlns:p14="http://schemas.microsoft.com/office/powerpoint/2010/main" val="312142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0D03B7A-7B95-481F-83BF-F7F1B5FADA8D}"/>
              </a:ext>
            </a:extLst>
          </p:cNvPr>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UI/UX, BUYER USER FLOW</a:t>
            </a:r>
            <a:endParaRPr lang="en-US" sz="3200" dirty="0"/>
          </a:p>
        </p:txBody>
      </p:sp>
      <p:sp>
        <p:nvSpPr>
          <p:cNvPr id="3" name="Text 1">
            <a:extLst>
              <a:ext uri="{FF2B5EF4-FFF2-40B4-BE49-F238E27FC236}">
                <a16:creationId xmlns:a16="http://schemas.microsoft.com/office/drawing/2014/main" id="{4D51EC20-E12A-4064-BFCC-B1438332D24A}"/>
              </a:ext>
            </a:extLst>
          </p:cNvPr>
          <p:cNvSpPr/>
          <p:nvPr/>
        </p:nvSpPr>
        <p:spPr>
          <a:xfrm>
            <a:off x="640080" y="508300"/>
            <a:ext cx="10881360" cy="91440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From browsing the marketplace through to a received order</a:t>
            </a:r>
            <a:endParaRPr lang="en-US" sz="2000" dirty="0"/>
          </a:p>
        </p:txBody>
      </p:sp>
      <p:pic>
        <p:nvPicPr>
          <p:cNvPr id="4" name="Image 0" descr="/mnt/user-data/uploads/buyer2.jpg">
            <a:extLst>
              <a:ext uri="{FF2B5EF4-FFF2-40B4-BE49-F238E27FC236}">
                <a16:creationId xmlns:a16="http://schemas.microsoft.com/office/drawing/2014/main" id="{6608A313-17FD-4DA0-B618-B493AA68B6EC}"/>
              </a:ext>
            </a:extLst>
          </p:cNvPr>
          <p:cNvPicPr>
            <a:picLocks noChangeAspect="1"/>
          </p:cNvPicPr>
          <p:nvPr/>
        </p:nvPicPr>
        <p:blipFill>
          <a:blip r:embed="rId2"/>
          <a:stretch>
            <a:fillRect/>
          </a:stretch>
        </p:blipFill>
        <p:spPr>
          <a:xfrm>
            <a:off x="640080" y="1783080"/>
            <a:ext cx="10881360" cy="4617720"/>
          </a:xfrm>
          <a:prstGeom prst="rect">
            <a:avLst/>
          </a:prstGeom>
          <a:effectLst>
            <a:outerShdw blurRad="127000" dist="38100" dir="5400000" algn="bl" rotWithShape="0">
              <a:srgbClr val="000000">
                <a:alpha val="25000"/>
              </a:srgbClr>
            </a:outerShdw>
          </a:effectLst>
        </p:spPr>
      </p:pic>
      <p:sp>
        <p:nvSpPr>
          <p:cNvPr id="5" name="Text 2">
            <a:extLst>
              <a:ext uri="{FF2B5EF4-FFF2-40B4-BE49-F238E27FC236}">
                <a16:creationId xmlns:a16="http://schemas.microsoft.com/office/drawing/2014/main" id="{77D8E5E9-B937-4EF2-BBB3-2E9B346E4B35}"/>
              </a:ext>
            </a:extLst>
          </p:cNvPr>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05</a:t>
            </a:r>
            <a:endParaRPr lang="en-US" sz="1000" dirty="0"/>
          </a:p>
        </p:txBody>
      </p:sp>
    </p:spTree>
    <p:extLst>
      <p:ext uri="{BB962C8B-B14F-4D97-AF65-F5344CB8AC3E}">
        <p14:creationId xmlns:p14="http://schemas.microsoft.com/office/powerpoint/2010/main" val="1085434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0A5835-D769-4F78-92D0-925FC6847596}"/>
              </a:ext>
            </a:extLst>
          </p:cNvPr>
          <p:cNvSpPr txBox="1"/>
          <p:nvPr/>
        </p:nvSpPr>
        <p:spPr>
          <a:xfrm>
            <a:off x="2299447" y="416859"/>
            <a:ext cx="6656294" cy="769441"/>
          </a:xfrm>
          <a:prstGeom prst="rect">
            <a:avLst/>
          </a:prstGeom>
          <a:noFill/>
        </p:spPr>
        <p:txBody>
          <a:bodyPr wrap="square" rtlCol="0">
            <a:spAutoFit/>
          </a:bodyPr>
          <a:lstStyle/>
          <a:p>
            <a:r>
              <a:rPr lang="en-GB" sz="4400" dirty="0">
                <a:solidFill>
                  <a:schemeClr val="accent6">
                    <a:lumMod val="50000"/>
                  </a:schemeClr>
                </a:solidFill>
                <a:latin typeface="Arial Black" panose="020B0A04020102020204" pitchFamily="34" charset="0"/>
              </a:rPr>
              <a:t>LIVE PRESENTATION</a:t>
            </a:r>
          </a:p>
        </p:txBody>
      </p:sp>
      <p:pic>
        <p:nvPicPr>
          <p:cNvPr id="3" name="WhatsApp Video 2026-07-21 at 9.44.51 AM">
            <a:hlinkClick r:id="" action="ppaction://media"/>
            <a:extLst>
              <a:ext uri="{FF2B5EF4-FFF2-40B4-BE49-F238E27FC236}">
                <a16:creationId xmlns:a16="http://schemas.microsoft.com/office/drawing/2014/main" id="{2BF8B933-D714-43C6-BFCE-37181661BA2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627094" y="1348405"/>
            <a:ext cx="8628924" cy="4680742"/>
          </a:xfrm>
          <a:prstGeom prst="rect">
            <a:avLst/>
          </a:prstGeom>
        </p:spPr>
      </p:pic>
    </p:spTree>
    <p:extLst>
      <p:ext uri="{BB962C8B-B14F-4D97-AF65-F5344CB8AC3E}">
        <p14:creationId xmlns:p14="http://schemas.microsoft.com/office/powerpoint/2010/main" val="396428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5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72B11BB-93F6-402D-B90A-A6BE2524BF26}"/>
              </a:ext>
            </a:extLst>
          </p:cNvPr>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DATA ANALYSIS</a:t>
            </a:r>
            <a:endParaRPr lang="en-US" sz="3200" dirty="0"/>
          </a:p>
        </p:txBody>
      </p:sp>
      <p:sp>
        <p:nvSpPr>
          <p:cNvPr id="3" name="Text 1">
            <a:extLst>
              <a:ext uri="{FF2B5EF4-FFF2-40B4-BE49-F238E27FC236}">
                <a16:creationId xmlns:a16="http://schemas.microsoft.com/office/drawing/2014/main" id="{E7276665-A3FA-49F4-98E1-BD9B025BB0D1}"/>
              </a:ext>
            </a:extLst>
          </p:cNvPr>
          <p:cNvSpPr/>
          <p:nvPr/>
        </p:nvSpPr>
        <p:spPr>
          <a:xfrm>
            <a:off x="640080" y="535194"/>
            <a:ext cx="10881360" cy="91440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One pilot dashboard, turning raw loss data into a clear story</a:t>
            </a:r>
            <a:endParaRPr lang="en-US" sz="2000" dirty="0"/>
          </a:p>
        </p:txBody>
      </p:sp>
      <p:pic>
        <p:nvPicPr>
          <p:cNvPr id="4" name="Image 0" descr="/home/claude/dashboard_page-1.jpg">
            <a:extLst>
              <a:ext uri="{FF2B5EF4-FFF2-40B4-BE49-F238E27FC236}">
                <a16:creationId xmlns:a16="http://schemas.microsoft.com/office/drawing/2014/main" id="{00B11F79-311A-4A37-820A-23732EE5B0DA}"/>
              </a:ext>
            </a:extLst>
          </p:cNvPr>
          <p:cNvPicPr>
            <a:picLocks noChangeAspect="1"/>
          </p:cNvPicPr>
          <p:nvPr/>
        </p:nvPicPr>
        <p:blipFill>
          <a:blip r:embed="rId2"/>
          <a:stretch>
            <a:fillRect/>
          </a:stretch>
        </p:blipFill>
        <p:spPr>
          <a:xfrm>
            <a:off x="2124636" y="1277470"/>
            <a:ext cx="7879976" cy="4921623"/>
          </a:xfrm>
          <a:prstGeom prst="rect">
            <a:avLst/>
          </a:prstGeom>
          <a:effectLst>
            <a:outerShdw blurRad="127000" dist="38100" dir="5400000" algn="bl" rotWithShape="0">
              <a:srgbClr val="000000">
                <a:alpha val="25000"/>
              </a:srgbClr>
            </a:outerShdw>
          </a:effectLst>
        </p:spPr>
      </p:pic>
      <p:sp>
        <p:nvSpPr>
          <p:cNvPr id="5" name="Text 2">
            <a:extLst>
              <a:ext uri="{FF2B5EF4-FFF2-40B4-BE49-F238E27FC236}">
                <a16:creationId xmlns:a16="http://schemas.microsoft.com/office/drawing/2014/main" id="{678F3433-ACA3-42BB-B3AA-5F972D0F3170}"/>
              </a:ext>
            </a:extLst>
          </p:cNvPr>
          <p:cNvSpPr/>
          <p:nvPr/>
        </p:nvSpPr>
        <p:spPr>
          <a:xfrm>
            <a:off x="640080" y="6446520"/>
            <a:ext cx="10881360" cy="274320"/>
          </a:xfrm>
          <a:prstGeom prst="rect">
            <a:avLst/>
          </a:prstGeom>
          <a:noFill/>
          <a:ln/>
        </p:spPr>
        <p:txBody>
          <a:bodyPr wrap="square" rtlCol="0" anchor="ctr"/>
          <a:lstStyle/>
          <a:p>
            <a:pPr marL="0" indent="0" algn="ctr">
              <a:buNone/>
            </a:pPr>
            <a:r>
              <a:rPr lang="en-US" i="1" dirty="0">
                <a:solidFill>
                  <a:srgbClr val="5F6368"/>
                </a:solidFill>
                <a:latin typeface="Calibri" pitchFamily="34" charset="0"/>
                <a:ea typeface="Calibri" pitchFamily="34" charset="-122"/>
                <a:cs typeface="Calibri" pitchFamily="34" charset="-120"/>
              </a:rPr>
              <a:t>Built from real pilot records across five tomato producing states, covering harvest volume, loss causes, storage method, transport conditions and profitability.</a:t>
            </a:r>
            <a:endParaRPr lang="en-US" dirty="0"/>
          </a:p>
        </p:txBody>
      </p:sp>
      <p:sp>
        <p:nvSpPr>
          <p:cNvPr id="6" name="Text 3">
            <a:extLst>
              <a:ext uri="{FF2B5EF4-FFF2-40B4-BE49-F238E27FC236}">
                <a16:creationId xmlns:a16="http://schemas.microsoft.com/office/drawing/2014/main" id="{86CA916E-B9C5-41A0-8902-98D7E7D6E650}"/>
              </a:ext>
            </a:extLst>
          </p:cNvPr>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06</a:t>
            </a:r>
            <a:endParaRPr lang="en-US" sz="1000" dirty="0"/>
          </a:p>
        </p:txBody>
      </p:sp>
    </p:spTree>
    <p:extLst>
      <p:ext uri="{BB962C8B-B14F-4D97-AF65-F5344CB8AC3E}">
        <p14:creationId xmlns:p14="http://schemas.microsoft.com/office/powerpoint/2010/main" val="3874768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ADDA8B3-F295-4D96-BCD7-B4FCBF2CBD7E}"/>
              </a:ext>
            </a:extLst>
          </p:cNvPr>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VIRTUAL ASSISTANT, PROJECT COORDINATION</a:t>
            </a:r>
            <a:endParaRPr lang="en-US" sz="3200" dirty="0"/>
          </a:p>
        </p:txBody>
      </p:sp>
      <p:sp>
        <p:nvSpPr>
          <p:cNvPr id="3" name="Text 1">
            <a:extLst>
              <a:ext uri="{FF2B5EF4-FFF2-40B4-BE49-F238E27FC236}">
                <a16:creationId xmlns:a16="http://schemas.microsoft.com/office/drawing/2014/main" id="{B91F3D82-7A76-4144-8529-2A175C7164B9}"/>
              </a:ext>
            </a:extLst>
          </p:cNvPr>
          <p:cNvSpPr/>
          <p:nvPr/>
        </p:nvSpPr>
        <p:spPr>
          <a:xfrm>
            <a:off x="640080" y="494853"/>
            <a:ext cx="10881360" cy="91440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Sprint activity tracked and coordinated end to end in Jira</a:t>
            </a:r>
            <a:endParaRPr lang="en-US" sz="2000" dirty="0"/>
          </a:p>
        </p:txBody>
      </p:sp>
      <p:pic>
        <p:nvPicPr>
          <p:cNvPr id="4" name="Image 0" descr="/mnt/user-data/uploads/jira.jpg">
            <a:extLst>
              <a:ext uri="{FF2B5EF4-FFF2-40B4-BE49-F238E27FC236}">
                <a16:creationId xmlns:a16="http://schemas.microsoft.com/office/drawing/2014/main" id="{816FD18F-7563-496C-A820-2CA7386068D8}"/>
              </a:ext>
            </a:extLst>
          </p:cNvPr>
          <p:cNvPicPr>
            <a:picLocks noChangeAspect="1"/>
          </p:cNvPicPr>
          <p:nvPr/>
        </p:nvPicPr>
        <p:blipFill>
          <a:blip r:embed="rId2"/>
          <a:stretch>
            <a:fillRect/>
          </a:stretch>
        </p:blipFill>
        <p:spPr>
          <a:xfrm>
            <a:off x="416859" y="1210235"/>
            <a:ext cx="10469835" cy="5007685"/>
          </a:xfrm>
          <a:prstGeom prst="rect">
            <a:avLst/>
          </a:prstGeom>
          <a:effectLst>
            <a:outerShdw blurRad="127000" dist="38100" dir="5400000" algn="bl" rotWithShape="0">
              <a:srgbClr val="000000">
                <a:alpha val="25000"/>
              </a:srgbClr>
            </a:outerShdw>
          </a:effectLst>
        </p:spPr>
      </p:pic>
      <p:sp>
        <p:nvSpPr>
          <p:cNvPr id="5" name="Text 2">
            <a:extLst>
              <a:ext uri="{FF2B5EF4-FFF2-40B4-BE49-F238E27FC236}">
                <a16:creationId xmlns:a16="http://schemas.microsoft.com/office/drawing/2014/main" id="{5680A9F3-93F8-457A-90F6-02B4ED3405DD}"/>
              </a:ext>
            </a:extLst>
          </p:cNvPr>
          <p:cNvSpPr/>
          <p:nvPr/>
        </p:nvSpPr>
        <p:spPr>
          <a:xfrm>
            <a:off x="640080" y="6400800"/>
            <a:ext cx="10881360" cy="365760"/>
          </a:xfrm>
          <a:prstGeom prst="rect">
            <a:avLst/>
          </a:prstGeom>
          <a:noFill/>
          <a:ln/>
        </p:spPr>
        <p:txBody>
          <a:bodyPr wrap="square" rtlCol="0" anchor="ctr"/>
          <a:lstStyle/>
          <a:p>
            <a:pPr marL="0" indent="0" algn="ctr">
              <a:buNone/>
            </a:pPr>
            <a:r>
              <a:rPr lang="en-US" i="1" dirty="0">
                <a:solidFill>
                  <a:srgbClr val="5F6368"/>
                </a:solidFill>
                <a:latin typeface="Calibri" pitchFamily="34" charset="0"/>
                <a:ea typeface="Calibri" pitchFamily="34" charset="-122"/>
                <a:cs typeface="Calibri" pitchFamily="34" charset="-120"/>
              </a:rPr>
              <a:t>50 tasks completed and 64 updated in the last 7 days, with 64 total work items tracked across the team.</a:t>
            </a:r>
            <a:endParaRPr lang="en-US" dirty="0"/>
          </a:p>
        </p:txBody>
      </p:sp>
      <p:sp>
        <p:nvSpPr>
          <p:cNvPr id="6" name="Text 3">
            <a:extLst>
              <a:ext uri="{FF2B5EF4-FFF2-40B4-BE49-F238E27FC236}">
                <a16:creationId xmlns:a16="http://schemas.microsoft.com/office/drawing/2014/main" id="{66ED8C51-41A3-4949-8322-1CFDE1D7DA3B}"/>
              </a:ext>
            </a:extLst>
          </p:cNvPr>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07</a:t>
            </a:r>
            <a:endParaRPr lang="en-US" sz="1000" dirty="0"/>
          </a:p>
        </p:txBody>
      </p:sp>
    </p:spTree>
    <p:extLst>
      <p:ext uri="{BB962C8B-B14F-4D97-AF65-F5344CB8AC3E}">
        <p14:creationId xmlns:p14="http://schemas.microsoft.com/office/powerpoint/2010/main" val="3732205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7B6518C-FEB3-4A03-A634-19A1ABF5DBF1}"/>
              </a:ext>
            </a:extLst>
          </p:cNvPr>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VIRTUAL ASSISTANT, PROJECT COORDINATION</a:t>
            </a:r>
            <a:endParaRPr lang="en-US" sz="3200" dirty="0"/>
          </a:p>
        </p:txBody>
      </p:sp>
      <p:sp>
        <p:nvSpPr>
          <p:cNvPr id="3" name="Text 1">
            <a:extLst>
              <a:ext uri="{FF2B5EF4-FFF2-40B4-BE49-F238E27FC236}">
                <a16:creationId xmlns:a16="http://schemas.microsoft.com/office/drawing/2014/main" id="{DBF851E3-B330-47B4-A3AB-340F8A1F90C6}"/>
              </a:ext>
            </a:extLst>
          </p:cNvPr>
          <p:cNvSpPr/>
          <p:nvPr/>
        </p:nvSpPr>
        <p:spPr>
          <a:xfrm>
            <a:off x="640080" y="508300"/>
            <a:ext cx="10881360" cy="91440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Work was prioritised and typed for full visibility across teams</a:t>
            </a:r>
            <a:endParaRPr lang="en-US" sz="2000" dirty="0"/>
          </a:p>
        </p:txBody>
      </p:sp>
      <p:pic>
        <p:nvPicPr>
          <p:cNvPr id="4" name="Image 0" descr="/mnt/user-data/uploads/jira1.jpg">
            <a:extLst>
              <a:ext uri="{FF2B5EF4-FFF2-40B4-BE49-F238E27FC236}">
                <a16:creationId xmlns:a16="http://schemas.microsoft.com/office/drawing/2014/main" id="{2FB96284-DAEB-460B-989E-CBC80A0F9C8D}"/>
              </a:ext>
            </a:extLst>
          </p:cNvPr>
          <p:cNvPicPr>
            <a:picLocks noChangeAspect="1"/>
          </p:cNvPicPr>
          <p:nvPr/>
        </p:nvPicPr>
        <p:blipFill>
          <a:blip r:embed="rId2"/>
          <a:stretch>
            <a:fillRect/>
          </a:stretch>
        </p:blipFill>
        <p:spPr>
          <a:xfrm>
            <a:off x="510988" y="1495852"/>
            <a:ext cx="11134165" cy="4722068"/>
          </a:xfrm>
          <a:prstGeom prst="rect">
            <a:avLst/>
          </a:prstGeom>
          <a:effectLst>
            <a:outerShdw blurRad="127000" dist="38100" dir="5400000" algn="bl" rotWithShape="0">
              <a:srgbClr val="000000">
                <a:alpha val="25000"/>
              </a:srgbClr>
            </a:outerShdw>
          </a:effectLst>
        </p:spPr>
      </p:pic>
      <p:sp>
        <p:nvSpPr>
          <p:cNvPr id="5" name="Text 2">
            <a:extLst>
              <a:ext uri="{FF2B5EF4-FFF2-40B4-BE49-F238E27FC236}">
                <a16:creationId xmlns:a16="http://schemas.microsoft.com/office/drawing/2014/main" id="{C0DCC448-0545-49A3-BB37-6CB54931584A}"/>
              </a:ext>
            </a:extLst>
          </p:cNvPr>
          <p:cNvSpPr/>
          <p:nvPr/>
        </p:nvSpPr>
        <p:spPr>
          <a:xfrm>
            <a:off x="640080" y="6400800"/>
            <a:ext cx="10881360" cy="365760"/>
          </a:xfrm>
          <a:prstGeom prst="rect">
            <a:avLst/>
          </a:prstGeom>
          <a:noFill/>
          <a:ln/>
        </p:spPr>
        <p:txBody>
          <a:bodyPr wrap="square" rtlCol="0" anchor="ctr"/>
          <a:lstStyle/>
          <a:p>
            <a:pPr marL="0" indent="0" algn="ctr">
              <a:buNone/>
            </a:pPr>
            <a:r>
              <a:rPr lang="en-US" i="1" dirty="0">
                <a:solidFill>
                  <a:srgbClr val="5F6368"/>
                </a:solidFill>
                <a:latin typeface="Calibri" pitchFamily="34" charset="0"/>
                <a:ea typeface="Calibri" pitchFamily="34" charset="-122"/>
                <a:cs typeface="Calibri" pitchFamily="34" charset="-120"/>
              </a:rPr>
              <a:t>Nearly all work items were tagged Medium priority, and the majority were tracked as Epics spanning each department's larger deliverables.</a:t>
            </a:r>
            <a:endParaRPr lang="en-US" dirty="0"/>
          </a:p>
        </p:txBody>
      </p:sp>
      <p:sp>
        <p:nvSpPr>
          <p:cNvPr id="6" name="Text 3">
            <a:extLst>
              <a:ext uri="{FF2B5EF4-FFF2-40B4-BE49-F238E27FC236}">
                <a16:creationId xmlns:a16="http://schemas.microsoft.com/office/drawing/2014/main" id="{80EC5349-F29B-40CA-BFFD-D47488BC1AD8}"/>
              </a:ext>
            </a:extLst>
          </p:cNvPr>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08</a:t>
            </a:r>
            <a:endParaRPr lang="en-US" sz="1000" dirty="0"/>
          </a:p>
        </p:txBody>
      </p:sp>
    </p:spTree>
    <p:extLst>
      <p:ext uri="{BB962C8B-B14F-4D97-AF65-F5344CB8AC3E}">
        <p14:creationId xmlns:p14="http://schemas.microsoft.com/office/powerpoint/2010/main" val="3698225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6841D7C-4F5C-481C-9E88-5FFC3C486C66}"/>
              </a:ext>
            </a:extLst>
          </p:cNvPr>
          <p:cNvSpPr/>
          <p:nvPr/>
        </p:nvSpPr>
        <p:spPr>
          <a:xfrm>
            <a:off x="640080" y="457200"/>
            <a:ext cx="10058400" cy="320040"/>
          </a:xfrm>
          <a:prstGeom prst="rect">
            <a:avLst/>
          </a:prstGeom>
          <a:noFill/>
          <a:ln/>
        </p:spPr>
        <p:txBody>
          <a:bodyPr wrap="square" rtlCol="0" anchor="ctr"/>
          <a:lstStyle/>
          <a:p>
            <a:pPr marL="0" indent="0">
              <a:buNone/>
            </a:pPr>
            <a:r>
              <a:rPr lang="en-US" sz="3200" b="1" kern="0" spc="200" dirty="0">
                <a:solidFill>
                  <a:srgbClr val="2E7D32"/>
                </a:solidFill>
                <a:latin typeface="Calibri" pitchFamily="34" charset="0"/>
                <a:ea typeface="Calibri" pitchFamily="34" charset="-122"/>
                <a:cs typeface="Calibri" pitchFamily="34" charset="-120"/>
              </a:rPr>
              <a:t>VIRTUAL ASSISTANT, PROJECT COORDINATION</a:t>
            </a:r>
            <a:endParaRPr lang="en-US" sz="3200" dirty="0"/>
          </a:p>
        </p:txBody>
      </p:sp>
      <p:sp>
        <p:nvSpPr>
          <p:cNvPr id="3" name="Text 1">
            <a:extLst>
              <a:ext uri="{FF2B5EF4-FFF2-40B4-BE49-F238E27FC236}">
                <a16:creationId xmlns:a16="http://schemas.microsoft.com/office/drawing/2014/main" id="{F8B4F3F4-5BA0-40DE-B3EC-2185374CA264}"/>
              </a:ext>
            </a:extLst>
          </p:cNvPr>
          <p:cNvSpPr/>
          <p:nvPr/>
        </p:nvSpPr>
        <p:spPr>
          <a:xfrm>
            <a:off x="640080" y="481406"/>
            <a:ext cx="10881360" cy="914400"/>
          </a:xfrm>
          <a:prstGeom prst="rect">
            <a:avLst/>
          </a:prstGeom>
          <a:noFill/>
          <a:ln/>
        </p:spPr>
        <p:txBody>
          <a:bodyPr wrap="square" rtlCol="0" anchor="ctr"/>
          <a:lstStyle/>
          <a:p>
            <a:pPr marL="0" indent="0">
              <a:buNone/>
            </a:pPr>
            <a:r>
              <a:rPr lang="en-US" sz="2000" b="1" dirty="0">
                <a:solidFill>
                  <a:srgbClr val="1C1C1C"/>
                </a:solidFill>
                <a:latin typeface="Calibri" pitchFamily="34" charset="0"/>
                <a:ea typeface="Calibri" pitchFamily="34" charset="-122"/>
                <a:cs typeface="Calibri" pitchFamily="34" charset="-120"/>
              </a:rPr>
              <a:t>Every department's epic closed out at full completion</a:t>
            </a:r>
            <a:endParaRPr lang="en-US" sz="2000" dirty="0"/>
          </a:p>
        </p:txBody>
      </p:sp>
      <p:pic>
        <p:nvPicPr>
          <p:cNvPr id="4" name="Image 0" descr="/mnt/user-data/uploads/jira2.jpg">
            <a:extLst>
              <a:ext uri="{FF2B5EF4-FFF2-40B4-BE49-F238E27FC236}">
                <a16:creationId xmlns:a16="http://schemas.microsoft.com/office/drawing/2014/main" id="{A68CB2B7-402D-41C0-9218-7D9BAE48FF5A}"/>
              </a:ext>
            </a:extLst>
          </p:cNvPr>
          <p:cNvPicPr>
            <a:picLocks noChangeAspect="1"/>
          </p:cNvPicPr>
          <p:nvPr/>
        </p:nvPicPr>
        <p:blipFill>
          <a:blip r:embed="rId2"/>
          <a:stretch>
            <a:fillRect/>
          </a:stretch>
        </p:blipFill>
        <p:spPr>
          <a:xfrm>
            <a:off x="1052787" y="1257300"/>
            <a:ext cx="10086425" cy="4914900"/>
          </a:xfrm>
          <a:prstGeom prst="rect">
            <a:avLst/>
          </a:prstGeom>
          <a:effectLst>
            <a:outerShdw blurRad="127000" dist="38100" dir="5400000" algn="bl" rotWithShape="0">
              <a:srgbClr val="000000">
                <a:alpha val="25000"/>
              </a:srgbClr>
            </a:outerShdw>
          </a:effectLst>
        </p:spPr>
      </p:pic>
      <p:sp>
        <p:nvSpPr>
          <p:cNvPr id="5" name="Text 2">
            <a:extLst>
              <a:ext uri="{FF2B5EF4-FFF2-40B4-BE49-F238E27FC236}">
                <a16:creationId xmlns:a16="http://schemas.microsoft.com/office/drawing/2014/main" id="{5D60E9AA-EEEF-479F-ADE8-0DCC4EF8CB5B}"/>
              </a:ext>
            </a:extLst>
          </p:cNvPr>
          <p:cNvSpPr/>
          <p:nvPr/>
        </p:nvSpPr>
        <p:spPr>
          <a:xfrm>
            <a:off x="640080" y="6400800"/>
            <a:ext cx="10881360" cy="365760"/>
          </a:xfrm>
          <a:prstGeom prst="rect">
            <a:avLst/>
          </a:prstGeom>
          <a:noFill/>
          <a:ln/>
        </p:spPr>
        <p:txBody>
          <a:bodyPr wrap="square" rtlCol="0" anchor="ctr"/>
          <a:lstStyle/>
          <a:p>
            <a:pPr marL="0" indent="0" algn="ctr">
              <a:buNone/>
            </a:pPr>
            <a:r>
              <a:rPr lang="en-US" i="1" dirty="0">
                <a:solidFill>
                  <a:srgbClr val="5F6368"/>
                </a:solidFill>
                <a:latin typeface="Calibri" pitchFamily="34" charset="0"/>
                <a:ea typeface="Calibri" pitchFamily="34" charset="-122"/>
                <a:cs typeface="Calibri" pitchFamily="34" charset="-120"/>
              </a:rPr>
              <a:t>Frontend Development, Virtual Assistant and Digital Marketing epics each reached 100% completion, with workload monitored and rebalanced across the team throughout.</a:t>
            </a:r>
            <a:endParaRPr lang="en-US" dirty="0"/>
          </a:p>
        </p:txBody>
      </p:sp>
      <p:sp>
        <p:nvSpPr>
          <p:cNvPr id="6" name="Text 3">
            <a:extLst>
              <a:ext uri="{FF2B5EF4-FFF2-40B4-BE49-F238E27FC236}">
                <a16:creationId xmlns:a16="http://schemas.microsoft.com/office/drawing/2014/main" id="{B123CABB-D58C-46DD-9358-F77E2DD61D45}"/>
              </a:ext>
            </a:extLst>
          </p:cNvPr>
          <p:cNvSpPr/>
          <p:nvPr/>
        </p:nvSpPr>
        <p:spPr>
          <a:xfrm>
            <a:off x="11521440" y="6473952"/>
            <a:ext cx="548640" cy="292608"/>
          </a:xfrm>
          <a:prstGeom prst="rect">
            <a:avLst/>
          </a:prstGeom>
          <a:noFill/>
          <a:ln/>
        </p:spPr>
        <p:txBody>
          <a:bodyPr wrap="square" rtlCol="0" anchor="ctr"/>
          <a:lstStyle/>
          <a:p>
            <a:pPr marL="0" indent="0" algn="r">
              <a:buNone/>
            </a:pPr>
            <a:r>
              <a:rPr lang="en-US" sz="1000" dirty="0">
                <a:solidFill>
                  <a:srgbClr val="A8A8A8"/>
                </a:solidFill>
                <a:latin typeface="Calibri" pitchFamily="34" charset="0"/>
                <a:ea typeface="Calibri" pitchFamily="34" charset="-122"/>
                <a:cs typeface="Calibri" pitchFamily="34" charset="-120"/>
              </a:rPr>
              <a:t>09</a:t>
            </a:r>
            <a:endParaRPr lang="en-US" sz="1000" dirty="0"/>
          </a:p>
        </p:txBody>
      </p:sp>
    </p:spTree>
    <p:extLst>
      <p:ext uri="{BB962C8B-B14F-4D97-AF65-F5344CB8AC3E}">
        <p14:creationId xmlns:p14="http://schemas.microsoft.com/office/powerpoint/2010/main" val="822681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C7B19E-9C8A-4511-A791-B96167B68BED}"/>
              </a:ext>
            </a:extLst>
          </p:cNvPr>
          <p:cNvSpPr/>
          <p:nvPr/>
        </p:nvSpPr>
        <p:spPr>
          <a:xfrm>
            <a:off x="-1" y="0"/>
            <a:ext cx="12192001" cy="6858000"/>
          </a:xfrm>
          <a:prstGeom prst="rect">
            <a:avLst/>
          </a:prstGeom>
          <a:solidFill>
            <a:srgbClr val="1B5E2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75000"/>
                </a:schemeClr>
              </a:solidFill>
            </a:endParaRPr>
          </a:p>
        </p:txBody>
      </p:sp>
      <p:sp>
        <p:nvSpPr>
          <p:cNvPr id="2" name="TextBox 1">
            <a:extLst>
              <a:ext uri="{FF2B5EF4-FFF2-40B4-BE49-F238E27FC236}">
                <a16:creationId xmlns:a16="http://schemas.microsoft.com/office/drawing/2014/main" id="{C5EE8961-35C3-43E9-97F7-D7F57E1A5D71}"/>
              </a:ext>
            </a:extLst>
          </p:cNvPr>
          <p:cNvSpPr txBox="1"/>
          <p:nvPr/>
        </p:nvSpPr>
        <p:spPr>
          <a:xfrm>
            <a:off x="1" y="174812"/>
            <a:ext cx="6736975" cy="1846659"/>
          </a:xfrm>
          <a:prstGeom prst="rect">
            <a:avLst/>
          </a:prstGeom>
          <a:noFill/>
        </p:spPr>
        <p:txBody>
          <a:bodyPr wrap="square" rtlCol="0">
            <a:spAutoFit/>
          </a:bodyPr>
          <a:lstStyle/>
          <a:p>
            <a:endParaRPr lang="en-GB" sz="2400" b="1" dirty="0">
              <a:solidFill>
                <a:schemeClr val="bg1"/>
              </a:solidFill>
            </a:endParaRPr>
          </a:p>
          <a:p>
            <a:endParaRPr lang="en-GB" dirty="0">
              <a:solidFill>
                <a:schemeClr val="bg1"/>
              </a:solidFill>
            </a:endParaRPr>
          </a:p>
          <a:p>
            <a:endParaRPr lang="en-GB" dirty="0">
              <a:solidFill>
                <a:schemeClr val="bg1"/>
              </a:solidFill>
            </a:endParaRPr>
          </a:p>
          <a:p>
            <a:endParaRPr lang="en-GB" dirty="0">
              <a:solidFill>
                <a:schemeClr val="bg1"/>
              </a:solidFill>
            </a:endParaRPr>
          </a:p>
          <a:p>
            <a:endParaRPr lang="en-GB" dirty="0">
              <a:solidFill>
                <a:schemeClr val="bg1"/>
              </a:solidFill>
            </a:endParaRPr>
          </a:p>
          <a:p>
            <a:endParaRPr lang="en-GB" dirty="0">
              <a:solidFill>
                <a:schemeClr val="bg1"/>
              </a:solidFill>
            </a:endParaRPr>
          </a:p>
        </p:txBody>
      </p:sp>
      <p:sp>
        <p:nvSpPr>
          <p:cNvPr id="8" name="TextBox 7">
            <a:extLst>
              <a:ext uri="{FF2B5EF4-FFF2-40B4-BE49-F238E27FC236}">
                <a16:creationId xmlns:a16="http://schemas.microsoft.com/office/drawing/2014/main" id="{71FA1B83-A5EC-447E-9F33-745B61D3A419}"/>
              </a:ext>
            </a:extLst>
          </p:cNvPr>
          <p:cNvSpPr txBox="1"/>
          <p:nvPr/>
        </p:nvSpPr>
        <p:spPr>
          <a:xfrm>
            <a:off x="4291853" y="483948"/>
            <a:ext cx="2796987" cy="1846659"/>
          </a:xfrm>
          <a:prstGeom prst="rect">
            <a:avLst/>
          </a:prstGeom>
          <a:noFill/>
        </p:spPr>
        <p:txBody>
          <a:bodyPr wrap="square" rtlCol="0">
            <a:spAutoFit/>
          </a:bodyPr>
          <a:lstStyle/>
          <a:p>
            <a:r>
              <a:rPr lang="en-GB" sz="2400" b="1" dirty="0">
                <a:solidFill>
                  <a:schemeClr val="bg1"/>
                </a:solidFill>
              </a:rPr>
              <a:t>CONTRIBUTION</a:t>
            </a:r>
            <a:r>
              <a:rPr lang="en-GB" dirty="0">
                <a:solidFill>
                  <a:schemeClr val="bg1"/>
                </a:solidFill>
              </a:rPr>
              <a:t> </a:t>
            </a:r>
          </a:p>
          <a:p>
            <a:r>
              <a:rPr lang="en-GB" dirty="0">
                <a:solidFill>
                  <a:schemeClr val="bg1"/>
                </a:solidFill>
              </a:rPr>
              <a:t>• Product planning </a:t>
            </a:r>
          </a:p>
          <a:p>
            <a:r>
              <a:rPr lang="en-GB" dirty="0">
                <a:solidFill>
                  <a:schemeClr val="bg1"/>
                </a:solidFill>
              </a:rPr>
              <a:t>• Sprint management </a:t>
            </a:r>
          </a:p>
          <a:p>
            <a:r>
              <a:rPr lang="en-GB" dirty="0">
                <a:solidFill>
                  <a:schemeClr val="bg1"/>
                </a:solidFill>
              </a:rPr>
              <a:t>• Requirements gathering </a:t>
            </a:r>
          </a:p>
          <a:p>
            <a:r>
              <a:rPr lang="en-GB" dirty="0">
                <a:solidFill>
                  <a:schemeClr val="bg1"/>
                </a:solidFill>
              </a:rPr>
              <a:t>• Team coordination</a:t>
            </a:r>
          </a:p>
          <a:p>
            <a:endParaRPr lang="en-GB" dirty="0"/>
          </a:p>
        </p:txBody>
      </p:sp>
      <p:sp>
        <p:nvSpPr>
          <p:cNvPr id="9" name="TextBox 8">
            <a:extLst>
              <a:ext uri="{FF2B5EF4-FFF2-40B4-BE49-F238E27FC236}">
                <a16:creationId xmlns:a16="http://schemas.microsoft.com/office/drawing/2014/main" id="{5F84BC2B-B2D3-4DFA-9D6C-D119FB2CB230}"/>
              </a:ext>
            </a:extLst>
          </p:cNvPr>
          <p:cNvSpPr txBox="1"/>
          <p:nvPr/>
        </p:nvSpPr>
        <p:spPr>
          <a:xfrm>
            <a:off x="217394" y="483949"/>
            <a:ext cx="4074459" cy="1846659"/>
          </a:xfrm>
          <a:prstGeom prst="rect">
            <a:avLst/>
          </a:prstGeom>
          <a:noFill/>
        </p:spPr>
        <p:txBody>
          <a:bodyPr wrap="square" rtlCol="0">
            <a:spAutoFit/>
          </a:bodyPr>
          <a:lstStyle/>
          <a:p>
            <a:r>
              <a:rPr lang="en-GB" sz="2400" b="1" dirty="0">
                <a:solidFill>
                  <a:schemeClr val="bg1"/>
                </a:solidFill>
              </a:rPr>
              <a:t>PRODUCT MANAGERS</a:t>
            </a:r>
          </a:p>
          <a:p>
            <a:r>
              <a:rPr lang="en-GB" dirty="0" err="1">
                <a:solidFill>
                  <a:schemeClr val="bg1"/>
                </a:solidFill>
              </a:rPr>
              <a:t>Salawudeen</a:t>
            </a:r>
            <a:r>
              <a:rPr lang="en-GB" dirty="0">
                <a:solidFill>
                  <a:schemeClr val="bg1"/>
                </a:solidFill>
              </a:rPr>
              <a:t> </a:t>
            </a:r>
            <a:r>
              <a:rPr lang="en-GB" dirty="0" err="1">
                <a:solidFill>
                  <a:schemeClr val="bg1"/>
                </a:solidFill>
              </a:rPr>
              <a:t>Toheeb</a:t>
            </a:r>
            <a:r>
              <a:rPr lang="en-GB" dirty="0">
                <a:solidFill>
                  <a:schemeClr val="bg1"/>
                </a:solidFill>
              </a:rPr>
              <a:t> Olalekan </a:t>
            </a:r>
            <a:br>
              <a:rPr lang="en-GB" dirty="0">
                <a:solidFill>
                  <a:schemeClr val="bg1"/>
                </a:solidFill>
              </a:rPr>
            </a:br>
            <a:r>
              <a:rPr lang="en-GB" dirty="0">
                <a:solidFill>
                  <a:schemeClr val="bg1"/>
                </a:solidFill>
              </a:rPr>
              <a:t>Elizabeth </a:t>
            </a:r>
            <a:r>
              <a:rPr lang="en-GB" dirty="0" err="1">
                <a:solidFill>
                  <a:schemeClr val="bg1"/>
                </a:solidFill>
              </a:rPr>
              <a:t>Oluwabusola</a:t>
            </a:r>
            <a:r>
              <a:rPr lang="en-GB" dirty="0">
                <a:solidFill>
                  <a:schemeClr val="bg1"/>
                </a:solidFill>
              </a:rPr>
              <a:t> </a:t>
            </a:r>
            <a:r>
              <a:rPr lang="en-GB" dirty="0" err="1">
                <a:solidFill>
                  <a:schemeClr val="bg1"/>
                </a:solidFill>
              </a:rPr>
              <a:t>Sonola</a:t>
            </a:r>
            <a:r>
              <a:rPr lang="en-GB" dirty="0">
                <a:solidFill>
                  <a:schemeClr val="bg1"/>
                </a:solidFill>
              </a:rPr>
              <a:t> </a:t>
            </a:r>
            <a:br>
              <a:rPr lang="en-GB" dirty="0">
                <a:solidFill>
                  <a:schemeClr val="bg1"/>
                </a:solidFill>
              </a:rPr>
            </a:br>
            <a:r>
              <a:rPr lang="en-GB" dirty="0">
                <a:solidFill>
                  <a:schemeClr val="bg1"/>
                </a:solidFill>
              </a:rPr>
              <a:t>Vanessa </a:t>
            </a:r>
            <a:r>
              <a:rPr lang="en-GB" dirty="0" err="1">
                <a:solidFill>
                  <a:schemeClr val="bg1"/>
                </a:solidFill>
              </a:rPr>
              <a:t>Adetoro</a:t>
            </a:r>
            <a:r>
              <a:rPr lang="en-GB" dirty="0">
                <a:solidFill>
                  <a:schemeClr val="bg1"/>
                </a:solidFill>
              </a:rPr>
              <a:t> </a:t>
            </a:r>
            <a:r>
              <a:rPr lang="en-GB" dirty="0" err="1">
                <a:solidFill>
                  <a:schemeClr val="bg1"/>
                </a:solidFill>
              </a:rPr>
              <a:t>osarobo</a:t>
            </a:r>
            <a:r>
              <a:rPr lang="en-GB" dirty="0">
                <a:solidFill>
                  <a:schemeClr val="bg1"/>
                </a:solidFill>
              </a:rPr>
              <a:t> </a:t>
            </a:r>
          </a:p>
          <a:p>
            <a:r>
              <a:rPr lang="en-GB" dirty="0">
                <a:solidFill>
                  <a:schemeClr val="bg1"/>
                </a:solidFill>
              </a:rPr>
              <a:t>Michael </a:t>
            </a:r>
            <a:r>
              <a:rPr lang="en-GB" dirty="0" err="1">
                <a:solidFill>
                  <a:schemeClr val="bg1"/>
                </a:solidFill>
              </a:rPr>
              <a:t>Alao</a:t>
            </a:r>
            <a:r>
              <a:rPr lang="en-GB" dirty="0">
                <a:solidFill>
                  <a:schemeClr val="bg1"/>
                </a:solidFill>
              </a:rPr>
              <a:t> </a:t>
            </a:r>
          </a:p>
          <a:p>
            <a:endParaRPr lang="en-GB" dirty="0"/>
          </a:p>
        </p:txBody>
      </p:sp>
      <p:sp>
        <p:nvSpPr>
          <p:cNvPr id="10" name="TextBox 9">
            <a:extLst>
              <a:ext uri="{FF2B5EF4-FFF2-40B4-BE49-F238E27FC236}">
                <a16:creationId xmlns:a16="http://schemas.microsoft.com/office/drawing/2014/main" id="{760F751F-E9CF-4D80-AADC-A31E7BDA9164}"/>
              </a:ext>
            </a:extLst>
          </p:cNvPr>
          <p:cNvSpPr txBox="1"/>
          <p:nvPr/>
        </p:nvSpPr>
        <p:spPr>
          <a:xfrm>
            <a:off x="217394" y="2418014"/>
            <a:ext cx="3585883" cy="2400657"/>
          </a:xfrm>
          <a:prstGeom prst="rect">
            <a:avLst/>
          </a:prstGeom>
          <a:noFill/>
        </p:spPr>
        <p:txBody>
          <a:bodyPr wrap="square" rtlCol="0">
            <a:spAutoFit/>
          </a:bodyPr>
          <a:lstStyle/>
          <a:p>
            <a:r>
              <a:rPr lang="en-GB" sz="2400" b="1" dirty="0">
                <a:solidFill>
                  <a:schemeClr val="bg1"/>
                </a:solidFill>
              </a:rPr>
              <a:t>VIRTUAL ASSISTANTS </a:t>
            </a:r>
          </a:p>
          <a:p>
            <a:r>
              <a:rPr lang="en-GB" dirty="0" err="1">
                <a:solidFill>
                  <a:schemeClr val="bg1"/>
                </a:solidFill>
              </a:rPr>
              <a:t>Akinpade</a:t>
            </a:r>
            <a:r>
              <a:rPr lang="en-GB" dirty="0">
                <a:solidFill>
                  <a:schemeClr val="bg1"/>
                </a:solidFill>
              </a:rPr>
              <a:t> </a:t>
            </a:r>
            <a:r>
              <a:rPr lang="en-GB" dirty="0" err="1">
                <a:solidFill>
                  <a:schemeClr val="bg1"/>
                </a:solidFill>
              </a:rPr>
              <a:t>Jesudarasimi</a:t>
            </a:r>
            <a:r>
              <a:rPr lang="en-GB" dirty="0">
                <a:solidFill>
                  <a:schemeClr val="bg1"/>
                </a:solidFill>
              </a:rPr>
              <a:t> </a:t>
            </a:r>
          </a:p>
          <a:p>
            <a:r>
              <a:rPr lang="en-GB" dirty="0" err="1">
                <a:solidFill>
                  <a:schemeClr val="bg1"/>
                </a:solidFill>
              </a:rPr>
              <a:t>Fajinmi</a:t>
            </a:r>
            <a:r>
              <a:rPr lang="en-GB" dirty="0">
                <a:solidFill>
                  <a:schemeClr val="bg1"/>
                </a:solidFill>
              </a:rPr>
              <a:t> Olayinka </a:t>
            </a:r>
          </a:p>
          <a:p>
            <a:r>
              <a:rPr lang="en-GB" dirty="0" err="1">
                <a:solidFill>
                  <a:schemeClr val="bg1"/>
                </a:solidFill>
              </a:rPr>
              <a:t>Olawunmi</a:t>
            </a:r>
            <a:r>
              <a:rPr lang="en-GB" dirty="0">
                <a:solidFill>
                  <a:schemeClr val="bg1"/>
                </a:solidFill>
              </a:rPr>
              <a:t> </a:t>
            </a:r>
            <a:r>
              <a:rPr lang="en-GB" dirty="0" err="1">
                <a:solidFill>
                  <a:schemeClr val="bg1"/>
                </a:solidFill>
              </a:rPr>
              <a:t>Funmilola</a:t>
            </a:r>
            <a:r>
              <a:rPr lang="en-GB" dirty="0">
                <a:solidFill>
                  <a:schemeClr val="bg1"/>
                </a:solidFill>
              </a:rPr>
              <a:t> </a:t>
            </a:r>
          </a:p>
          <a:p>
            <a:r>
              <a:rPr lang="en-GB" dirty="0">
                <a:solidFill>
                  <a:schemeClr val="bg1"/>
                </a:solidFill>
              </a:rPr>
              <a:t>Esther Orji </a:t>
            </a:r>
          </a:p>
          <a:p>
            <a:r>
              <a:rPr lang="en-GB" dirty="0">
                <a:solidFill>
                  <a:schemeClr val="bg1"/>
                </a:solidFill>
              </a:rPr>
              <a:t>Norah </a:t>
            </a:r>
            <a:r>
              <a:rPr lang="en-GB" dirty="0" err="1">
                <a:solidFill>
                  <a:schemeClr val="bg1"/>
                </a:solidFill>
              </a:rPr>
              <a:t>Egwakhide</a:t>
            </a:r>
            <a:r>
              <a:rPr lang="en-GB" dirty="0">
                <a:solidFill>
                  <a:schemeClr val="bg1"/>
                </a:solidFill>
              </a:rPr>
              <a:t> </a:t>
            </a:r>
          </a:p>
          <a:p>
            <a:r>
              <a:rPr lang="en-GB" dirty="0">
                <a:solidFill>
                  <a:schemeClr val="bg1"/>
                </a:solidFill>
              </a:rPr>
              <a:t>Precious </a:t>
            </a:r>
            <a:r>
              <a:rPr lang="en-GB" dirty="0" err="1">
                <a:solidFill>
                  <a:schemeClr val="bg1"/>
                </a:solidFill>
              </a:rPr>
              <a:t>Temidayo</a:t>
            </a:r>
            <a:r>
              <a:rPr lang="en-GB" dirty="0">
                <a:solidFill>
                  <a:schemeClr val="bg1"/>
                </a:solidFill>
              </a:rPr>
              <a:t> </a:t>
            </a:r>
          </a:p>
          <a:p>
            <a:endParaRPr lang="en-GB" dirty="0"/>
          </a:p>
        </p:txBody>
      </p:sp>
      <p:sp>
        <p:nvSpPr>
          <p:cNvPr id="11" name="TextBox 10">
            <a:extLst>
              <a:ext uri="{FF2B5EF4-FFF2-40B4-BE49-F238E27FC236}">
                <a16:creationId xmlns:a16="http://schemas.microsoft.com/office/drawing/2014/main" id="{EDB2F724-6FC1-4064-A815-CA93472AD51F}"/>
              </a:ext>
            </a:extLst>
          </p:cNvPr>
          <p:cNvSpPr txBox="1"/>
          <p:nvPr/>
        </p:nvSpPr>
        <p:spPr>
          <a:xfrm>
            <a:off x="4195481" y="2376620"/>
            <a:ext cx="3334869" cy="2400657"/>
          </a:xfrm>
          <a:prstGeom prst="rect">
            <a:avLst/>
          </a:prstGeom>
          <a:noFill/>
        </p:spPr>
        <p:txBody>
          <a:bodyPr wrap="square" rtlCol="0">
            <a:spAutoFit/>
          </a:bodyPr>
          <a:lstStyle/>
          <a:p>
            <a:r>
              <a:rPr lang="en-GB" sz="2400" b="1" dirty="0">
                <a:solidFill>
                  <a:schemeClr val="bg1"/>
                </a:solidFill>
              </a:rPr>
              <a:t>CONTRIBUTION </a:t>
            </a:r>
          </a:p>
          <a:p>
            <a:r>
              <a:rPr lang="en-GB" dirty="0">
                <a:solidFill>
                  <a:schemeClr val="bg1"/>
                </a:solidFill>
              </a:rPr>
              <a:t>• Meeting scheduling </a:t>
            </a:r>
          </a:p>
          <a:p>
            <a:r>
              <a:rPr lang="en-GB" dirty="0">
                <a:solidFill>
                  <a:schemeClr val="bg1"/>
                </a:solidFill>
              </a:rPr>
              <a:t>• Documentation </a:t>
            </a:r>
          </a:p>
          <a:p>
            <a:r>
              <a:rPr lang="en-GB" dirty="0">
                <a:solidFill>
                  <a:schemeClr val="bg1"/>
                </a:solidFill>
              </a:rPr>
              <a:t>• Reports </a:t>
            </a:r>
          </a:p>
          <a:p>
            <a:r>
              <a:rPr lang="en-GB" dirty="0">
                <a:solidFill>
                  <a:schemeClr val="bg1"/>
                </a:solidFill>
              </a:rPr>
              <a:t>• Team communication </a:t>
            </a:r>
          </a:p>
          <a:p>
            <a:r>
              <a:rPr lang="en-GB" dirty="0">
                <a:solidFill>
                  <a:schemeClr val="bg1"/>
                </a:solidFill>
              </a:rPr>
              <a:t>• Sprint coordination </a:t>
            </a:r>
          </a:p>
          <a:p>
            <a:r>
              <a:rPr lang="en-GB" dirty="0">
                <a:solidFill>
                  <a:schemeClr val="bg1"/>
                </a:solidFill>
              </a:rPr>
              <a:t>• Project tracking</a:t>
            </a:r>
          </a:p>
          <a:p>
            <a:endParaRPr lang="en-GB" dirty="0"/>
          </a:p>
        </p:txBody>
      </p:sp>
      <p:sp>
        <p:nvSpPr>
          <p:cNvPr id="12" name="TextBox 11">
            <a:extLst>
              <a:ext uri="{FF2B5EF4-FFF2-40B4-BE49-F238E27FC236}">
                <a16:creationId xmlns:a16="http://schemas.microsoft.com/office/drawing/2014/main" id="{2D7D58EC-9A62-49AE-A087-CDA9C1E179DF}"/>
              </a:ext>
            </a:extLst>
          </p:cNvPr>
          <p:cNvSpPr txBox="1"/>
          <p:nvPr/>
        </p:nvSpPr>
        <p:spPr>
          <a:xfrm>
            <a:off x="338418" y="4996636"/>
            <a:ext cx="3496233" cy="1015663"/>
          </a:xfrm>
          <a:prstGeom prst="rect">
            <a:avLst/>
          </a:prstGeom>
          <a:noFill/>
        </p:spPr>
        <p:txBody>
          <a:bodyPr wrap="square" rtlCol="0">
            <a:spAutoFit/>
          </a:bodyPr>
          <a:lstStyle/>
          <a:p>
            <a:r>
              <a:rPr lang="en-GB" sz="2400" b="1" dirty="0">
                <a:solidFill>
                  <a:schemeClr val="bg1"/>
                </a:solidFill>
              </a:rPr>
              <a:t>FRONTEND DEVELOPER</a:t>
            </a:r>
          </a:p>
          <a:p>
            <a:r>
              <a:rPr lang="en-GB" dirty="0" err="1">
                <a:solidFill>
                  <a:schemeClr val="bg1"/>
                </a:solidFill>
              </a:rPr>
              <a:t>Osazuwa</a:t>
            </a:r>
            <a:r>
              <a:rPr lang="en-GB" dirty="0">
                <a:solidFill>
                  <a:schemeClr val="bg1"/>
                </a:solidFill>
              </a:rPr>
              <a:t> Kelvin </a:t>
            </a:r>
          </a:p>
          <a:p>
            <a:r>
              <a:rPr lang="en-GB" dirty="0" err="1">
                <a:solidFill>
                  <a:schemeClr val="bg1"/>
                </a:solidFill>
              </a:rPr>
              <a:t>Olayiwola</a:t>
            </a:r>
            <a:r>
              <a:rPr lang="en-GB" dirty="0">
                <a:solidFill>
                  <a:schemeClr val="bg1"/>
                </a:solidFill>
              </a:rPr>
              <a:t> </a:t>
            </a:r>
            <a:r>
              <a:rPr lang="en-GB" dirty="0" err="1">
                <a:solidFill>
                  <a:schemeClr val="bg1"/>
                </a:solidFill>
              </a:rPr>
              <a:t>Rokanmi</a:t>
            </a:r>
            <a:endParaRPr lang="en-GB" dirty="0">
              <a:solidFill>
                <a:schemeClr val="bg1"/>
              </a:solidFill>
            </a:endParaRPr>
          </a:p>
        </p:txBody>
      </p:sp>
      <p:sp>
        <p:nvSpPr>
          <p:cNvPr id="13" name="TextBox 12">
            <a:extLst>
              <a:ext uri="{FF2B5EF4-FFF2-40B4-BE49-F238E27FC236}">
                <a16:creationId xmlns:a16="http://schemas.microsoft.com/office/drawing/2014/main" id="{C6CF326A-35FA-4825-8E23-B969797FDED6}"/>
              </a:ext>
            </a:extLst>
          </p:cNvPr>
          <p:cNvSpPr txBox="1"/>
          <p:nvPr/>
        </p:nvSpPr>
        <p:spPr>
          <a:xfrm>
            <a:off x="4195481" y="5020519"/>
            <a:ext cx="3496233" cy="1569660"/>
          </a:xfrm>
          <a:prstGeom prst="rect">
            <a:avLst/>
          </a:prstGeom>
          <a:noFill/>
        </p:spPr>
        <p:txBody>
          <a:bodyPr wrap="square" rtlCol="0">
            <a:spAutoFit/>
          </a:bodyPr>
          <a:lstStyle/>
          <a:p>
            <a:r>
              <a:rPr lang="en-GB" sz="2400" b="1" dirty="0">
                <a:solidFill>
                  <a:schemeClr val="bg1"/>
                </a:solidFill>
              </a:rPr>
              <a:t> CONTRIBUTION </a:t>
            </a:r>
          </a:p>
          <a:p>
            <a:r>
              <a:rPr lang="en-GB" dirty="0">
                <a:solidFill>
                  <a:schemeClr val="bg1"/>
                </a:solidFill>
              </a:rPr>
              <a:t>• Developed the application’s user interface </a:t>
            </a:r>
          </a:p>
          <a:p>
            <a:r>
              <a:rPr lang="en-GB" dirty="0">
                <a:solidFill>
                  <a:schemeClr val="bg1"/>
                </a:solidFill>
              </a:rPr>
              <a:t>• Connected screens • Improved user experience</a:t>
            </a:r>
          </a:p>
        </p:txBody>
      </p:sp>
      <p:cxnSp>
        <p:nvCxnSpPr>
          <p:cNvPr id="15" name="Straight Connector 14">
            <a:extLst>
              <a:ext uri="{FF2B5EF4-FFF2-40B4-BE49-F238E27FC236}">
                <a16:creationId xmlns:a16="http://schemas.microsoft.com/office/drawing/2014/main" id="{6689C498-20E0-427A-ADD8-21DABEF8EC58}"/>
              </a:ext>
            </a:extLst>
          </p:cNvPr>
          <p:cNvCxnSpPr>
            <a:cxnSpLocks/>
          </p:cNvCxnSpPr>
          <p:nvPr/>
        </p:nvCxnSpPr>
        <p:spPr>
          <a:xfrm>
            <a:off x="7799289" y="0"/>
            <a:ext cx="0" cy="68580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C5B71C7-3CA3-44E4-9B9B-E6C620EAB7EE}"/>
              </a:ext>
            </a:extLst>
          </p:cNvPr>
          <p:cNvSpPr txBox="1"/>
          <p:nvPr/>
        </p:nvSpPr>
        <p:spPr>
          <a:xfrm>
            <a:off x="8366312" y="215153"/>
            <a:ext cx="3711388" cy="2492990"/>
          </a:xfrm>
          <a:prstGeom prst="rect">
            <a:avLst/>
          </a:prstGeom>
          <a:noFill/>
        </p:spPr>
        <p:txBody>
          <a:bodyPr wrap="square" rtlCol="0">
            <a:spAutoFit/>
          </a:bodyPr>
          <a:lstStyle/>
          <a:p>
            <a:r>
              <a:rPr lang="en-GB" sz="2400" b="1" dirty="0">
                <a:solidFill>
                  <a:schemeClr val="bg1"/>
                </a:solidFill>
              </a:rPr>
              <a:t>BACKEND DEVELOPER </a:t>
            </a:r>
          </a:p>
          <a:p>
            <a:r>
              <a:rPr lang="en-GB" dirty="0" err="1">
                <a:solidFill>
                  <a:schemeClr val="bg1"/>
                </a:solidFill>
              </a:rPr>
              <a:t>Oluchi</a:t>
            </a:r>
            <a:r>
              <a:rPr lang="en-GB" dirty="0">
                <a:solidFill>
                  <a:schemeClr val="bg1"/>
                </a:solidFill>
              </a:rPr>
              <a:t> </a:t>
            </a:r>
            <a:r>
              <a:rPr lang="en-GB" dirty="0" err="1">
                <a:solidFill>
                  <a:schemeClr val="bg1"/>
                </a:solidFill>
              </a:rPr>
              <a:t>Ejidike</a:t>
            </a:r>
            <a:endParaRPr lang="en-GB" dirty="0">
              <a:solidFill>
                <a:schemeClr val="bg1"/>
              </a:solidFill>
            </a:endParaRPr>
          </a:p>
          <a:p>
            <a:endParaRPr lang="en-GB" dirty="0">
              <a:solidFill>
                <a:schemeClr val="bg1"/>
              </a:solidFill>
            </a:endParaRPr>
          </a:p>
          <a:p>
            <a:r>
              <a:rPr lang="en-GB" sz="2400" b="1" dirty="0">
                <a:solidFill>
                  <a:schemeClr val="bg1"/>
                </a:solidFill>
              </a:rPr>
              <a:t>CONTRIBUTION</a:t>
            </a:r>
            <a:r>
              <a:rPr lang="en-GB" dirty="0">
                <a:solidFill>
                  <a:schemeClr val="bg1"/>
                </a:solidFill>
              </a:rPr>
              <a:t> </a:t>
            </a:r>
          </a:p>
          <a:p>
            <a:r>
              <a:rPr lang="en-GB" dirty="0">
                <a:solidFill>
                  <a:schemeClr val="bg1"/>
                </a:solidFill>
              </a:rPr>
              <a:t>• Built APIs </a:t>
            </a:r>
          </a:p>
          <a:p>
            <a:r>
              <a:rPr lang="en-GB" dirty="0">
                <a:solidFill>
                  <a:schemeClr val="bg1"/>
                </a:solidFill>
              </a:rPr>
              <a:t>• Authentication </a:t>
            </a:r>
          </a:p>
          <a:p>
            <a:r>
              <a:rPr lang="en-GB" dirty="0">
                <a:solidFill>
                  <a:schemeClr val="bg1"/>
                </a:solidFill>
              </a:rPr>
              <a:t>• Database connection</a:t>
            </a:r>
          </a:p>
          <a:p>
            <a:r>
              <a:rPr lang="en-GB" dirty="0">
                <a:solidFill>
                  <a:schemeClr val="bg1"/>
                </a:solidFill>
              </a:rPr>
              <a:t>• Business logic</a:t>
            </a:r>
          </a:p>
        </p:txBody>
      </p:sp>
      <p:sp>
        <p:nvSpPr>
          <p:cNvPr id="18" name="TextBox 17">
            <a:extLst>
              <a:ext uri="{FF2B5EF4-FFF2-40B4-BE49-F238E27FC236}">
                <a16:creationId xmlns:a16="http://schemas.microsoft.com/office/drawing/2014/main" id="{B237152D-B6E1-4788-BED1-5046E9C70C25}"/>
              </a:ext>
            </a:extLst>
          </p:cNvPr>
          <p:cNvSpPr txBox="1"/>
          <p:nvPr/>
        </p:nvSpPr>
        <p:spPr>
          <a:xfrm>
            <a:off x="8343901" y="3642514"/>
            <a:ext cx="3939989" cy="3046988"/>
          </a:xfrm>
          <a:prstGeom prst="rect">
            <a:avLst/>
          </a:prstGeom>
          <a:noFill/>
        </p:spPr>
        <p:txBody>
          <a:bodyPr wrap="square" rtlCol="0">
            <a:spAutoFit/>
          </a:bodyPr>
          <a:lstStyle/>
          <a:p>
            <a:r>
              <a:rPr lang="en-GB" sz="2400" b="1" dirty="0">
                <a:solidFill>
                  <a:schemeClr val="bg1"/>
                </a:solidFill>
              </a:rPr>
              <a:t>DATA SCIENTISTS</a:t>
            </a:r>
          </a:p>
          <a:p>
            <a:r>
              <a:rPr lang="en-GB" dirty="0">
                <a:solidFill>
                  <a:schemeClr val="bg1"/>
                </a:solidFill>
              </a:rPr>
              <a:t>Hassan Mariam</a:t>
            </a:r>
          </a:p>
          <a:p>
            <a:endParaRPr lang="en-GB" dirty="0">
              <a:solidFill>
                <a:schemeClr val="bg1"/>
              </a:solidFill>
            </a:endParaRPr>
          </a:p>
          <a:p>
            <a:r>
              <a:rPr lang="en-GB" sz="2400" b="1" dirty="0">
                <a:solidFill>
                  <a:schemeClr val="bg1"/>
                </a:solidFill>
              </a:rPr>
              <a:t>CONTRIBUTION</a:t>
            </a:r>
            <a:r>
              <a:rPr lang="en-GB" dirty="0">
                <a:solidFill>
                  <a:schemeClr val="bg1"/>
                </a:solidFill>
              </a:rPr>
              <a:t> </a:t>
            </a:r>
          </a:p>
          <a:p>
            <a:r>
              <a:rPr lang="en-GB" dirty="0">
                <a:solidFill>
                  <a:schemeClr val="bg1"/>
                </a:solidFill>
              </a:rPr>
              <a:t>• Dataset preparation </a:t>
            </a:r>
          </a:p>
          <a:p>
            <a:r>
              <a:rPr lang="en-GB" dirty="0">
                <a:solidFill>
                  <a:schemeClr val="bg1"/>
                </a:solidFill>
              </a:rPr>
              <a:t>• Data cleaning </a:t>
            </a:r>
          </a:p>
          <a:p>
            <a:r>
              <a:rPr lang="en-GB" dirty="0">
                <a:solidFill>
                  <a:schemeClr val="bg1"/>
                </a:solidFill>
              </a:rPr>
              <a:t>• Exploratory Data Analysis </a:t>
            </a:r>
          </a:p>
          <a:p>
            <a:r>
              <a:rPr lang="en-GB" dirty="0">
                <a:solidFill>
                  <a:schemeClr val="bg1"/>
                </a:solidFill>
              </a:rPr>
              <a:t>• Feature engineering </a:t>
            </a:r>
          </a:p>
          <a:p>
            <a:r>
              <a:rPr lang="en-GB" dirty="0">
                <a:solidFill>
                  <a:schemeClr val="bg1"/>
                </a:solidFill>
              </a:rPr>
              <a:t>• Prepared data for Machine Learning</a:t>
            </a:r>
          </a:p>
          <a:p>
            <a:endParaRPr lang="en-GB" dirty="0"/>
          </a:p>
        </p:txBody>
      </p:sp>
    </p:spTree>
    <p:extLst>
      <p:ext uri="{BB962C8B-B14F-4D97-AF65-F5344CB8AC3E}">
        <p14:creationId xmlns:p14="http://schemas.microsoft.com/office/powerpoint/2010/main" val="1696300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C7B19E-9C8A-4511-A791-B96167B68BED}"/>
              </a:ext>
            </a:extLst>
          </p:cNvPr>
          <p:cNvSpPr/>
          <p:nvPr/>
        </p:nvSpPr>
        <p:spPr>
          <a:xfrm>
            <a:off x="-1" y="0"/>
            <a:ext cx="12192001" cy="6858000"/>
          </a:xfrm>
          <a:prstGeom prst="rect">
            <a:avLst/>
          </a:prstGeom>
          <a:solidFill>
            <a:srgbClr val="1B5E2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75000"/>
                </a:schemeClr>
              </a:solidFill>
            </a:endParaRPr>
          </a:p>
        </p:txBody>
      </p:sp>
      <p:sp>
        <p:nvSpPr>
          <p:cNvPr id="5" name="TextBox 4">
            <a:extLst>
              <a:ext uri="{FF2B5EF4-FFF2-40B4-BE49-F238E27FC236}">
                <a16:creationId xmlns:a16="http://schemas.microsoft.com/office/drawing/2014/main" id="{39D376C7-40C9-4CFF-9978-88F2DA0A5F92}"/>
              </a:ext>
            </a:extLst>
          </p:cNvPr>
          <p:cNvSpPr txBox="1"/>
          <p:nvPr/>
        </p:nvSpPr>
        <p:spPr>
          <a:xfrm>
            <a:off x="233081" y="134471"/>
            <a:ext cx="3267635" cy="3046988"/>
          </a:xfrm>
          <a:prstGeom prst="rect">
            <a:avLst/>
          </a:prstGeom>
          <a:noFill/>
        </p:spPr>
        <p:txBody>
          <a:bodyPr wrap="square" rtlCol="0">
            <a:spAutoFit/>
          </a:bodyPr>
          <a:lstStyle/>
          <a:p>
            <a:r>
              <a:rPr lang="en-GB" sz="2400" b="1" dirty="0">
                <a:solidFill>
                  <a:schemeClr val="bg1"/>
                </a:solidFill>
              </a:rPr>
              <a:t>UI/UX DESIGNERS</a:t>
            </a:r>
          </a:p>
          <a:p>
            <a:r>
              <a:rPr lang="en-GB" dirty="0">
                <a:solidFill>
                  <a:schemeClr val="bg1"/>
                </a:solidFill>
              </a:rPr>
              <a:t>Oni Samuel </a:t>
            </a:r>
          </a:p>
          <a:p>
            <a:r>
              <a:rPr lang="en-GB" dirty="0">
                <a:solidFill>
                  <a:schemeClr val="bg1"/>
                </a:solidFill>
              </a:rPr>
              <a:t>Ndubuisi Victor </a:t>
            </a:r>
          </a:p>
          <a:p>
            <a:endParaRPr lang="en-GB" dirty="0">
              <a:solidFill>
                <a:schemeClr val="bg1"/>
              </a:solidFill>
            </a:endParaRPr>
          </a:p>
          <a:p>
            <a:r>
              <a:rPr lang="en-GB" sz="2400" b="1" dirty="0">
                <a:solidFill>
                  <a:schemeClr val="bg1"/>
                </a:solidFill>
              </a:rPr>
              <a:t>CONTRIBUTION</a:t>
            </a:r>
            <a:r>
              <a:rPr lang="en-GB" dirty="0">
                <a:solidFill>
                  <a:schemeClr val="bg1"/>
                </a:solidFill>
              </a:rPr>
              <a:t> </a:t>
            </a:r>
          </a:p>
          <a:p>
            <a:r>
              <a:rPr lang="en-GB" dirty="0">
                <a:solidFill>
                  <a:schemeClr val="bg1"/>
                </a:solidFill>
              </a:rPr>
              <a:t>• User research </a:t>
            </a:r>
          </a:p>
          <a:p>
            <a:r>
              <a:rPr lang="en-GB" dirty="0">
                <a:solidFill>
                  <a:schemeClr val="bg1"/>
                </a:solidFill>
              </a:rPr>
              <a:t>• Wireframes </a:t>
            </a:r>
          </a:p>
          <a:p>
            <a:r>
              <a:rPr lang="en-GB" dirty="0">
                <a:solidFill>
                  <a:schemeClr val="bg1"/>
                </a:solidFill>
              </a:rPr>
              <a:t>• High-fidelity designs </a:t>
            </a:r>
          </a:p>
          <a:p>
            <a:r>
              <a:rPr lang="en-GB" dirty="0">
                <a:solidFill>
                  <a:schemeClr val="bg1"/>
                </a:solidFill>
              </a:rPr>
              <a:t>• Prototype</a:t>
            </a:r>
          </a:p>
          <a:p>
            <a:endParaRPr lang="en-GB" dirty="0"/>
          </a:p>
        </p:txBody>
      </p:sp>
      <p:sp>
        <p:nvSpPr>
          <p:cNvPr id="7" name="TextBox 6">
            <a:extLst>
              <a:ext uri="{FF2B5EF4-FFF2-40B4-BE49-F238E27FC236}">
                <a16:creationId xmlns:a16="http://schemas.microsoft.com/office/drawing/2014/main" id="{BCA0EAB4-40E5-4770-BECE-F266AD642B17}"/>
              </a:ext>
            </a:extLst>
          </p:cNvPr>
          <p:cNvSpPr txBox="1"/>
          <p:nvPr/>
        </p:nvSpPr>
        <p:spPr>
          <a:xfrm>
            <a:off x="9090212" y="387732"/>
            <a:ext cx="2985247" cy="4431983"/>
          </a:xfrm>
          <a:prstGeom prst="rect">
            <a:avLst/>
          </a:prstGeom>
          <a:noFill/>
        </p:spPr>
        <p:txBody>
          <a:bodyPr wrap="square" rtlCol="0">
            <a:spAutoFit/>
          </a:bodyPr>
          <a:lstStyle/>
          <a:p>
            <a:r>
              <a:rPr lang="en-GB" sz="2400" b="1" dirty="0">
                <a:solidFill>
                  <a:schemeClr val="bg1"/>
                </a:solidFill>
              </a:rPr>
              <a:t>DATA ANALYSTS</a:t>
            </a:r>
          </a:p>
          <a:p>
            <a:r>
              <a:rPr lang="en-GB" dirty="0">
                <a:solidFill>
                  <a:schemeClr val="bg1"/>
                </a:solidFill>
              </a:rPr>
              <a:t>Suleiman Titilayo </a:t>
            </a:r>
            <a:r>
              <a:rPr lang="en-GB" dirty="0" err="1">
                <a:solidFill>
                  <a:schemeClr val="bg1"/>
                </a:solidFill>
              </a:rPr>
              <a:t>Khadijat</a:t>
            </a:r>
            <a:r>
              <a:rPr lang="en-GB" dirty="0">
                <a:solidFill>
                  <a:schemeClr val="bg1"/>
                </a:solidFill>
              </a:rPr>
              <a:t> Eunice </a:t>
            </a:r>
            <a:r>
              <a:rPr lang="en-GB" dirty="0" err="1">
                <a:solidFill>
                  <a:schemeClr val="bg1"/>
                </a:solidFill>
              </a:rPr>
              <a:t>Istifanus</a:t>
            </a:r>
            <a:r>
              <a:rPr lang="en-GB" dirty="0">
                <a:solidFill>
                  <a:schemeClr val="bg1"/>
                </a:solidFill>
              </a:rPr>
              <a:t> </a:t>
            </a:r>
            <a:r>
              <a:rPr lang="en-GB" dirty="0" err="1">
                <a:solidFill>
                  <a:schemeClr val="bg1"/>
                </a:solidFill>
              </a:rPr>
              <a:t>Ishaku</a:t>
            </a:r>
            <a:r>
              <a:rPr lang="en-GB" dirty="0">
                <a:solidFill>
                  <a:schemeClr val="bg1"/>
                </a:solidFill>
              </a:rPr>
              <a:t> </a:t>
            </a:r>
          </a:p>
          <a:p>
            <a:r>
              <a:rPr lang="en-GB" dirty="0">
                <a:solidFill>
                  <a:schemeClr val="bg1"/>
                </a:solidFill>
              </a:rPr>
              <a:t>Ulasi Chukwuma Obinna </a:t>
            </a:r>
            <a:r>
              <a:rPr lang="en-GB" dirty="0" err="1">
                <a:solidFill>
                  <a:schemeClr val="bg1"/>
                </a:solidFill>
              </a:rPr>
              <a:t>Ogwu</a:t>
            </a:r>
            <a:r>
              <a:rPr lang="en-GB" dirty="0">
                <a:solidFill>
                  <a:schemeClr val="bg1"/>
                </a:solidFill>
              </a:rPr>
              <a:t> Joel </a:t>
            </a:r>
            <a:r>
              <a:rPr lang="en-GB" dirty="0" err="1">
                <a:solidFill>
                  <a:schemeClr val="bg1"/>
                </a:solidFill>
              </a:rPr>
              <a:t>Edike</a:t>
            </a:r>
            <a:r>
              <a:rPr lang="en-GB" dirty="0">
                <a:solidFill>
                  <a:schemeClr val="bg1"/>
                </a:solidFill>
              </a:rPr>
              <a:t> </a:t>
            </a:r>
          </a:p>
          <a:p>
            <a:r>
              <a:rPr lang="en-GB" dirty="0" err="1">
                <a:solidFill>
                  <a:schemeClr val="bg1"/>
                </a:solidFill>
              </a:rPr>
              <a:t>Chiziterem</a:t>
            </a:r>
            <a:r>
              <a:rPr lang="en-GB" dirty="0">
                <a:solidFill>
                  <a:schemeClr val="bg1"/>
                </a:solidFill>
              </a:rPr>
              <a:t> </a:t>
            </a:r>
            <a:r>
              <a:rPr lang="en-GB" dirty="0" err="1">
                <a:solidFill>
                  <a:schemeClr val="bg1"/>
                </a:solidFill>
              </a:rPr>
              <a:t>Ugorji</a:t>
            </a:r>
            <a:r>
              <a:rPr lang="en-GB" dirty="0">
                <a:solidFill>
                  <a:schemeClr val="bg1"/>
                </a:solidFill>
              </a:rPr>
              <a:t> </a:t>
            </a:r>
          </a:p>
          <a:p>
            <a:r>
              <a:rPr lang="en-GB" dirty="0" err="1">
                <a:solidFill>
                  <a:schemeClr val="bg1"/>
                </a:solidFill>
              </a:rPr>
              <a:t>Orija</a:t>
            </a:r>
            <a:r>
              <a:rPr lang="en-GB" dirty="0">
                <a:solidFill>
                  <a:schemeClr val="bg1"/>
                </a:solidFill>
              </a:rPr>
              <a:t> Rasheedah </a:t>
            </a:r>
          </a:p>
          <a:p>
            <a:endParaRPr lang="en-GB" dirty="0">
              <a:solidFill>
                <a:schemeClr val="bg1"/>
              </a:solidFill>
            </a:endParaRPr>
          </a:p>
          <a:p>
            <a:r>
              <a:rPr lang="en-GB" sz="2400" b="1" dirty="0">
                <a:solidFill>
                  <a:schemeClr val="bg1"/>
                </a:solidFill>
              </a:rPr>
              <a:t>CONTRIBUTION</a:t>
            </a:r>
            <a:r>
              <a:rPr lang="en-GB" dirty="0">
                <a:solidFill>
                  <a:schemeClr val="bg1"/>
                </a:solidFill>
              </a:rPr>
              <a:t> </a:t>
            </a:r>
          </a:p>
          <a:p>
            <a:r>
              <a:rPr lang="en-GB" dirty="0">
                <a:solidFill>
                  <a:schemeClr val="bg1"/>
                </a:solidFill>
              </a:rPr>
              <a:t>• Research </a:t>
            </a:r>
          </a:p>
          <a:p>
            <a:r>
              <a:rPr lang="en-GB" dirty="0">
                <a:solidFill>
                  <a:schemeClr val="bg1"/>
                </a:solidFill>
              </a:rPr>
              <a:t>• Market analysis</a:t>
            </a:r>
          </a:p>
          <a:p>
            <a:r>
              <a:rPr lang="en-GB" dirty="0">
                <a:solidFill>
                  <a:schemeClr val="bg1"/>
                </a:solidFill>
              </a:rPr>
              <a:t>• Dashboard </a:t>
            </a:r>
          </a:p>
          <a:p>
            <a:r>
              <a:rPr lang="en-GB" dirty="0">
                <a:solidFill>
                  <a:schemeClr val="bg1"/>
                </a:solidFill>
              </a:rPr>
              <a:t>• Insights </a:t>
            </a:r>
          </a:p>
          <a:p>
            <a:r>
              <a:rPr lang="en-GB" dirty="0">
                <a:solidFill>
                  <a:schemeClr val="bg1"/>
                </a:solidFill>
              </a:rPr>
              <a:t>• Validation of solution</a:t>
            </a:r>
          </a:p>
          <a:p>
            <a:endParaRPr lang="en-GB" dirty="0"/>
          </a:p>
        </p:txBody>
      </p:sp>
      <p:sp>
        <p:nvSpPr>
          <p:cNvPr id="8" name="TextBox 7">
            <a:extLst>
              <a:ext uri="{FF2B5EF4-FFF2-40B4-BE49-F238E27FC236}">
                <a16:creationId xmlns:a16="http://schemas.microsoft.com/office/drawing/2014/main" id="{CE158A18-9B12-4CFB-A03B-EA654AAEF83F}"/>
              </a:ext>
            </a:extLst>
          </p:cNvPr>
          <p:cNvSpPr txBox="1"/>
          <p:nvPr/>
        </p:nvSpPr>
        <p:spPr>
          <a:xfrm>
            <a:off x="4305299" y="3503978"/>
            <a:ext cx="3267635" cy="2492990"/>
          </a:xfrm>
          <a:prstGeom prst="rect">
            <a:avLst/>
          </a:prstGeom>
          <a:noFill/>
        </p:spPr>
        <p:txBody>
          <a:bodyPr wrap="square" rtlCol="0">
            <a:spAutoFit/>
          </a:bodyPr>
          <a:lstStyle/>
          <a:p>
            <a:r>
              <a:rPr lang="en-GB" sz="2400" b="1" dirty="0">
                <a:solidFill>
                  <a:schemeClr val="bg1"/>
                </a:solidFill>
              </a:rPr>
              <a:t>AI &amp; ML MODULE</a:t>
            </a:r>
          </a:p>
          <a:p>
            <a:r>
              <a:rPr lang="en-GB" dirty="0" err="1">
                <a:solidFill>
                  <a:schemeClr val="bg1"/>
                </a:solidFill>
              </a:rPr>
              <a:t>Aminullahi</a:t>
            </a:r>
            <a:r>
              <a:rPr lang="en-GB" dirty="0">
                <a:solidFill>
                  <a:schemeClr val="bg1"/>
                </a:solidFill>
              </a:rPr>
              <a:t> Zainab Olamide </a:t>
            </a:r>
          </a:p>
          <a:p>
            <a:endParaRPr lang="en-GB" dirty="0">
              <a:solidFill>
                <a:schemeClr val="bg1"/>
              </a:solidFill>
            </a:endParaRPr>
          </a:p>
          <a:p>
            <a:r>
              <a:rPr lang="en-GB" sz="2400" b="1" dirty="0">
                <a:solidFill>
                  <a:schemeClr val="bg1"/>
                </a:solidFill>
              </a:rPr>
              <a:t>CONTRIBUTION</a:t>
            </a:r>
            <a:r>
              <a:rPr lang="en-GB" dirty="0">
                <a:solidFill>
                  <a:schemeClr val="bg1"/>
                </a:solidFill>
              </a:rPr>
              <a:t> </a:t>
            </a:r>
          </a:p>
          <a:p>
            <a:r>
              <a:rPr lang="en-GB" dirty="0">
                <a:solidFill>
                  <a:schemeClr val="bg1"/>
                </a:solidFill>
              </a:rPr>
              <a:t>• Built predictive model </a:t>
            </a:r>
          </a:p>
          <a:p>
            <a:r>
              <a:rPr lang="en-GB" dirty="0">
                <a:solidFill>
                  <a:schemeClr val="bg1"/>
                </a:solidFill>
              </a:rPr>
              <a:t>• Tested ML algorithms </a:t>
            </a:r>
          </a:p>
          <a:p>
            <a:r>
              <a:rPr lang="en-GB" dirty="0">
                <a:solidFill>
                  <a:schemeClr val="bg1"/>
                </a:solidFill>
              </a:rPr>
              <a:t>• Generated spoilage predictions</a:t>
            </a:r>
          </a:p>
          <a:p>
            <a:endParaRPr lang="en-GB" dirty="0"/>
          </a:p>
        </p:txBody>
      </p:sp>
      <p:sp>
        <p:nvSpPr>
          <p:cNvPr id="9" name="TextBox 8">
            <a:extLst>
              <a:ext uri="{FF2B5EF4-FFF2-40B4-BE49-F238E27FC236}">
                <a16:creationId xmlns:a16="http://schemas.microsoft.com/office/drawing/2014/main" id="{96B6BCAA-A9F9-42EB-B1AA-0E27B9614B43}"/>
              </a:ext>
            </a:extLst>
          </p:cNvPr>
          <p:cNvSpPr txBox="1"/>
          <p:nvPr/>
        </p:nvSpPr>
        <p:spPr>
          <a:xfrm>
            <a:off x="4450974" y="203066"/>
            <a:ext cx="2974037" cy="3046988"/>
          </a:xfrm>
          <a:prstGeom prst="rect">
            <a:avLst/>
          </a:prstGeom>
          <a:noFill/>
        </p:spPr>
        <p:txBody>
          <a:bodyPr wrap="square" rtlCol="0">
            <a:spAutoFit/>
          </a:bodyPr>
          <a:lstStyle/>
          <a:p>
            <a:r>
              <a:rPr lang="en-GB" sz="2400" b="1" dirty="0">
                <a:solidFill>
                  <a:schemeClr val="bg1"/>
                </a:solidFill>
              </a:rPr>
              <a:t>DIGITAL MARKETING </a:t>
            </a:r>
            <a:r>
              <a:rPr lang="en-GB" dirty="0" err="1">
                <a:solidFill>
                  <a:schemeClr val="bg1"/>
                </a:solidFill>
              </a:rPr>
              <a:t>Atokoh</a:t>
            </a:r>
            <a:r>
              <a:rPr lang="en-GB" dirty="0">
                <a:solidFill>
                  <a:schemeClr val="bg1"/>
                </a:solidFill>
              </a:rPr>
              <a:t> Naomi </a:t>
            </a:r>
            <a:r>
              <a:rPr lang="en-GB" dirty="0" err="1">
                <a:solidFill>
                  <a:schemeClr val="bg1"/>
                </a:solidFill>
              </a:rPr>
              <a:t>Nwaduito</a:t>
            </a:r>
            <a:r>
              <a:rPr lang="en-GB" dirty="0">
                <a:solidFill>
                  <a:schemeClr val="bg1"/>
                </a:solidFill>
              </a:rPr>
              <a:t> Ademola </a:t>
            </a:r>
            <a:r>
              <a:rPr lang="en-GB" dirty="0" err="1">
                <a:solidFill>
                  <a:schemeClr val="bg1"/>
                </a:solidFill>
              </a:rPr>
              <a:t>Raifu</a:t>
            </a:r>
            <a:r>
              <a:rPr lang="en-GB" dirty="0">
                <a:solidFill>
                  <a:schemeClr val="bg1"/>
                </a:solidFill>
              </a:rPr>
              <a:t> </a:t>
            </a:r>
          </a:p>
          <a:p>
            <a:r>
              <a:rPr lang="en-GB" dirty="0">
                <a:solidFill>
                  <a:schemeClr val="bg1"/>
                </a:solidFill>
              </a:rPr>
              <a:t>Angela Silas</a:t>
            </a:r>
          </a:p>
          <a:p>
            <a:endParaRPr lang="en-GB" dirty="0">
              <a:solidFill>
                <a:schemeClr val="bg1"/>
              </a:solidFill>
            </a:endParaRPr>
          </a:p>
          <a:p>
            <a:r>
              <a:rPr lang="en-GB" sz="2400" b="1" dirty="0">
                <a:solidFill>
                  <a:schemeClr val="bg1"/>
                </a:solidFill>
              </a:rPr>
              <a:t>CONTRIBUTION</a:t>
            </a:r>
          </a:p>
          <a:p>
            <a:r>
              <a:rPr lang="en-GB" dirty="0">
                <a:solidFill>
                  <a:schemeClr val="bg1"/>
                </a:solidFill>
              </a:rPr>
              <a:t>• Branding </a:t>
            </a:r>
          </a:p>
          <a:p>
            <a:r>
              <a:rPr lang="en-GB" dirty="0">
                <a:solidFill>
                  <a:schemeClr val="bg1"/>
                </a:solidFill>
              </a:rPr>
              <a:t>• Marketing Strategy </a:t>
            </a:r>
          </a:p>
          <a:p>
            <a:r>
              <a:rPr lang="en-GB" dirty="0">
                <a:solidFill>
                  <a:schemeClr val="bg1"/>
                </a:solidFill>
              </a:rPr>
              <a:t>• Go-To-Market Plan</a:t>
            </a:r>
          </a:p>
          <a:p>
            <a:endParaRPr lang="en-GB" dirty="0"/>
          </a:p>
        </p:txBody>
      </p:sp>
      <p:sp>
        <p:nvSpPr>
          <p:cNvPr id="10" name="TextBox 9">
            <a:extLst>
              <a:ext uri="{FF2B5EF4-FFF2-40B4-BE49-F238E27FC236}">
                <a16:creationId xmlns:a16="http://schemas.microsoft.com/office/drawing/2014/main" id="{2733FC5B-0A7D-4C11-A3DB-F2FC268A0812}"/>
              </a:ext>
            </a:extLst>
          </p:cNvPr>
          <p:cNvSpPr txBox="1"/>
          <p:nvPr/>
        </p:nvSpPr>
        <p:spPr>
          <a:xfrm>
            <a:off x="177052" y="3657495"/>
            <a:ext cx="4128247" cy="3046988"/>
          </a:xfrm>
          <a:prstGeom prst="rect">
            <a:avLst/>
          </a:prstGeom>
          <a:noFill/>
        </p:spPr>
        <p:txBody>
          <a:bodyPr wrap="square" rtlCol="0">
            <a:spAutoFit/>
          </a:bodyPr>
          <a:lstStyle/>
          <a:p>
            <a:r>
              <a:rPr lang="en-GB" sz="2400" b="1" dirty="0">
                <a:solidFill>
                  <a:schemeClr val="bg1"/>
                </a:solidFill>
              </a:rPr>
              <a:t>CYBERSECURITY </a:t>
            </a:r>
          </a:p>
          <a:p>
            <a:r>
              <a:rPr lang="en-GB" dirty="0">
                <a:solidFill>
                  <a:schemeClr val="bg1"/>
                </a:solidFill>
              </a:rPr>
              <a:t>Bolaji </a:t>
            </a:r>
            <a:r>
              <a:rPr lang="en-GB" dirty="0" err="1">
                <a:solidFill>
                  <a:schemeClr val="bg1"/>
                </a:solidFill>
              </a:rPr>
              <a:t>Quadri</a:t>
            </a:r>
            <a:r>
              <a:rPr lang="en-GB" dirty="0">
                <a:solidFill>
                  <a:schemeClr val="bg1"/>
                </a:solidFill>
              </a:rPr>
              <a:t> Reign-El </a:t>
            </a:r>
            <a:r>
              <a:rPr lang="en-GB" dirty="0" err="1">
                <a:solidFill>
                  <a:schemeClr val="bg1"/>
                </a:solidFill>
              </a:rPr>
              <a:t>Alajemba</a:t>
            </a:r>
            <a:endParaRPr lang="en-GB" dirty="0">
              <a:solidFill>
                <a:schemeClr val="bg1"/>
              </a:solidFill>
            </a:endParaRPr>
          </a:p>
          <a:p>
            <a:endParaRPr lang="en-GB" dirty="0">
              <a:solidFill>
                <a:schemeClr val="bg1"/>
              </a:solidFill>
            </a:endParaRPr>
          </a:p>
          <a:p>
            <a:r>
              <a:rPr lang="en-GB" sz="2400" b="1" dirty="0">
                <a:solidFill>
                  <a:schemeClr val="bg1"/>
                </a:solidFill>
              </a:rPr>
              <a:t>CONTRIBUTION </a:t>
            </a:r>
          </a:p>
          <a:p>
            <a:r>
              <a:rPr lang="en-GB" dirty="0">
                <a:solidFill>
                  <a:schemeClr val="bg1"/>
                </a:solidFill>
              </a:rPr>
              <a:t>• Risk Assessment </a:t>
            </a:r>
          </a:p>
          <a:p>
            <a:r>
              <a:rPr lang="en-GB" dirty="0">
                <a:solidFill>
                  <a:schemeClr val="bg1"/>
                </a:solidFill>
              </a:rPr>
              <a:t>• Authentication </a:t>
            </a:r>
          </a:p>
          <a:p>
            <a:r>
              <a:rPr lang="en-GB" dirty="0">
                <a:solidFill>
                  <a:schemeClr val="bg1"/>
                </a:solidFill>
              </a:rPr>
              <a:t>• Data Privacy </a:t>
            </a:r>
          </a:p>
          <a:p>
            <a:r>
              <a:rPr lang="en-GB" dirty="0">
                <a:solidFill>
                  <a:schemeClr val="bg1"/>
                </a:solidFill>
              </a:rPr>
              <a:t>• Security Recommendation</a:t>
            </a:r>
          </a:p>
          <a:p>
            <a:endParaRPr lang="en-GB" dirty="0"/>
          </a:p>
          <a:p>
            <a:endParaRPr lang="en-GB" dirty="0"/>
          </a:p>
        </p:txBody>
      </p:sp>
      <p:cxnSp>
        <p:nvCxnSpPr>
          <p:cNvPr id="11" name="Straight Connector 10">
            <a:extLst>
              <a:ext uri="{FF2B5EF4-FFF2-40B4-BE49-F238E27FC236}">
                <a16:creationId xmlns:a16="http://schemas.microsoft.com/office/drawing/2014/main" id="{19181085-B31F-4A8A-9062-8D232E789251}"/>
              </a:ext>
            </a:extLst>
          </p:cNvPr>
          <p:cNvCxnSpPr>
            <a:cxnSpLocks/>
          </p:cNvCxnSpPr>
          <p:nvPr/>
        </p:nvCxnSpPr>
        <p:spPr>
          <a:xfrm>
            <a:off x="4101348" y="0"/>
            <a:ext cx="0" cy="68580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74CB0E3-E86B-4F4A-8FA4-AC0F820BD53F}"/>
              </a:ext>
            </a:extLst>
          </p:cNvPr>
          <p:cNvCxnSpPr>
            <a:cxnSpLocks/>
          </p:cNvCxnSpPr>
          <p:nvPr/>
        </p:nvCxnSpPr>
        <p:spPr>
          <a:xfrm>
            <a:off x="8691277" y="0"/>
            <a:ext cx="0" cy="68580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99109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C7B19E-9C8A-4511-A791-B96167B68BED}"/>
              </a:ext>
            </a:extLst>
          </p:cNvPr>
          <p:cNvSpPr/>
          <p:nvPr/>
        </p:nvSpPr>
        <p:spPr>
          <a:xfrm>
            <a:off x="-1" y="0"/>
            <a:ext cx="12192001" cy="6858000"/>
          </a:xfrm>
          <a:prstGeom prst="rect">
            <a:avLst/>
          </a:prstGeom>
          <a:solidFill>
            <a:srgbClr val="1B5E2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75000"/>
                </a:schemeClr>
              </a:solidFill>
            </a:endParaRPr>
          </a:p>
        </p:txBody>
      </p:sp>
      <p:sp>
        <p:nvSpPr>
          <p:cNvPr id="5" name="TextBox 4">
            <a:extLst>
              <a:ext uri="{FF2B5EF4-FFF2-40B4-BE49-F238E27FC236}">
                <a16:creationId xmlns:a16="http://schemas.microsoft.com/office/drawing/2014/main" id="{87F67289-AFF2-4D14-83A5-4DE926DBF15A}"/>
              </a:ext>
            </a:extLst>
          </p:cNvPr>
          <p:cNvSpPr txBox="1"/>
          <p:nvPr/>
        </p:nvSpPr>
        <p:spPr>
          <a:xfrm>
            <a:off x="1264024" y="403412"/>
            <a:ext cx="10434918" cy="4154984"/>
          </a:xfrm>
          <a:prstGeom prst="rect">
            <a:avLst/>
          </a:prstGeom>
          <a:noFill/>
        </p:spPr>
        <p:txBody>
          <a:bodyPr wrap="square" rtlCol="0">
            <a:spAutoFit/>
          </a:bodyPr>
          <a:lstStyle/>
          <a:p>
            <a:pPr algn="ctr"/>
            <a:r>
              <a:rPr lang="en-GB" sz="6600" b="1" dirty="0">
                <a:solidFill>
                  <a:schemeClr val="bg1"/>
                </a:solidFill>
                <a:latin typeface="Algerian" panose="04020705040A02060702" pitchFamily="82" charset="0"/>
              </a:rPr>
              <a:t>THANK </a:t>
            </a:r>
          </a:p>
          <a:p>
            <a:pPr algn="ctr"/>
            <a:r>
              <a:rPr lang="en-GB" sz="6600" b="1" dirty="0">
                <a:solidFill>
                  <a:schemeClr val="bg1"/>
                </a:solidFill>
                <a:latin typeface="Algerian" panose="04020705040A02060702" pitchFamily="82" charset="0"/>
              </a:rPr>
              <a:t>YOU</a:t>
            </a:r>
          </a:p>
          <a:p>
            <a:pPr algn="ctr"/>
            <a:r>
              <a:rPr lang="en-GB" sz="6600" b="1" dirty="0">
                <a:solidFill>
                  <a:schemeClr val="bg1"/>
                </a:solidFill>
                <a:latin typeface="Algerian" panose="04020705040A02060702" pitchFamily="82" charset="0"/>
              </a:rPr>
              <a:t>FOR </a:t>
            </a:r>
          </a:p>
          <a:p>
            <a:pPr algn="ctr"/>
            <a:r>
              <a:rPr lang="en-GB" sz="6600" b="1" dirty="0">
                <a:solidFill>
                  <a:schemeClr val="bg1"/>
                </a:solidFill>
                <a:latin typeface="Algerian" panose="04020705040A02060702" pitchFamily="82" charset="0"/>
              </a:rPr>
              <a:t>LISTENING  </a:t>
            </a:r>
          </a:p>
        </p:txBody>
      </p:sp>
      <p:pic>
        <p:nvPicPr>
          <p:cNvPr id="6" name="Image 0" descr="/home/claude/tomalink_deck/logo_clean.png">
            <a:extLst>
              <a:ext uri="{FF2B5EF4-FFF2-40B4-BE49-F238E27FC236}">
                <a16:creationId xmlns:a16="http://schemas.microsoft.com/office/drawing/2014/main" id="{2340B4E7-C92D-4451-B559-51E794B57EC0}"/>
              </a:ext>
            </a:extLst>
          </p:cNvPr>
          <p:cNvPicPr>
            <a:picLocks noChangeAspect="1"/>
          </p:cNvPicPr>
          <p:nvPr/>
        </p:nvPicPr>
        <p:blipFill>
          <a:blip r:embed="rId2"/>
          <a:stretch>
            <a:fillRect/>
          </a:stretch>
        </p:blipFill>
        <p:spPr>
          <a:xfrm>
            <a:off x="5825994" y="4639078"/>
            <a:ext cx="1827881" cy="1554480"/>
          </a:xfrm>
          <a:prstGeom prst="rect">
            <a:avLst/>
          </a:prstGeom>
        </p:spPr>
      </p:pic>
    </p:spTree>
    <p:extLst>
      <p:ext uri="{BB962C8B-B14F-4D97-AF65-F5344CB8AC3E}">
        <p14:creationId xmlns:p14="http://schemas.microsoft.com/office/powerpoint/2010/main" val="2084624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452</TotalTime>
  <Words>2464</Words>
  <Application>Microsoft Office PowerPoint</Application>
  <PresentationFormat>Widescreen</PresentationFormat>
  <Paragraphs>424</Paragraphs>
  <Slides>34</Slides>
  <Notes>22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Algerian</vt:lpstr>
      <vt:lpstr>Arial</vt:lpstr>
      <vt:lpstr>Arial Black</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TomaLink</dc:title>
  <dc:subject>PptxGenJS Presentation</dc:subject>
  <dc:creator>Group 6</dc:creator>
  <cp:lastModifiedBy>Gloria ulasi</cp:lastModifiedBy>
  <cp:revision>22</cp:revision>
  <dcterms:created xsi:type="dcterms:W3CDTF">2026-07-21T06:05:16Z</dcterms:created>
  <dcterms:modified xsi:type="dcterms:W3CDTF">2026-07-21T13:41:51Z</dcterms:modified>
</cp:coreProperties>
</file>